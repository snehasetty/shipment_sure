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1" r:id="rId12"/>
    <p:sldId id="266" r:id="rId13"/>
    <p:sldId id="267" r:id="rId14"/>
    <p:sldId id="268" r:id="rId15"/>
    <p:sldId id="269" r:id="rId16"/>
    <p:sldId id="270" r:id="rId17"/>
  </p:sldIdLst>
  <p:sldSz cx="14630400" cy="8229600"/>
  <p:notesSz cx="8229600" cy="14630400"/>
  <p:embeddedFontLst>
    <p:embeddedFont>
      <p:font typeface="Consolas" panose="020B0609020204030204" pitchFamily="49" charset="0"/>
      <p:regular r:id="rId19"/>
      <p:bold r:id="rId20"/>
      <p:italic r:id="rId21"/>
      <p:boldItalic r:id="rId22"/>
    </p:embeddedFont>
    <p:embeddedFont>
      <p:font typeface="Epilogue" panose="020B0604020202020204" charset="0"/>
      <p:regular r:id="rId23"/>
    </p:embeddedFont>
    <p:embeddedFont>
      <p:font typeface="Fraunces Medium"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7814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45651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55783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5178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3461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5348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2214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8AFCC"/>
          </a:solidFill>
          <a:ln/>
        </p:spPr>
      </p:sp>
      <p:sp>
        <p:nvSpPr>
          <p:cNvPr id="3" name="Shape 1"/>
          <p:cNvSpPr/>
          <p:nvPr/>
        </p:nvSpPr>
        <p:spPr>
          <a:xfrm>
            <a:off x="0" y="0"/>
            <a:ext cx="14630400" cy="8229600"/>
          </a:xfrm>
          <a:prstGeom prst="rect">
            <a:avLst/>
          </a:prstGeom>
          <a:solidFill>
            <a:srgbClr val="080E26"/>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40.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3.svg"/><Relationship Id="rId5" Type="http://schemas.openxmlformats.org/officeDocument/2006/relationships/image" Target="../media/image42.png"/><Relationship Id="rId10" Type="http://schemas.openxmlformats.org/officeDocument/2006/relationships/image" Target="../media/image45.svg"/><Relationship Id="rId4" Type="http://schemas.openxmlformats.org/officeDocument/2006/relationships/image" Target="../media/image41.svg"/><Relationship Id="rId9"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1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FFFFFF"/>
                </a:solidFill>
                <a:latin typeface="Fraunces Medium" pitchFamily="34" charset="0"/>
                <a:ea typeface="Fraunces Medium" pitchFamily="34" charset="-122"/>
                <a:cs typeface="Fraunces Medium" pitchFamily="34" charset="-120"/>
              </a:rPr>
              <a:t>ShipmentSure: Predicting On-Time Delivery Using Supplier Data</a:t>
            </a:r>
            <a:endParaRPr lang="en-US" sz="4450" dirty="0"/>
          </a:p>
        </p:txBody>
      </p:sp>
      <p:sp>
        <p:nvSpPr>
          <p:cNvPr id="4" name="Text 1"/>
          <p:cNvSpPr/>
          <p:nvPr/>
        </p:nvSpPr>
        <p:spPr>
          <a:xfrm>
            <a:off x="793790" y="498514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EBECEF"/>
                </a:solidFill>
                <a:latin typeface="Epilogue" pitchFamily="34" charset="0"/>
                <a:ea typeface="Epilogue" pitchFamily="34" charset="-122"/>
                <a:cs typeface="Epilogue" pitchFamily="34" charset="-120"/>
              </a:rPr>
              <a:t>A machine learning solution for accurate delivery prediction and enhanced logistics planning</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8424" y="738545"/>
            <a:ext cx="5203269" cy="650319"/>
          </a:xfrm>
          <a:prstGeom prst="rect">
            <a:avLst/>
          </a:prstGeom>
          <a:noFill/>
          <a:ln/>
        </p:spPr>
        <p:txBody>
          <a:bodyPr wrap="none" lIns="0" tIns="0" rIns="0" bIns="0" rtlCol="0" anchor="t"/>
          <a:lstStyle/>
          <a:p>
            <a:pPr marL="0" indent="0" algn="l">
              <a:lnSpc>
                <a:spcPts val="5100"/>
              </a:lnSpc>
              <a:buNone/>
            </a:pPr>
            <a:r>
              <a:rPr lang="en-US" sz="4050" dirty="0">
                <a:solidFill>
                  <a:srgbClr val="FFFFFF"/>
                </a:solidFill>
                <a:latin typeface="Fraunces Medium" pitchFamily="34" charset="0"/>
                <a:ea typeface="Fraunces Medium" pitchFamily="34" charset="-122"/>
                <a:cs typeface="Fraunces Medium" pitchFamily="34" charset="-120"/>
              </a:rPr>
              <a:t>About the Project</a:t>
            </a:r>
            <a:endParaRPr lang="en-US" sz="4050" dirty="0"/>
          </a:p>
        </p:txBody>
      </p:sp>
      <p:sp>
        <p:nvSpPr>
          <p:cNvPr id="3" name="Text 1"/>
          <p:cNvSpPr/>
          <p:nvPr/>
        </p:nvSpPr>
        <p:spPr>
          <a:xfrm>
            <a:off x="728424" y="1909167"/>
            <a:ext cx="3121938" cy="390168"/>
          </a:xfrm>
          <a:prstGeom prst="rect">
            <a:avLst/>
          </a:prstGeom>
          <a:noFill/>
          <a:ln/>
        </p:spPr>
        <p:txBody>
          <a:bodyPr wrap="none" lIns="0" tIns="0" rIns="0" bIns="0" rtlCol="0" anchor="t"/>
          <a:lstStyle/>
          <a:p>
            <a:pPr marL="0" indent="0" algn="l">
              <a:lnSpc>
                <a:spcPts val="3050"/>
              </a:lnSpc>
              <a:buNone/>
            </a:pPr>
            <a:r>
              <a:rPr lang="en-US" sz="2450" dirty="0">
                <a:solidFill>
                  <a:srgbClr val="FFFFFF"/>
                </a:solidFill>
                <a:latin typeface="Fraunces Medium" pitchFamily="34" charset="0"/>
                <a:ea typeface="Fraunces Medium" pitchFamily="34" charset="-122"/>
                <a:cs typeface="Fraunces Medium" pitchFamily="34" charset="-120"/>
              </a:rPr>
              <a:t>Project Overview</a:t>
            </a:r>
            <a:endParaRPr lang="en-US" sz="2450" dirty="0"/>
          </a:p>
        </p:txBody>
      </p:sp>
      <p:sp>
        <p:nvSpPr>
          <p:cNvPr id="4" name="Text 2"/>
          <p:cNvSpPr/>
          <p:nvPr/>
        </p:nvSpPr>
        <p:spPr>
          <a:xfrm>
            <a:off x="728424" y="2507456"/>
            <a:ext cx="6332934" cy="1331595"/>
          </a:xfrm>
          <a:prstGeom prst="rect">
            <a:avLst/>
          </a:prstGeom>
          <a:noFill/>
          <a:ln/>
        </p:spPr>
        <p:txBody>
          <a:bodyPr wrap="square" lIns="0" tIns="0" rIns="0" bIns="0" rtlCol="0" anchor="t"/>
          <a:lstStyle/>
          <a:p>
            <a:pPr marL="0" indent="0" algn="l">
              <a:lnSpc>
                <a:spcPts val="2600"/>
              </a:lnSpc>
              <a:buNone/>
            </a:pPr>
            <a:r>
              <a:rPr lang="en-US" sz="1600" dirty="0">
                <a:solidFill>
                  <a:srgbClr val="EBECEF"/>
                </a:solidFill>
                <a:latin typeface="Epilogue" pitchFamily="34" charset="0"/>
                <a:ea typeface="Epilogue" pitchFamily="34" charset="-122"/>
                <a:cs typeface="Epilogue" pitchFamily="34" charset="-120"/>
              </a:rPr>
              <a:t>ShipmentSure leverages machine learning to predict whether shipments will arrive on time or face delays, enabling logistics companies to proactively manage delivery expectations and optimise operational efficiency.</a:t>
            </a:r>
            <a:endParaRPr lang="en-US" sz="1600" dirty="0"/>
          </a:p>
        </p:txBody>
      </p:sp>
      <p:sp>
        <p:nvSpPr>
          <p:cNvPr id="5" name="Text 3"/>
          <p:cNvSpPr/>
          <p:nvPr/>
        </p:nvSpPr>
        <p:spPr>
          <a:xfrm>
            <a:off x="7576661" y="1909167"/>
            <a:ext cx="3121938" cy="390168"/>
          </a:xfrm>
          <a:prstGeom prst="rect">
            <a:avLst/>
          </a:prstGeom>
          <a:noFill/>
          <a:ln/>
        </p:spPr>
        <p:txBody>
          <a:bodyPr wrap="none" lIns="0" tIns="0" rIns="0" bIns="0" rtlCol="0" anchor="t"/>
          <a:lstStyle/>
          <a:p>
            <a:pPr marL="0" indent="0" algn="l">
              <a:lnSpc>
                <a:spcPts val="3050"/>
              </a:lnSpc>
              <a:buNone/>
            </a:pPr>
            <a:r>
              <a:rPr lang="en-US" sz="2450" dirty="0">
                <a:solidFill>
                  <a:srgbClr val="FFFFFF"/>
                </a:solidFill>
                <a:latin typeface="Fraunces Medium" pitchFamily="34" charset="0"/>
                <a:ea typeface="Fraunces Medium" pitchFamily="34" charset="-122"/>
                <a:cs typeface="Fraunces Medium" pitchFamily="34" charset="-120"/>
              </a:rPr>
              <a:t>Our Approach</a:t>
            </a:r>
            <a:endParaRPr lang="en-US" sz="2450" dirty="0"/>
          </a:p>
        </p:txBody>
      </p:sp>
      <p:sp>
        <p:nvSpPr>
          <p:cNvPr id="6" name="Text 4"/>
          <p:cNvSpPr/>
          <p:nvPr/>
        </p:nvSpPr>
        <p:spPr>
          <a:xfrm>
            <a:off x="7576661" y="2507456"/>
            <a:ext cx="6332934" cy="1331595"/>
          </a:xfrm>
          <a:prstGeom prst="rect">
            <a:avLst/>
          </a:prstGeom>
          <a:noFill/>
          <a:ln/>
        </p:spPr>
        <p:txBody>
          <a:bodyPr wrap="square" lIns="0" tIns="0" rIns="0" bIns="0" rtlCol="0" anchor="t"/>
          <a:lstStyle/>
          <a:p>
            <a:pPr marL="0" indent="0" algn="l">
              <a:lnSpc>
                <a:spcPts val="2600"/>
              </a:lnSpc>
              <a:buNone/>
            </a:pPr>
            <a:r>
              <a:rPr lang="en-US" sz="1600" dirty="0">
                <a:solidFill>
                  <a:srgbClr val="EBECEF"/>
                </a:solidFill>
                <a:latin typeface="Epilogue" pitchFamily="34" charset="0"/>
                <a:ea typeface="Epilogue" pitchFamily="34" charset="-122"/>
                <a:cs typeface="Epilogue" pitchFamily="34" charset="-120"/>
              </a:rPr>
              <a:t>We developed a robust predictive model through systematic data preprocessing, intelligent feature engineering, comprehensive model evaluation, and strategic regularisation techniques to ensure reliable deployment.</a:t>
            </a:r>
            <a:endParaRPr lang="en-US" sz="1600" dirty="0"/>
          </a:p>
        </p:txBody>
      </p:sp>
      <p:sp>
        <p:nvSpPr>
          <p:cNvPr id="7" name="Shape 5"/>
          <p:cNvSpPr/>
          <p:nvPr/>
        </p:nvSpPr>
        <p:spPr>
          <a:xfrm>
            <a:off x="728424" y="5875734"/>
            <a:ext cx="13173551" cy="22860"/>
          </a:xfrm>
          <a:prstGeom prst="roundRect">
            <a:avLst>
              <a:gd name="adj" fmla="val 382399"/>
            </a:avLst>
          </a:prstGeom>
          <a:solidFill>
            <a:srgbClr val="414A70"/>
          </a:solidFill>
          <a:ln/>
        </p:spPr>
      </p:sp>
      <p:sp>
        <p:nvSpPr>
          <p:cNvPr id="8" name="Shape 6"/>
          <p:cNvSpPr/>
          <p:nvPr/>
        </p:nvSpPr>
        <p:spPr>
          <a:xfrm>
            <a:off x="2825710" y="5251430"/>
            <a:ext cx="22860" cy="624364"/>
          </a:xfrm>
          <a:prstGeom prst="roundRect">
            <a:avLst>
              <a:gd name="adj" fmla="val 382399"/>
            </a:avLst>
          </a:prstGeom>
          <a:solidFill>
            <a:srgbClr val="414A70"/>
          </a:solidFill>
          <a:ln/>
        </p:spPr>
      </p:sp>
      <p:sp>
        <p:nvSpPr>
          <p:cNvPr id="9" name="Shape 7"/>
          <p:cNvSpPr/>
          <p:nvPr/>
        </p:nvSpPr>
        <p:spPr>
          <a:xfrm>
            <a:off x="2603063" y="5641598"/>
            <a:ext cx="468273" cy="468273"/>
          </a:xfrm>
          <a:prstGeom prst="roundRect">
            <a:avLst>
              <a:gd name="adj" fmla="val 18668"/>
            </a:avLst>
          </a:prstGeom>
          <a:solidFill>
            <a:srgbClr val="283157"/>
          </a:solidFill>
          <a:ln w="7620">
            <a:solidFill>
              <a:srgbClr val="414A70"/>
            </a:solidFill>
            <a:prstDash val="solid"/>
          </a:ln>
        </p:spPr>
      </p:sp>
      <p:sp>
        <p:nvSpPr>
          <p:cNvPr id="10" name="Text 8"/>
          <p:cNvSpPr/>
          <p:nvPr/>
        </p:nvSpPr>
        <p:spPr>
          <a:xfrm>
            <a:off x="2681049" y="5680591"/>
            <a:ext cx="312182" cy="390168"/>
          </a:xfrm>
          <a:prstGeom prst="rect">
            <a:avLst/>
          </a:prstGeom>
          <a:noFill/>
          <a:ln/>
        </p:spPr>
        <p:txBody>
          <a:bodyPr wrap="none" lIns="0" tIns="0" rIns="0" bIns="0" rtlCol="0" anchor="t"/>
          <a:lstStyle/>
          <a:p>
            <a:pPr marL="0" indent="0" algn="ctr">
              <a:lnSpc>
                <a:spcPts val="2450"/>
              </a:lnSpc>
              <a:buNone/>
            </a:pPr>
            <a:r>
              <a:rPr lang="en-US" sz="2450" dirty="0">
                <a:solidFill>
                  <a:srgbClr val="EBECEF"/>
                </a:solidFill>
                <a:latin typeface="Fraunces Medium" pitchFamily="34" charset="0"/>
                <a:ea typeface="Fraunces Medium" pitchFamily="34" charset="-122"/>
                <a:cs typeface="Fraunces Medium" pitchFamily="34" charset="-120"/>
              </a:rPr>
              <a:t>1</a:t>
            </a:r>
            <a:endParaRPr lang="en-US" sz="2450" dirty="0"/>
          </a:p>
        </p:txBody>
      </p:sp>
      <p:sp>
        <p:nvSpPr>
          <p:cNvPr id="11" name="Text 9"/>
          <p:cNvSpPr/>
          <p:nvPr/>
        </p:nvSpPr>
        <p:spPr>
          <a:xfrm>
            <a:off x="1536383" y="4260413"/>
            <a:ext cx="2601635" cy="325160"/>
          </a:xfrm>
          <a:prstGeom prst="rect">
            <a:avLst/>
          </a:prstGeom>
          <a:noFill/>
          <a:ln/>
        </p:spPr>
        <p:txBody>
          <a:bodyPr wrap="none" lIns="0" tIns="0" rIns="0" bIns="0" rtlCol="0" anchor="t"/>
          <a:lstStyle/>
          <a:p>
            <a:pPr marL="0" indent="0" algn="ctr">
              <a:lnSpc>
                <a:spcPts val="2550"/>
              </a:lnSpc>
              <a:buNone/>
            </a:pPr>
            <a:r>
              <a:rPr lang="en-US" sz="2000" dirty="0">
                <a:solidFill>
                  <a:srgbClr val="EBECEF"/>
                </a:solidFill>
                <a:latin typeface="Fraunces Medium" pitchFamily="34" charset="0"/>
                <a:ea typeface="Fraunces Medium" pitchFamily="34" charset="-122"/>
                <a:cs typeface="Fraunces Medium" pitchFamily="34" charset="-120"/>
              </a:rPr>
              <a:t>Data Preprocessing</a:t>
            </a:r>
            <a:endParaRPr lang="en-US" sz="2000" dirty="0"/>
          </a:p>
        </p:txBody>
      </p:sp>
      <p:sp>
        <p:nvSpPr>
          <p:cNvPr id="12" name="Text 10"/>
          <p:cNvSpPr/>
          <p:nvPr/>
        </p:nvSpPr>
        <p:spPr>
          <a:xfrm>
            <a:off x="936546" y="4710351"/>
            <a:ext cx="3801428" cy="332899"/>
          </a:xfrm>
          <a:prstGeom prst="rect">
            <a:avLst/>
          </a:prstGeom>
          <a:noFill/>
          <a:ln/>
        </p:spPr>
        <p:txBody>
          <a:bodyPr wrap="none" lIns="0" tIns="0" rIns="0" bIns="0" rtlCol="0" anchor="t"/>
          <a:lstStyle/>
          <a:p>
            <a:pPr marL="0" indent="0" algn="ctr">
              <a:lnSpc>
                <a:spcPts val="2600"/>
              </a:lnSpc>
              <a:buNone/>
            </a:pPr>
            <a:r>
              <a:rPr lang="en-US" sz="1600" dirty="0">
                <a:solidFill>
                  <a:srgbClr val="EBECEF"/>
                </a:solidFill>
                <a:latin typeface="Epilogue" pitchFamily="34" charset="0"/>
                <a:ea typeface="Epilogue" pitchFamily="34" charset="-122"/>
                <a:cs typeface="Epilogue" pitchFamily="34" charset="-120"/>
              </a:rPr>
              <a:t>Clean and prepare raw data</a:t>
            </a:r>
            <a:endParaRPr lang="en-US" sz="1600" dirty="0"/>
          </a:p>
        </p:txBody>
      </p:sp>
      <p:sp>
        <p:nvSpPr>
          <p:cNvPr id="13" name="Shape 11"/>
          <p:cNvSpPr/>
          <p:nvPr/>
        </p:nvSpPr>
        <p:spPr>
          <a:xfrm>
            <a:off x="5064562" y="5875675"/>
            <a:ext cx="22860" cy="624364"/>
          </a:xfrm>
          <a:prstGeom prst="roundRect">
            <a:avLst>
              <a:gd name="adj" fmla="val 382399"/>
            </a:avLst>
          </a:prstGeom>
          <a:solidFill>
            <a:srgbClr val="414A70"/>
          </a:solidFill>
          <a:ln/>
        </p:spPr>
      </p:sp>
      <p:sp>
        <p:nvSpPr>
          <p:cNvPr id="14" name="Shape 12"/>
          <p:cNvSpPr/>
          <p:nvPr/>
        </p:nvSpPr>
        <p:spPr>
          <a:xfrm>
            <a:off x="4841915" y="5641598"/>
            <a:ext cx="468273" cy="468273"/>
          </a:xfrm>
          <a:prstGeom prst="roundRect">
            <a:avLst>
              <a:gd name="adj" fmla="val 18668"/>
            </a:avLst>
          </a:prstGeom>
          <a:solidFill>
            <a:srgbClr val="283157"/>
          </a:solidFill>
          <a:ln w="7620">
            <a:solidFill>
              <a:srgbClr val="414A70"/>
            </a:solidFill>
            <a:prstDash val="solid"/>
          </a:ln>
        </p:spPr>
      </p:sp>
      <p:sp>
        <p:nvSpPr>
          <p:cNvPr id="15" name="Text 13"/>
          <p:cNvSpPr/>
          <p:nvPr/>
        </p:nvSpPr>
        <p:spPr>
          <a:xfrm>
            <a:off x="4919901" y="5680591"/>
            <a:ext cx="312182" cy="390168"/>
          </a:xfrm>
          <a:prstGeom prst="rect">
            <a:avLst/>
          </a:prstGeom>
          <a:noFill/>
          <a:ln/>
        </p:spPr>
        <p:txBody>
          <a:bodyPr wrap="none" lIns="0" tIns="0" rIns="0" bIns="0" rtlCol="0" anchor="t"/>
          <a:lstStyle/>
          <a:p>
            <a:pPr marL="0" indent="0" algn="ctr">
              <a:lnSpc>
                <a:spcPts val="2450"/>
              </a:lnSpc>
              <a:buNone/>
            </a:pPr>
            <a:r>
              <a:rPr lang="en-US" sz="2450" dirty="0">
                <a:solidFill>
                  <a:srgbClr val="EBECEF"/>
                </a:solidFill>
                <a:latin typeface="Fraunces Medium" pitchFamily="34" charset="0"/>
                <a:ea typeface="Fraunces Medium" pitchFamily="34" charset="-122"/>
                <a:cs typeface="Fraunces Medium" pitchFamily="34" charset="-120"/>
              </a:rPr>
              <a:t>2</a:t>
            </a:r>
            <a:endParaRPr lang="en-US" sz="2450" dirty="0"/>
          </a:p>
        </p:txBody>
      </p:sp>
      <p:sp>
        <p:nvSpPr>
          <p:cNvPr id="16" name="Text 14"/>
          <p:cNvSpPr/>
          <p:nvPr/>
        </p:nvSpPr>
        <p:spPr>
          <a:xfrm>
            <a:off x="3775353" y="6708219"/>
            <a:ext cx="2601635" cy="325160"/>
          </a:xfrm>
          <a:prstGeom prst="rect">
            <a:avLst/>
          </a:prstGeom>
          <a:noFill/>
          <a:ln/>
        </p:spPr>
        <p:txBody>
          <a:bodyPr wrap="none" lIns="0" tIns="0" rIns="0" bIns="0" rtlCol="0" anchor="t"/>
          <a:lstStyle/>
          <a:p>
            <a:pPr marL="0" indent="0" algn="ctr">
              <a:lnSpc>
                <a:spcPts val="2550"/>
              </a:lnSpc>
              <a:buNone/>
            </a:pPr>
            <a:r>
              <a:rPr lang="en-US" sz="2000" dirty="0">
                <a:solidFill>
                  <a:srgbClr val="EBECEF"/>
                </a:solidFill>
                <a:latin typeface="Fraunces Medium" pitchFamily="34" charset="0"/>
                <a:ea typeface="Fraunces Medium" pitchFamily="34" charset="-122"/>
                <a:cs typeface="Fraunces Medium" pitchFamily="34" charset="-120"/>
              </a:rPr>
              <a:t>Feature Engineering</a:t>
            </a:r>
            <a:endParaRPr lang="en-US" sz="2000" dirty="0"/>
          </a:p>
        </p:txBody>
      </p:sp>
      <p:sp>
        <p:nvSpPr>
          <p:cNvPr id="17" name="Text 15"/>
          <p:cNvSpPr/>
          <p:nvPr/>
        </p:nvSpPr>
        <p:spPr>
          <a:xfrm>
            <a:off x="3175397" y="7158157"/>
            <a:ext cx="3801547" cy="332899"/>
          </a:xfrm>
          <a:prstGeom prst="rect">
            <a:avLst/>
          </a:prstGeom>
          <a:noFill/>
          <a:ln/>
        </p:spPr>
        <p:txBody>
          <a:bodyPr wrap="none" lIns="0" tIns="0" rIns="0" bIns="0" rtlCol="0" anchor="t"/>
          <a:lstStyle/>
          <a:p>
            <a:pPr marL="0" indent="0" algn="ctr">
              <a:lnSpc>
                <a:spcPts val="2600"/>
              </a:lnSpc>
              <a:buNone/>
            </a:pPr>
            <a:r>
              <a:rPr lang="en-US" sz="1600" dirty="0">
                <a:solidFill>
                  <a:srgbClr val="EBECEF"/>
                </a:solidFill>
                <a:latin typeface="Epilogue" pitchFamily="34" charset="0"/>
                <a:ea typeface="Epilogue" pitchFamily="34" charset="-122"/>
                <a:cs typeface="Epilogue" pitchFamily="34" charset="-120"/>
              </a:rPr>
              <a:t>Create meaningful variables</a:t>
            </a:r>
            <a:endParaRPr lang="en-US" sz="1600" dirty="0"/>
          </a:p>
        </p:txBody>
      </p:sp>
      <p:sp>
        <p:nvSpPr>
          <p:cNvPr id="18" name="Shape 16"/>
          <p:cNvSpPr/>
          <p:nvPr/>
        </p:nvSpPr>
        <p:spPr>
          <a:xfrm>
            <a:off x="7303532" y="5251430"/>
            <a:ext cx="22860" cy="624364"/>
          </a:xfrm>
          <a:prstGeom prst="roundRect">
            <a:avLst>
              <a:gd name="adj" fmla="val 382399"/>
            </a:avLst>
          </a:prstGeom>
          <a:solidFill>
            <a:srgbClr val="414A70"/>
          </a:solidFill>
          <a:ln/>
        </p:spPr>
      </p:sp>
      <p:sp>
        <p:nvSpPr>
          <p:cNvPr id="19" name="Shape 17"/>
          <p:cNvSpPr/>
          <p:nvPr/>
        </p:nvSpPr>
        <p:spPr>
          <a:xfrm>
            <a:off x="7080885" y="5641598"/>
            <a:ext cx="468273" cy="468273"/>
          </a:xfrm>
          <a:prstGeom prst="roundRect">
            <a:avLst>
              <a:gd name="adj" fmla="val 18668"/>
            </a:avLst>
          </a:prstGeom>
          <a:solidFill>
            <a:srgbClr val="283157"/>
          </a:solidFill>
          <a:ln w="7620">
            <a:solidFill>
              <a:srgbClr val="414A70"/>
            </a:solidFill>
            <a:prstDash val="solid"/>
          </a:ln>
        </p:spPr>
      </p:sp>
      <p:sp>
        <p:nvSpPr>
          <p:cNvPr id="20" name="Text 18"/>
          <p:cNvSpPr/>
          <p:nvPr/>
        </p:nvSpPr>
        <p:spPr>
          <a:xfrm>
            <a:off x="7158871" y="5680591"/>
            <a:ext cx="312182" cy="390168"/>
          </a:xfrm>
          <a:prstGeom prst="rect">
            <a:avLst/>
          </a:prstGeom>
          <a:noFill/>
          <a:ln/>
        </p:spPr>
        <p:txBody>
          <a:bodyPr wrap="none" lIns="0" tIns="0" rIns="0" bIns="0" rtlCol="0" anchor="t"/>
          <a:lstStyle/>
          <a:p>
            <a:pPr marL="0" indent="0" algn="ctr">
              <a:lnSpc>
                <a:spcPts val="2450"/>
              </a:lnSpc>
              <a:buNone/>
            </a:pPr>
            <a:r>
              <a:rPr lang="en-US" sz="2450" dirty="0">
                <a:solidFill>
                  <a:srgbClr val="EBECEF"/>
                </a:solidFill>
                <a:latin typeface="Fraunces Medium" pitchFamily="34" charset="0"/>
                <a:ea typeface="Fraunces Medium" pitchFamily="34" charset="-122"/>
                <a:cs typeface="Fraunces Medium" pitchFamily="34" charset="-120"/>
              </a:rPr>
              <a:t>3</a:t>
            </a:r>
            <a:endParaRPr lang="en-US" sz="2450" dirty="0"/>
          </a:p>
        </p:txBody>
      </p:sp>
      <p:sp>
        <p:nvSpPr>
          <p:cNvPr id="21" name="Text 19"/>
          <p:cNvSpPr/>
          <p:nvPr/>
        </p:nvSpPr>
        <p:spPr>
          <a:xfrm>
            <a:off x="6014323" y="4260413"/>
            <a:ext cx="2601635" cy="325160"/>
          </a:xfrm>
          <a:prstGeom prst="rect">
            <a:avLst/>
          </a:prstGeom>
          <a:noFill/>
          <a:ln/>
        </p:spPr>
        <p:txBody>
          <a:bodyPr wrap="none" lIns="0" tIns="0" rIns="0" bIns="0" rtlCol="0" anchor="t"/>
          <a:lstStyle/>
          <a:p>
            <a:pPr marL="0" indent="0" algn="ctr">
              <a:lnSpc>
                <a:spcPts val="2550"/>
              </a:lnSpc>
              <a:buNone/>
            </a:pPr>
            <a:r>
              <a:rPr lang="en-US" sz="2000" dirty="0">
                <a:solidFill>
                  <a:srgbClr val="EBECEF"/>
                </a:solidFill>
                <a:latin typeface="Fraunces Medium" pitchFamily="34" charset="0"/>
                <a:ea typeface="Fraunces Medium" pitchFamily="34" charset="-122"/>
                <a:cs typeface="Fraunces Medium" pitchFamily="34" charset="-120"/>
              </a:rPr>
              <a:t>Model Building</a:t>
            </a:r>
            <a:endParaRPr lang="en-US" sz="2000" dirty="0"/>
          </a:p>
        </p:txBody>
      </p:sp>
      <p:sp>
        <p:nvSpPr>
          <p:cNvPr id="22" name="Text 20"/>
          <p:cNvSpPr/>
          <p:nvPr/>
        </p:nvSpPr>
        <p:spPr>
          <a:xfrm>
            <a:off x="5414367" y="4710351"/>
            <a:ext cx="3801547" cy="332899"/>
          </a:xfrm>
          <a:prstGeom prst="rect">
            <a:avLst/>
          </a:prstGeom>
          <a:noFill/>
          <a:ln/>
        </p:spPr>
        <p:txBody>
          <a:bodyPr wrap="none" lIns="0" tIns="0" rIns="0" bIns="0" rtlCol="0" anchor="t"/>
          <a:lstStyle/>
          <a:p>
            <a:pPr marL="0" indent="0" algn="ctr">
              <a:lnSpc>
                <a:spcPts val="2600"/>
              </a:lnSpc>
              <a:buNone/>
            </a:pPr>
            <a:r>
              <a:rPr lang="en-US" sz="1600" dirty="0">
                <a:solidFill>
                  <a:srgbClr val="EBECEF"/>
                </a:solidFill>
                <a:latin typeface="Epilogue" pitchFamily="34" charset="0"/>
                <a:ea typeface="Epilogue" pitchFamily="34" charset="-122"/>
                <a:cs typeface="Epilogue" pitchFamily="34" charset="-120"/>
              </a:rPr>
              <a:t>Train and compare algorithms</a:t>
            </a:r>
            <a:endParaRPr lang="en-US" sz="1600" dirty="0"/>
          </a:p>
        </p:txBody>
      </p:sp>
      <p:sp>
        <p:nvSpPr>
          <p:cNvPr id="23" name="Shape 21"/>
          <p:cNvSpPr/>
          <p:nvPr/>
        </p:nvSpPr>
        <p:spPr>
          <a:xfrm>
            <a:off x="9542502" y="5875675"/>
            <a:ext cx="22860" cy="624364"/>
          </a:xfrm>
          <a:prstGeom prst="roundRect">
            <a:avLst>
              <a:gd name="adj" fmla="val 382399"/>
            </a:avLst>
          </a:prstGeom>
          <a:solidFill>
            <a:srgbClr val="414A70"/>
          </a:solidFill>
          <a:ln/>
        </p:spPr>
      </p:sp>
      <p:sp>
        <p:nvSpPr>
          <p:cNvPr id="24" name="Shape 22"/>
          <p:cNvSpPr/>
          <p:nvPr/>
        </p:nvSpPr>
        <p:spPr>
          <a:xfrm>
            <a:off x="9319855" y="5641598"/>
            <a:ext cx="468273" cy="468273"/>
          </a:xfrm>
          <a:prstGeom prst="roundRect">
            <a:avLst>
              <a:gd name="adj" fmla="val 18668"/>
            </a:avLst>
          </a:prstGeom>
          <a:solidFill>
            <a:srgbClr val="283157"/>
          </a:solidFill>
          <a:ln w="7620">
            <a:solidFill>
              <a:srgbClr val="414A70"/>
            </a:solidFill>
            <a:prstDash val="solid"/>
          </a:ln>
        </p:spPr>
      </p:sp>
      <p:sp>
        <p:nvSpPr>
          <p:cNvPr id="25" name="Text 23"/>
          <p:cNvSpPr/>
          <p:nvPr/>
        </p:nvSpPr>
        <p:spPr>
          <a:xfrm>
            <a:off x="9397841" y="5680591"/>
            <a:ext cx="312182" cy="390168"/>
          </a:xfrm>
          <a:prstGeom prst="rect">
            <a:avLst/>
          </a:prstGeom>
          <a:noFill/>
          <a:ln/>
        </p:spPr>
        <p:txBody>
          <a:bodyPr wrap="none" lIns="0" tIns="0" rIns="0" bIns="0" rtlCol="0" anchor="t"/>
          <a:lstStyle/>
          <a:p>
            <a:pPr marL="0" indent="0" algn="ctr">
              <a:lnSpc>
                <a:spcPts val="2450"/>
              </a:lnSpc>
              <a:buNone/>
            </a:pPr>
            <a:r>
              <a:rPr lang="en-US" sz="2450" dirty="0">
                <a:solidFill>
                  <a:srgbClr val="EBECEF"/>
                </a:solidFill>
                <a:latin typeface="Fraunces Medium" pitchFamily="34" charset="0"/>
                <a:ea typeface="Fraunces Medium" pitchFamily="34" charset="-122"/>
                <a:cs typeface="Fraunces Medium" pitchFamily="34" charset="-120"/>
              </a:rPr>
              <a:t>4</a:t>
            </a:r>
            <a:endParaRPr lang="en-US" sz="2450" dirty="0"/>
          </a:p>
        </p:txBody>
      </p:sp>
      <p:sp>
        <p:nvSpPr>
          <p:cNvPr id="26" name="Text 24"/>
          <p:cNvSpPr/>
          <p:nvPr/>
        </p:nvSpPr>
        <p:spPr>
          <a:xfrm>
            <a:off x="8253293" y="6708219"/>
            <a:ext cx="2601635" cy="325160"/>
          </a:xfrm>
          <a:prstGeom prst="rect">
            <a:avLst/>
          </a:prstGeom>
          <a:noFill/>
          <a:ln/>
        </p:spPr>
        <p:txBody>
          <a:bodyPr wrap="none" lIns="0" tIns="0" rIns="0" bIns="0" rtlCol="0" anchor="t"/>
          <a:lstStyle/>
          <a:p>
            <a:pPr marL="0" indent="0" algn="ctr">
              <a:lnSpc>
                <a:spcPts val="2550"/>
              </a:lnSpc>
              <a:buNone/>
            </a:pPr>
            <a:r>
              <a:rPr lang="en-US" sz="2000" dirty="0">
                <a:solidFill>
                  <a:srgbClr val="EBECEF"/>
                </a:solidFill>
                <a:latin typeface="Fraunces Medium" pitchFamily="34" charset="0"/>
                <a:ea typeface="Fraunces Medium" pitchFamily="34" charset="-122"/>
                <a:cs typeface="Fraunces Medium" pitchFamily="34" charset="-120"/>
              </a:rPr>
              <a:t>Evaluation</a:t>
            </a:r>
            <a:endParaRPr lang="en-US" sz="2000" dirty="0"/>
          </a:p>
        </p:txBody>
      </p:sp>
      <p:sp>
        <p:nvSpPr>
          <p:cNvPr id="27" name="Text 25"/>
          <p:cNvSpPr/>
          <p:nvPr/>
        </p:nvSpPr>
        <p:spPr>
          <a:xfrm>
            <a:off x="7653337" y="7158157"/>
            <a:ext cx="3801547" cy="332899"/>
          </a:xfrm>
          <a:prstGeom prst="rect">
            <a:avLst/>
          </a:prstGeom>
          <a:noFill/>
          <a:ln/>
        </p:spPr>
        <p:txBody>
          <a:bodyPr wrap="none" lIns="0" tIns="0" rIns="0" bIns="0" rtlCol="0" anchor="t"/>
          <a:lstStyle/>
          <a:p>
            <a:pPr marL="0" indent="0" algn="ctr">
              <a:lnSpc>
                <a:spcPts val="2600"/>
              </a:lnSpc>
              <a:buNone/>
            </a:pPr>
            <a:r>
              <a:rPr lang="en-US" sz="1600" dirty="0">
                <a:solidFill>
                  <a:srgbClr val="EBECEF"/>
                </a:solidFill>
                <a:latin typeface="Epilogue" pitchFamily="34" charset="0"/>
                <a:ea typeface="Epilogue" pitchFamily="34" charset="-122"/>
                <a:cs typeface="Epilogue" pitchFamily="34" charset="-120"/>
              </a:rPr>
              <a:t>Validate performance metrics</a:t>
            </a:r>
            <a:endParaRPr lang="en-US" sz="1600" dirty="0"/>
          </a:p>
        </p:txBody>
      </p:sp>
      <p:sp>
        <p:nvSpPr>
          <p:cNvPr id="28" name="Shape 26"/>
          <p:cNvSpPr/>
          <p:nvPr/>
        </p:nvSpPr>
        <p:spPr>
          <a:xfrm>
            <a:off x="11781473" y="5251430"/>
            <a:ext cx="22860" cy="624364"/>
          </a:xfrm>
          <a:prstGeom prst="roundRect">
            <a:avLst>
              <a:gd name="adj" fmla="val 382399"/>
            </a:avLst>
          </a:prstGeom>
          <a:solidFill>
            <a:srgbClr val="414A70"/>
          </a:solidFill>
          <a:ln/>
        </p:spPr>
      </p:sp>
      <p:sp>
        <p:nvSpPr>
          <p:cNvPr id="29" name="Shape 27"/>
          <p:cNvSpPr/>
          <p:nvPr/>
        </p:nvSpPr>
        <p:spPr>
          <a:xfrm>
            <a:off x="11558826" y="5641598"/>
            <a:ext cx="468273" cy="468273"/>
          </a:xfrm>
          <a:prstGeom prst="roundRect">
            <a:avLst>
              <a:gd name="adj" fmla="val 18668"/>
            </a:avLst>
          </a:prstGeom>
          <a:solidFill>
            <a:srgbClr val="283157"/>
          </a:solidFill>
          <a:ln w="7620">
            <a:solidFill>
              <a:srgbClr val="414A70"/>
            </a:solidFill>
            <a:prstDash val="solid"/>
          </a:ln>
        </p:spPr>
      </p:sp>
      <p:sp>
        <p:nvSpPr>
          <p:cNvPr id="30" name="Text 28"/>
          <p:cNvSpPr/>
          <p:nvPr/>
        </p:nvSpPr>
        <p:spPr>
          <a:xfrm>
            <a:off x="11636812" y="5680591"/>
            <a:ext cx="312182" cy="390168"/>
          </a:xfrm>
          <a:prstGeom prst="rect">
            <a:avLst/>
          </a:prstGeom>
          <a:noFill/>
          <a:ln/>
        </p:spPr>
        <p:txBody>
          <a:bodyPr wrap="none" lIns="0" tIns="0" rIns="0" bIns="0" rtlCol="0" anchor="t"/>
          <a:lstStyle/>
          <a:p>
            <a:pPr marL="0" indent="0" algn="ctr">
              <a:lnSpc>
                <a:spcPts val="2450"/>
              </a:lnSpc>
              <a:buNone/>
            </a:pPr>
            <a:r>
              <a:rPr lang="en-US" sz="2450" dirty="0">
                <a:solidFill>
                  <a:srgbClr val="EBECEF"/>
                </a:solidFill>
                <a:latin typeface="Fraunces Medium" pitchFamily="34" charset="0"/>
                <a:ea typeface="Fraunces Medium" pitchFamily="34" charset="-122"/>
                <a:cs typeface="Fraunces Medium" pitchFamily="34" charset="-120"/>
              </a:rPr>
              <a:t>5</a:t>
            </a:r>
            <a:endParaRPr lang="en-US" sz="2450" dirty="0"/>
          </a:p>
        </p:txBody>
      </p:sp>
      <p:sp>
        <p:nvSpPr>
          <p:cNvPr id="31" name="Text 29"/>
          <p:cNvSpPr/>
          <p:nvPr/>
        </p:nvSpPr>
        <p:spPr>
          <a:xfrm>
            <a:off x="10492264" y="4260413"/>
            <a:ext cx="2601635" cy="325160"/>
          </a:xfrm>
          <a:prstGeom prst="rect">
            <a:avLst/>
          </a:prstGeom>
          <a:noFill/>
          <a:ln/>
        </p:spPr>
        <p:txBody>
          <a:bodyPr wrap="none" lIns="0" tIns="0" rIns="0" bIns="0" rtlCol="0" anchor="t"/>
          <a:lstStyle/>
          <a:p>
            <a:pPr marL="0" indent="0" algn="ctr">
              <a:lnSpc>
                <a:spcPts val="2550"/>
              </a:lnSpc>
              <a:buNone/>
            </a:pPr>
            <a:r>
              <a:rPr lang="en-US" sz="2000" dirty="0">
                <a:solidFill>
                  <a:srgbClr val="EBECEF"/>
                </a:solidFill>
                <a:latin typeface="Fraunces Medium" pitchFamily="34" charset="0"/>
                <a:ea typeface="Fraunces Medium" pitchFamily="34" charset="-122"/>
                <a:cs typeface="Fraunces Medium" pitchFamily="34" charset="-120"/>
              </a:rPr>
              <a:t>Deployment</a:t>
            </a:r>
            <a:endParaRPr lang="en-US" sz="2000" dirty="0"/>
          </a:p>
        </p:txBody>
      </p:sp>
      <p:sp>
        <p:nvSpPr>
          <p:cNvPr id="32" name="Text 30"/>
          <p:cNvSpPr/>
          <p:nvPr/>
        </p:nvSpPr>
        <p:spPr>
          <a:xfrm>
            <a:off x="9892308" y="4710351"/>
            <a:ext cx="3801547" cy="332899"/>
          </a:xfrm>
          <a:prstGeom prst="rect">
            <a:avLst/>
          </a:prstGeom>
          <a:noFill/>
          <a:ln/>
        </p:spPr>
        <p:txBody>
          <a:bodyPr wrap="none" lIns="0" tIns="0" rIns="0" bIns="0" rtlCol="0" anchor="t"/>
          <a:lstStyle/>
          <a:p>
            <a:pPr marL="0" indent="0" algn="ctr">
              <a:lnSpc>
                <a:spcPts val="2600"/>
              </a:lnSpc>
              <a:buNone/>
            </a:pPr>
            <a:r>
              <a:rPr lang="en-US" sz="1600" dirty="0">
                <a:solidFill>
                  <a:srgbClr val="EBECEF"/>
                </a:solidFill>
                <a:latin typeface="Epilogue" pitchFamily="34" charset="0"/>
                <a:ea typeface="Epilogue" pitchFamily="34" charset="-122"/>
                <a:cs typeface="Epilogue" pitchFamily="34" charset="-120"/>
              </a:rPr>
              <a:t>Implement production solution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28055" y="493990"/>
            <a:ext cx="4486632" cy="560784"/>
          </a:xfrm>
          <a:prstGeom prst="rect">
            <a:avLst/>
          </a:prstGeom>
          <a:noFill/>
          <a:ln/>
        </p:spPr>
        <p:txBody>
          <a:bodyPr wrap="none" lIns="0" tIns="0" rIns="0" bIns="0" rtlCol="0" anchor="t"/>
          <a:lstStyle/>
          <a:p>
            <a:pPr marL="0" indent="0" algn="l">
              <a:lnSpc>
                <a:spcPts val="4400"/>
              </a:lnSpc>
              <a:buNone/>
            </a:pPr>
            <a:r>
              <a:rPr lang="en-US" sz="3500" dirty="0">
                <a:solidFill>
                  <a:srgbClr val="FFFFFF"/>
                </a:solidFill>
                <a:latin typeface="Fraunces Medium" pitchFamily="34" charset="0"/>
                <a:ea typeface="Fraunces Medium" pitchFamily="34" charset="-122"/>
                <a:cs typeface="Fraunces Medium" pitchFamily="34" charset="-120"/>
              </a:rPr>
              <a:t>Dataset Overview</a:t>
            </a:r>
            <a:endParaRPr lang="en-US" sz="3500" dirty="0"/>
          </a:p>
        </p:txBody>
      </p:sp>
      <p:sp>
        <p:nvSpPr>
          <p:cNvPr id="3" name="Text 1"/>
          <p:cNvSpPr/>
          <p:nvPr/>
        </p:nvSpPr>
        <p:spPr>
          <a:xfrm>
            <a:off x="628055" y="1503402"/>
            <a:ext cx="3346728" cy="336471"/>
          </a:xfrm>
          <a:prstGeom prst="rect">
            <a:avLst/>
          </a:prstGeom>
          <a:noFill/>
          <a:ln/>
        </p:spPr>
        <p:txBody>
          <a:bodyPr wrap="none" lIns="0" tIns="0" rIns="0" bIns="0" rtlCol="0" anchor="t"/>
          <a:lstStyle/>
          <a:p>
            <a:pPr marL="0" indent="0" algn="l">
              <a:lnSpc>
                <a:spcPts val="2600"/>
              </a:lnSpc>
              <a:buNone/>
            </a:pPr>
            <a:r>
              <a:rPr lang="en-US" sz="2100" dirty="0">
                <a:solidFill>
                  <a:srgbClr val="FFFFFF"/>
                </a:solidFill>
                <a:latin typeface="Fraunces Medium" pitchFamily="34" charset="0"/>
                <a:ea typeface="Fraunces Medium" pitchFamily="34" charset="-122"/>
                <a:cs typeface="Fraunces Medium" pitchFamily="34" charset="-120"/>
              </a:rPr>
              <a:t>Data Collection &amp; Loading</a:t>
            </a:r>
            <a:endParaRPr lang="en-US" sz="2100" dirty="0"/>
          </a:p>
        </p:txBody>
      </p:sp>
      <p:sp>
        <p:nvSpPr>
          <p:cNvPr id="4" name="Text 2"/>
          <p:cNvSpPr/>
          <p:nvPr/>
        </p:nvSpPr>
        <p:spPr>
          <a:xfrm>
            <a:off x="628055" y="2019300"/>
            <a:ext cx="5777627" cy="287060"/>
          </a:xfrm>
          <a:prstGeom prst="rect">
            <a:avLst/>
          </a:prstGeom>
          <a:noFill/>
          <a:ln/>
        </p:spPr>
        <p:txBody>
          <a:bodyPr wrap="none" lIns="0" tIns="0" rIns="0" bIns="0" rtlCol="0" anchor="t"/>
          <a:lstStyle/>
          <a:p>
            <a:pPr marL="0" indent="0" algn="l">
              <a:lnSpc>
                <a:spcPts val="2250"/>
              </a:lnSpc>
              <a:buNone/>
            </a:pPr>
            <a:r>
              <a:rPr lang="en-US" sz="1400" b="1" dirty="0">
                <a:solidFill>
                  <a:srgbClr val="EBECEF"/>
                </a:solidFill>
                <a:latin typeface="Epilogue" pitchFamily="34" charset="0"/>
                <a:ea typeface="Epilogue" pitchFamily="34" charset="-122"/>
                <a:cs typeface="Epilogue" pitchFamily="34" charset="-120"/>
              </a:rPr>
              <a:t>Source:</a:t>
            </a:r>
            <a:r>
              <a:rPr lang="en-US" sz="1400" dirty="0">
                <a:solidFill>
                  <a:srgbClr val="EBECEF"/>
                </a:solidFill>
                <a:latin typeface="Epilogue" pitchFamily="34" charset="0"/>
                <a:ea typeface="Epilogue" pitchFamily="34" charset="-122"/>
                <a:cs typeface="Epilogue" pitchFamily="34" charset="-120"/>
              </a:rPr>
              <a:t> Train_new.csv dataset</a:t>
            </a:r>
            <a:endParaRPr lang="en-US" sz="1400" dirty="0"/>
          </a:p>
        </p:txBody>
      </p:sp>
      <p:sp>
        <p:nvSpPr>
          <p:cNvPr id="5" name="Text 3"/>
          <p:cNvSpPr/>
          <p:nvPr/>
        </p:nvSpPr>
        <p:spPr>
          <a:xfrm>
            <a:off x="628055" y="2467808"/>
            <a:ext cx="5777627" cy="287060"/>
          </a:xfrm>
          <a:prstGeom prst="rect">
            <a:avLst/>
          </a:prstGeom>
          <a:noFill/>
          <a:ln/>
        </p:spPr>
        <p:txBody>
          <a:bodyPr wrap="none" lIns="0" tIns="0" rIns="0" bIns="0" rtlCol="0" anchor="t"/>
          <a:lstStyle/>
          <a:p>
            <a:pPr marL="0" indent="0" algn="l">
              <a:lnSpc>
                <a:spcPts val="2250"/>
              </a:lnSpc>
              <a:buNone/>
            </a:pPr>
            <a:r>
              <a:rPr lang="en-US" sz="1400" b="1" dirty="0">
                <a:solidFill>
                  <a:srgbClr val="EBECEF"/>
                </a:solidFill>
                <a:latin typeface="Epilogue" pitchFamily="34" charset="0"/>
                <a:ea typeface="Epilogue" pitchFamily="34" charset="-122"/>
                <a:cs typeface="Epilogue" pitchFamily="34" charset="-120"/>
              </a:rPr>
              <a:t>Volume:</a:t>
            </a:r>
            <a:r>
              <a:rPr lang="en-US" sz="1400" dirty="0">
                <a:solidFill>
                  <a:srgbClr val="EBECEF"/>
                </a:solidFill>
                <a:latin typeface="Epilogue" pitchFamily="34" charset="0"/>
                <a:ea typeface="Epilogue" pitchFamily="34" charset="-122"/>
                <a:cs typeface="Epilogue" pitchFamily="34" charset="-120"/>
              </a:rPr>
              <a:t> 10,999 shipment records</a:t>
            </a:r>
            <a:endParaRPr lang="en-US" sz="1400" dirty="0"/>
          </a:p>
        </p:txBody>
      </p:sp>
      <p:sp>
        <p:nvSpPr>
          <p:cNvPr id="6" name="Text 4"/>
          <p:cNvSpPr/>
          <p:nvPr/>
        </p:nvSpPr>
        <p:spPr>
          <a:xfrm>
            <a:off x="628055" y="2916317"/>
            <a:ext cx="5777627" cy="287060"/>
          </a:xfrm>
          <a:prstGeom prst="rect">
            <a:avLst/>
          </a:prstGeom>
          <a:noFill/>
          <a:ln/>
        </p:spPr>
        <p:txBody>
          <a:bodyPr wrap="none" lIns="0" tIns="0" rIns="0" bIns="0" rtlCol="0" anchor="t"/>
          <a:lstStyle/>
          <a:p>
            <a:pPr marL="0" indent="0" algn="l">
              <a:lnSpc>
                <a:spcPts val="2250"/>
              </a:lnSpc>
              <a:buNone/>
            </a:pPr>
            <a:r>
              <a:rPr lang="en-US" sz="1400" b="1" dirty="0">
                <a:solidFill>
                  <a:srgbClr val="EBECEF"/>
                </a:solidFill>
                <a:latin typeface="Epilogue" pitchFamily="34" charset="0"/>
                <a:ea typeface="Epilogue" pitchFamily="34" charset="-122"/>
                <a:cs typeface="Epilogue" pitchFamily="34" charset="-120"/>
              </a:rPr>
              <a:t>Features:</a:t>
            </a:r>
            <a:r>
              <a:rPr lang="en-US" sz="1400" dirty="0">
                <a:solidFill>
                  <a:srgbClr val="EBECEF"/>
                </a:solidFill>
                <a:latin typeface="Epilogue" pitchFamily="34" charset="0"/>
                <a:ea typeface="Epilogue" pitchFamily="34" charset="-122"/>
                <a:cs typeface="Epilogue" pitchFamily="34" charset="-120"/>
              </a:rPr>
              <a:t> 12 comprehensive columns</a:t>
            </a:r>
            <a:endParaRPr lang="en-US" sz="1400" dirty="0"/>
          </a:p>
        </p:txBody>
      </p:sp>
      <p:sp>
        <p:nvSpPr>
          <p:cNvPr id="7" name="Text 5"/>
          <p:cNvSpPr/>
          <p:nvPr/>
        </p:nvSpPr>
        <p:spPr>
          <a:xfrm>
            <a:off x="628055" y="3364825"/>
            <a:ext cx="5777627" cy="287060"/>
          </a:xfrm>
          <a:prstGeom prst="rect">
            <a:avLst/>
          </a:prstGeom>
          <a:noFill/>
          <a:ln/>
        </p:spPr>
        <p:txBody>
          <a:bodyPr wrap="none" lIns="0" tIns="0" rIns="0" bIns="0" rtlCol="0" anchor="t"/>
          <a:lstStyle/>
          <a:p>
            <a:pPr marL="0" indent="0" algn="l">
              <a:lnSpc>
                <a:spcPts val="2250"/>
              </a:lnSpc>
              <a:buNone/>
            </a:pPr>
            <a:r>
              <a:rPr lang="en-US" sz="1400" b="1" dirty="0">
                <a:solidFill>
                  <a:srgbClr val="EBECEF"/>
                </a:solidFill>
                <a:latin typeface="Epilogue" pitchFamily="34" charset="0"/>
                <a:ea typeface="Epilogue" pitchFamily="34" charset="-122"/>
                <a:cs typeface="Epilogue" pitchFamily="34" charset="-120"/>
              </a:rPr>
              <a:t>Target Variable:</a:t>
            </a:r>
            <a:r>
              <a:rPr lang="en-US" sz="1400" dirty="0">
                <a:solidFill>
                  <a:srgbClr val="EBECEF"/>
                </a:solidFill>
                <a:latin typeface="Epilogue" pitchFamily="34" charset="0"/>
                <a:ea typeface="Epilogue" pitchFamily="34" charset="-122"/>
                <a:cs typeface="Epilogue" pitchFamily="34" charset="-120"/>
              </a:rPr>
              <a:t> Reached.on.Time_Y.N</a:t>
            </a:r>
            <a:endParaRPr lang="en-US" sz="1400" dirty="0"/>
          </a:p>
        </p:txBody>
      </p:sp>
      <p:sp>
        <p:nvSpPr>
          <p:cNvPr id="8" name="Text 6"/>
          <p:cNvSpPr/>
          <p:nvPr/>
        </p:nvSpPr>
        <p:spPr>
          <a:xfrm>
            <a:off x="628055" y="3813334"/>
            <a:ext cx="5777627" cy="28706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BECEF"/>
                </a:solidFill>
                <a:latin typeface="Epilogue" pitchFamily="34" charset="0"/>
                <a:ea typeface="Epilogue" pitchFamily="34" charset="-122"/>
                <a:cs typeface="Epilogue" pitchFamily="34" charset="-120"/>
              </a:rPr>
              <a:t>1 = On-Time Delivery</a:t>
            </a:r>
            <a:endParaRPr lang="en-US" sz="1400" dirty="0"/>
          </a:p>
        </p:txBody>
      </p:sp>
      <p:sp>
        <p:nvSpPr>
          <p:cNvPr id="9" name="Text 7"/>
          <p:cNvSpPr/>
          <p:nvPr/>
        </p:nvSpPr>
        <p:spPr>
          <a:xfrm>
            <a:off x="628055" y="4163139"/>
            <a:ext cx="5777627" cy="28706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BECEF"/>
                </a:solidFill>
                <a:latin typeface="Epilogue" pitchFamily="34" charset="0"/>
                <a:ea typeface="Epilogue" pitchFamily="34" charset="-122"/>
                <a:cs typeface="Epilogue" pitchFamily="34" charset="-120"/>
              </a:rPr>
              <a:t>0 = Delayed Shipment</a:t>
            </a:r>
            <a:endParaRPr lang="en-US" sz="1400" dirty="0"/>
          </a:p>
        </p:txBody>
      </p:sp>
      <p:sp>
        <p:nvSpPr>
          <p:cNvPr id="10" name="Text 8"/>
          <p:cNvSpPr/>
          <p:nvPr/>
        </p:nvSpPr>
        <p:spPr>
          <a:xfrm>
            <a:off x="628055" y="4629626"/>
            <a:ext cx="2243257" cy="280392"/>
          </a:xfrm>
          <a:prstGeom prst="rect">
            <a:avLst/>
          </a:prstGeom>
          <a:noFill/>
          <a:ln/>
        </p:spPr>
        <p:txBody>
          <a:bodyPr wrap="none" lIns="0" tIns="0" rIns="0" bIns="0" rtlCol="0" anchor="t"/>
          <a:lstStyle/>
          <a:p>
            <a:pPr marL="0" indent="0" algn="l">
              <a:lnSpc>
                <a:spcPts val="2200"/>
              </a:lnSpc>
              <a:buNone/>
            </a:pPr>
            <a:r>
              <a:rPr lang="en-US" sz="1750" dirty="0">
                <a:solidFill>
                  <a:srgbClr val="FFFFFF"/>
                </a:solidFill>
                <a:latin typeface="Fraunces Medium" pitchFamily="34" charset="0"/>
                <a:ea typeface="Fraunces Medium" pitchFamily="34" charset="-122"/>
                <a:cs typeface="Fraunces Medium" pitchFamily="34" charset="-120"/>
              </a:rPr>
              <a:t>Key Features:</a:t>
            </a:r>
            <a:endParaRPr lang="en-US" sz="1750" dirty="0"/>
          </a:p>
        </p:txBody>
      </p:sp>
      <p:sp>
        <p:nvSpPr>
          <p:cNvPr id="11" name="Text 9"/>
          <p:cNvSpPr/>
          <p:nvPr/>
        </p:nvSpPr>
        <p:spPr>
          <a:xfrm>
            <a:off x="628055" y="5089446"/>
            <a:ext cx="5777627" cy="28706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BECEF"/>
                </a:solidFill>
                <a:latin typeface="Epilogue" pitchFamily="34" charset="0"/>
                <a:ea typeface="Epilogue" pitchFamily="34" charset="-122"/>
                <a:cs typeface="Epilogue" pitchFamily="34" charset="-120"/>
              </a:rPr>
              <a:t>Warehouse Block</a:t>
            </a:r>
            <a:endParaRPr lang="en-US" sz="1400" dirty="0"/>
          </a:p>
        </p:txBody>
      </p:sp>
      <p:sp>
        <p:nvSpPr>
          <p:cNvPr id="12" name="Text 10"/>
          <p:cNvSpPr/>
          <p:nvPr/>
        </p:nvSpPr>
        <p:spPr>
          <a:xfrm>
            <a:off x="628055" y="5439251"/>
            <a:ext cx="5777627" cy="28706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BECEF"/>
                </a:solidFill>
                <a:latin typeface="Epilogue" pitchFamily="34" charset="0"/>
                <a:ea typeface="Epilogue" pitchFamily="34" charset="-122"/>
                <a:cs typeface="Epilogue" pitchFamily="34" charset="-120"/>
              </a:rPr>
              <a:t>Cost_of_the_product</a:t>
            </a:r>
            <a:endParaRPr lang="en-US" sz="1400" dirty="0"/>
          </a:p>
        </p:txBody>
      </p:sp>
      <p:sp>
        <p:nvSpPr>
          <p:cNvPr id="13" name="Text 11"/>
          <p:cNvSpPr/>
          <p:nvPr/>
        </p:nvSpPr>
        <p:spPr>
          <a:xfrm>
            <a:off x="628055" y="5789057"/>
            <a:ext cx="5777627" cy="28706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BECEF"/>
                </a:solidFill>
                <a:latin typeface="Epilogue" pitchFamily="34" charset="0"/>
                <a:ea typeface="Epilogue" pitchFamily="34" charset="-122"/>
                <a:cs typeface="Epilogue" pitchFamily="34" charset="-120"/>
              </a:rPr>
              <a:t>Mode_of_Shipment</a:t>
            </a:r>
            <a:endParaRPr lang="en-US" sz="1400" dirty="0"/>
          </a:p>
        </p:txBody>
      </p:sp>
      <p:sp>
        <p:nvSpPr>
          <p:cNvPr id="14" name="Text 12"/>
          <p:cNvSpPr/>
          <p:nvPr/>
        </p:nvSpPr>
        <p:spPr>
          <a:xfrm>
            <a:off x="628055" y="6138863"/>
            <a:ext cx="5777627" cy="28706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BECEF"/>
                </a:solidFill>
                <a:latin typeface="Epilogue" pitchFamily="34" charset="0"/>
                <a:ea typeface="Epilogue" pitchFamily="34" charset="-122"/>
                <a:cs typeface="Epilogue" pitchFamily="34" charset="-120"/>
              </a:rPr>
              <a:t>weight_in_gms</a:t>
            </a:r>
            <a:endParaRPr lang="en-US" sz="1400" dirty="0"/>
          </a:p>
        </p:txBody>
      </p:sp>
      <p:sp>
        <p:nvSpPr>
          <p:cNvPr id="15" name="Text 13"/>
          <p:cNvSpPr/>
          <p:nvPr/>
        </p:nvSpPr>
        <p:spPr>
          <a:xfrm>
            <a:off x="628055" y="6488668"/>
            <a:ext cx="5777627" cy="28706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BECEF"/>
                </a:solidFill>
                <a:latin typeface="Epilogue" pitchFamily="34" charset="0"/>
                <a:ea typeface="Epilogue" pitchFamily="34" charset="-122"/>
                <a:cs typeface="Epilogue" pitchFamily="34" charset="-120"/>
              </a:rPr>
              <a:t>Prior purchase</a:t>
            </a:r>
            <a:endParaRPr lang="en-US" sz="1400" dirty="0"/>
          </a:p>
        </p:txBody>
      </p:sp>
      <p:sp>
        <p:nvSpPr>
          <p:cNvPr id="16" name="Text 14"/>
          <p:cNvSpPr/>
          <p:nvPr/>
        </p:nvSpPr>
        <p:spPr>
          <a:xfrm>
            <a:off x="628055" y="6838474"/>
            <a:ext cx="5777627" cy="28706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EBECEF"/>
                </a:solidFill>
                <a:latin typeface="Epilogue" pitchFamily="34" charset="0"/>
                <a:ea typeface="Epilogue" pitchFamily="34" charset="-122"/>
                <a:cs typeface="Epilogue" pitchFamily="34" charset="-120"/>
              </a:rPr>
              <a:t>Product importance</a:t>
            </a:r>
            <a:endParaRPr lang="en-US" sz="1400" dirty="0"/>
          </a:p>
        </p:txBody>
      </p:sp>
      <p:sp>
        <p:nvSpPr>
          <p:cNvPr id="17" name="Text 15"/>
          <p:cNvSpPr/>
          <p:nvPr/>
        </p:nvSpPr>
        <p:spPr>
          <a:xfrm>
            <a:off x="628055" y="7286982"/>
            <a:ext cx="5777627" cy="287060"/>
          </a:xfrm>
          <a:prstGeom prst="rect">
            <a:avLst/>
          </a:prstGeom>
          <a:noFill/>
          <a:ln/>
        </p:spPr>
        <p:txBody>
          <a:bodyPr wrap="none" lIns="0" tIns="0" rIns="0" bIns="0" rtlCol="0" anchor="t"/>
          <a:lstStyle/>
          <a:p>
            <a:pPr marL="0" indent="0" algn="l">
              <a:lnSpc>
                <a:spcPts val="2250"/>
              </a:lnSpc>
              <a:buNone/>
            </a:pPr>
            <a:endParaRPr lang="en-US" sz="1400" dirty="0"/>
          </a:p>
        </p:txBody>
      </p:sp>
      <p:pic>
        <p:nvPicPr>
          <p:cNvPr id="18" name="Image 0" descr="preencoded.png"/>
          <p:cNvPicPr>
            <a:picLocks noChangeAspect="1"/>
          </p:cNvPicPr>
          <p:nvPr/>
        </p:nvPicPr>
        <p:blipFill>
          <a:blip r:embed="rId3"/>
          <a:stretch>
            <a:fillRect/>
          </a:stretch>
        </p:blipFill>
        <p:spPr>
          <a:xfrm>
            <a:off x="6850975" y="1525786"/>
            <a:ext cx="7158871" cy="3799046"/>
          </a:xfrm>
          <a:prstGeom prst="rect">
            <a:avLst/>
          </a:prstGeom>
        </p:spPr>
      </p:pic>
      <p:sp>
        <p:nvSpPr>
          <p:cNvPr id="19" name="Shape 16"/>
          <p:cNvSpPr/>
          <p:nvPr/>
        </p:nvSpPr>
        <p:spPr>
          <a:xfrm>
            <a:off x="9393079" y="5355312"/>
            <a:ext cx="179427" cy="179427"/>
          </a:xfrm>
          <a:prstGeom prst="roundRect">
            <a:avLst>
              <a:gd name="adj" fmla="val 10192"/>
            </a:avLst>
          </a:prstGeom>
          <a:solidFill>
            <a:srgbClr val="222949"/>
          </a:solidFill>
          <a:ln/>
        </p:spPr>
      </p:sp>
      <p:sp>
        <p:nvSpPr>
          <p:cNvPr id="20" name="Text 17"/>
          <p:cNvSpPr/>
          <p:nvPr/>
        </p:nvSpPr>
        <p:spPr>
          <a:xfrm>
            <a:off x="9633466" y="5355312"/>
            <a:ext cx="720685" cy="179427"/>
          </a:xfrm>
          <a:prstGeom prst="rect">
            <a:avLst/>
          </a:prstGeom>
          <a:noFill/>
          <a:ln/>
        </p:spPr>
        <p:txBody>
          <a:bodyPr wrap="none" lIns="0" tIns="0" rIns="0" bIns="0" rtlCol="0" anchor="t"/>
          <a:lstStyle/>
          <a:p>
            <a:pPr marL="0" indent="0" algn="l">
              <a:lnSpc>
                <a:spcPts val="1400"/>
              </a:lnSpc>
              <a:buNone/>
            </a:pPr>
            <a:r>
              <a:rPr lang="en-US" sz="1400" dirty="0">
                <a:solidFill>
                  <a:srgbClr val="EBECEF"/>
                </a:solidFill>
                <a:latin typeface="Epilogue" pitchFamily="34" charset="0"/>
                <a:ea typeface="Epilogue" pitchFamily="34" charset="-122"/>
                <a:cs typeface="Epilogue" pitchFamily="34" charset="-120"/>
              </a:rPr>
              <a:t>On-Time</a:t>
            </a:r>
            <a:endParaRPr lang="en-US" sz="1400" dirty="0"/>
          </a:p>
        </p:txBody>
      </p:sp>
      <p:sp>
        <p:nvSpPr>
          <p:cNvPr id="21" name="Shape 18"/>
          <p:cNvSpPr/>
          <p:nvPr/>
        </p:nvSpPr>
        <p:spPr>
          <a:xfrm>
            <a:off x="10506551" y="5355312"/>
            <a:ext cx="179427" cy="179427"/>
          </a:xfrm>
          <a:prstGeom prst="roundRect">
            <a:avLst>
              <a:gd name="adj" fmla="val 10192"/>
            </a:avLst>
          </a:prstGeom>
          <a:solidFill>
            <a:srgbClr val="6C7CBB"/>
          </a:solidFill>
          <a:ln/>
        </p:spPr>
      </p:sp>
      <p:sp>
        <p:nvSpPr>
          <p:cNvPr id="22" name="Text 19"/>
          <p:cNvSpPr/>
          <p:nvPr/>
        </p:nvSpPr>
        <p:spPr>
          <a:xfrm>
            <a:off x="10746938" y="5355312"/>
            <a:ext cx="694849" cy="179427"/>
          </a:xfrm>
          <a:prstGeom prst="rect">
            <a:avLst/>
          </a:prstGeom>
          <a:noFill/>
          <a:ln/>
        </p:spPr>
        <p:txBody>
          <a:bodyPr wrap="none" lIns="0" tIns="0" rIns="0" bIns="0" rtlCol="0" anchor="t"/>
          <a:lstStyle/>
          <a:p>
            <a:pPr marL="0" indent="0" algn="l">
              <a:lnSpc>
                <a:spcPts val="1400"/>
              </a:lnSpc>
              <a:buNone/>
            </a:pPr>
            <a:r>
              <a:rPr lang="en-US" sz="1400" dirty="0">
                <a:solidFill>
                  <a:srgbClr val="EBECEF"/>
                </a:solidFill>
                <a:latin typeface="Epilogue" pitchFamily="34" charset="0"/>
                <a:ea typeface="Epilogue" pitchFamily="34" charset="-122"/>
                <a:cs typeface="Epilogue" pitchFamily="34" charset="-120"/>
              </a:rPr>
              <a:t>Delayed</a:t>
            </a:r>
            <a:endParaRPr lang="en-US" sz="1400" dirty="0"/>
          </a:p>
        </p:txBody>
      </p:sp>
      <p:sp>
        <p:nvSpPr>
          <p:cNvPr id="23" name="Text 20"/>
          <p:cNvSpPr/>
          <p:nvPr/>
        </p:nvSpPr>
        <p:spPr>
          <a:xfrm>
            <a:off x="6850975" y="5736550"/>
            <a:ext cx="7158871" cy="287060"/>
          </a:xfrm>
          <a:prstGeom prst="rect">
            <a:avLst/>
          </a:prstGeom>
          <a:noFill/>
          <a:ln/>
        </p:spPr>
        <p:txBody>
          <a:bodyPr wrap="none" lIns="0" tIns="0" rIns="0" bIns="0" rtlCol="0" anchor="t"/>
          <a:lstStyle/>
          <a:p>
            <a:pPr marL="0" indent="0" algn="ctr">
              <a:lnSpc>
                <a:spcPts val="2250"/>
              </a:lnSpc>
              <a:buNone/>
            </a:pPr>
            <a:r>
              <a:rPr lang="en-US" sz="1400" dirty="0">
                <a:solidFill>
                  <a:srgbClr val="EBECEF"/>
                </a:solidFill>
                <a:latin typeface="Epilogue" pitchFamily="34" charset="0"/>
                <a:ea typeface="Epilogue" pitchFamily="34" charset="-122"/>
                <a:cs typeface="Epilogue" pitchFamily="34" charset="-120"/>
              </a:rPr>
              <a:t>Target Variable Class distribution</a:t>
            </a:r>
            <a:endParaRPr lang="en-US" sz="1400" dirty="0"/>
          </a:p>
        </p:txBody>
      </p:sp>
      <p:sp>
        <p:nvSpPr>
          <p:cNvPr id="24" name="Text 21"/>
          <p:cNvSpPr/>
          <p:nvPr/>
        </p:nvSpPr>
        <p:spPr>
          <a:xfrm>
            <a:off x="6850975" y="6185059"/>
            <a:ext cx="7158871" cy="861179"/>
          </a:xfrm>
          <a:prstGeom prst="rect">
            <a:avLst/>
          </a:prstGeom>
          <a:noFill/>
          <a:ln/>
        </p:spPr>
        <p:txBody>
          <a:bodyPr wrap="square" lIns="0" tIns="0" rIns="0" bIns="0" rtlCol="0" anchor="t"/>
          <a:lstStyle/>
          <a:p>
            <a:pPr marL="0" indent="0" algn="l">
              <a:lnSpc>
                <a:spcPts val="2250"/>
              </a:lnSpc>
              <a:buNone/>
            </a:pPr>
            <a:r>
              <a:rPr lang="en-US" sz="1400" dirty="0">
                <a:solidFill>
                  <a:srgbClr val="EBECEF"/>
                </a:solidFill>
                <a:latin typeface="Epilogue" pitchFamily="34" charset="0"/>
                <a:ea typeface="Epilogue" pitchFamily="34" charset="-122"/>
                <a:cs typeface="Epilogue" pitchFamily="34" charset="-120"/>
              </a:rPr>
              <a:t>The dataset exhibits a moderate class imbalance, with 60% of shipments arriving on time and 40% experiencing delays. This distribution required careful handling through SMOTE balancing techniques.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2708" y="559951"/>
            <a:ext cx="6854666" cy="636389"/>
          </a:xfrm>
          <a:prstGeom prst="rect">
            <a:avLst/>
          </a:prstGeom>
          <a:noFill/>
          <a:ln/>
        </p:spPr>
        <p:txBody>
          <a:bodyPr wrap="none" lIns="0" tIns="0" rIns="0" bIns="0" rtlCol="0" anchor="t"/>
          <a:lstStyle/>
          <a:p>
            <a:pPr marL="0" indent="0" algn="l">
              <a:lnSpc>
                <a:spcPts val="5000"/>
              </a:lnSpc>
              <a:buNone/>
            </a:pPr>
            <a:r>
              <a:rPr lang="en-US" sz="4000" dirty="0">
                <a:solidFill>
                  <a:srgbClr val="FFFFFF"/>
                </a:solidFill>
                <a:latin typeface="Fraunces Medium" pitchFamily="34" charset="0"/>
                <a:ea typeface="Fraunces Medium" pitchFamily="34" charset="-122"/>
                <a:cs typeface="Fraunces Medium" pitchFamily="34" charset="-120"/>
              </a:rPr>
              <a:t>Data Preprocessing Pipeline</a:t>
            </a:r>
            <a:endParaRPr lang="en-US" sz="4000" dirty="0"/>
          </a:p>
        </p:txBody>
      </p:sp>
      <p:sp>
        <p:nvSpPr>
          <p:cNvPr id="3" name="Shape 1"/>
          <p:cNvSpPr/>
          <p:nvPr/>
        </p:nvSpPr>
        <p:spPr>
          <a:xfrm>
            <a:off x="712708" y="1603534"/>
            <a:ext cx="4265890" cy="2654379"/>
          </a:xfrm>
          <a:prstGeom prst="roundRect">
            <a:avLst>
              <a:gd name="adj" fmla="val 3222"/>
            </a:avLst>
          </a:prstGeom>
          <a:solidFill>
            <a:srgbClr val="283157"/>
          </a:solidFill>
          <a:ln w="7620">
            <a:solidFill>
              <a:srgbClr val="414A70"/>
            </a:solidFill>
            <a:prstDash val="solid"/>
          </a:ln>
        </p:spPr>
      </p:sp>
      <p:sp>
        <p:nvSpPr>
          <p:cNvPr id="4" name="Shape 2"/>
          <p:cNvSpPr/>
          <p:nvPr/>
        </p:nvSpPr>
        <p:spPr>
          <a:xfrm>
            <a:off x="923925" y="1814751"/>
            <a:ext cx="610791" cy="610791"/>
          </a:xfrm>
          <a:prstGeom prst="roundRect">
            <a:avLst>
              <a:gd name="adj" fmla="val 14969254"/>
            </a:avLst>
          </a:prstGeom>
          <a:solidFill>
            <a:srgbClr val="8C98CA"/>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922" y="1982748"/>
            <a:ext cx="274796" cy="274796"/>
          </a:xfrm>
          <a:prstGeom prst="rect">
            <a:avLst/>
          </a:prstGeom>
        </p:spPr>
      </p:pic>
      <p:sp>
        <p:nvSpPr>
          <p:cNvPr id="6" name="Text 3"/>
          <p:cNvSpPr/>
          <p:nvPr/>
        </p:nvSpPr>
        <p:spPr>
          <a:xfrm>
            <a:off x="923925" y="2629138"/>
            <a:ext cx="2545437" cy="318135"/>
          </a:xfrm>
          <a:prstGeom prst="rect">
            <a:avLst/>
          </a:prstGeom>
          <a:noFill/>
          <a:ln/>
        </p:spPr>
        <p:txBody>
          <a:bodyPr wrap="none" lIns="0" tIns="0" rIns="0" bIns="0" rtlCol="0" anchor="t"/>
          <a:lstStyle/>
          <a:p>
            <a:pPr marL="0" indent="0" algn="l">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Data Cleaning</a:t>
            </a:r>
            <a:endParaRPr lang="en-US" sz="2000" dirty="0"/>
          </a:p>
        </p:txBody>
      </p:sp>
      <p:sp>
        <p:nvSpPr>
          <p:cNvPr id="7" name="Text 4"/>
          <p:cNvSpPr/>
          <p:nvPr/>
        </p:nvSpPr>
        <p:spPr>
          <a:xfrm>
            <a:off x="923925" y="3069431"/>
            <a:ext cx="3843457" cy="977265"/>
          </a:xfrm>
          <a:prstGeom prst="rect">
            <a:avLst/>
          </a:prstGeom>
          <a:noFill/>
          <a:ln/>
        </p:spPr>
        <p:txBody>
          <a:bodyPr wrap="square" lIns="0" tIns="0" rIns="0" bIns="0" rtlCol="0" anchor="t"/>
          <a:lstStyle/>
          <a:p>
            <a:pPr marL="0" indent="0" algn="l">
              <a:lnSpc>
                <a:spcPts val="2550"/>
              </a:lnSpc>
              <a:buNone/>
            </a:pPr>
            <a:r>
              <a:rPr lang="en-US" sz="1600" dirty="0">
                <a:solidFill>
                  <a:srgbClr val="EBECEF"/>
                </a:solidFill>
                <a:latin typeface="Epilogue" pitchFamily="34" charset="0"/>
                <a:ea typeface="Epilogue" pitchFamily="34" charset="-122"/>
                <a:cs typeface="Epilogue" pitchFamily="34" charset="-120"/>
              </a:rPr>
              <a:t>Removed missing values and duplicate records to ensure data integrity and reliability</a:t>
            </a:r>
            <a:endParaRPr lang="en-US" sz="1600" dirty="0"/>
          </a:p>
        </p:txBody>
      </p:sp>
      <p:sp>
        <p:nvSpPr>
          <p:cNvPr id="8" name="Shape 5"/>
          <p:cNvSpPr/>
          <p:nvPr/>
        </p:nvSpPr>
        <p:spPr>
          <a:xfrm>
            <a:off x="5182195" y="1603534"/>
            <a:ext cx="4265890" cy="2654379"/>
          </a:xfrm>
          <a:prstGeom prst="roundRect">
            <a:avLst>
              <a:gd name="adj" fmla="val 3222"/>
            </a:avLst>
          </a:prstGeom>
          <a:solidFill>
            <a:srgbClr val="283157"/>
          </a:solidFill>
          <a:ln w="7620">
            <a:solidFill>
              <a:srgbClr val="414A70"/>
            </a:solidFill>
            <a:prstDash val="solid"/>
          </a:ln>
        </p:spPr>
      </p:sp>
      <p:sp>
        <p:nvSpPr>
          <p:cNvPr id="9" name="Shape 6"/>
          <p:cNvSpPr/>
          <p:nvPr/>
        </p:nvSpPr>
        <p:spPr>
          <a:xfrm>
            <a:off x="5393412" y="1814751"/>
            <a:ext cx="610791" cy="610791"/>
          </a:xfrm>
          <a:prstGeom prst="roundRect">
            <a:avLst>
              <a:gd name="adj" fmla="val 14969254"/>
            </a:avLst>
          </a:prstGeom>
          <a:solidFill>
            <a:srgbClr val="8C98CA"/>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61409" y="1982748"/>
            <a:ext cx="274796" cy="274796"/>
          </a:xfrm>
          <a:prstGeom prst="rect">
            <a:avLst/>
          </a:prstGeom>
        </p:spPr>
      </p:pic>
      <p:sp>
        <p:nvSpPr>
          <p:cNvPr id="11" name="Text 7"/>
          <p:cNvSpPr/>
          <p:nvPr/>
        </p:nvSpPr>
        <p:spPr>
          <a:xfrm>
            <a:off x="5393412" y="2629138"/>
            <a:ext cx="2593896" cy="318135"/>
          </a:xfrm>
          <a:prstGeom prst="rect">
            <a:avLst/>
          </a:prstGeom>
          <a:noFill/>
          <a:ln/>
        </p:spPr>
        <p:txBody>
          <a:bodyPr wrap="none" lIns="0" tIns="0" rIns="0" bIns="0" rtlCol="0" anchor="t"/>
          <a:lstStyle/>
          <a:p>
            <a:pPr marL="0" indent="0" algn="l">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Categorical Encoding</a:t>
            </a:r>
            <a:endParaRPr lang="en-US" sz="2000" dirty="0"/>
          </a:p>
        </p:txBody>
      </p:sp>
      <p:sp>
        <p:nvSpPr>
          <p:cNvPr id="12" name="Text 8"/>
          <p:cNvSpPr/>
          <p:nvPr/>
        </p:nvSpPr>
        <p:spPr>
          <a:xfrm>
            <a:off x="5393412" y="3069431"/>
            <a:ext cx="3843457" cy="977265"/>
          </a:xfrm>
          <a:prstGeom prst="rect">
            <a:avLst/>
          </a:prstGeom>
          <a:noFill/>
          <a:ln/>
        </p:spPr>
        <p:txBody>
          <a:bodyPr wrap="square" lIns="0" tIns="0" rIns="0" bIns="0" rtlCol="0" anchor="t"/>
          <a:lstStyle/>
          <a:p>
            <a:pPr marL="0" indent="0" algn="l">
              <a:lnSpc>
                <a:spcPts val="2550"/>
              </a:lnSpc>
              <a:buNone/>
            </a:pPr>
            <a:r>
              <a:rPr lang="en-US" sz="1600" dirty="0">
                <a:solidFill>
                  <a:srgbClr val="EBECEF"/>
                </a:solidFill>
                <a:latin typeface="Epilogue" pitchFamily="34" charset="0"/>
                <a:ea typeface="Epilogue" pitchFamily="34" charset="-122"/>
                <a:cs typeface="Epilogue" pitchFamily="34" charset="-120"/>
              </a:rPr>
              <a:t>Applied LabelEncoder for ordinal data and OneHotEncoder for nominal features</a:t>
            </a:r>
            <a:endParaRPr lang="en-US" sz="1600" dirty="0"/>
          </a:p>
        </p:txBody>
      </p:sp>
      <p:sp>
        <p:nvSpPr>
          <p:cNvPr id="13" name="Shape 9"/>
          <p:cNvSpPr/>
          <p:nvPr/>
        </p:nvSpPr>
        <p:spPr>
          <a:xfrm>
            <a:off x="9651683" y="1603534"/>
            <a:ext cx="4266009" cy="2654379"/>
          </a:xfrm>
          <a:prstGeom prst="roundRect">
            <a:avLst>
              <a:gd name="adj" fmla="val 3222"/>
            </a:avLst>
          </a:prstGeom>
          <a:solidFill>
            <a:srgbClr val="283157"/>
          </a:solidFill>
          <a:ln w="7620">
            <a:solidFill>
              <a:srgbClr val="414A70"/>
            </a:solidFill>
            <a:prstDash val="solid"/>
          </a:ln>
        </p:spPr>
      </p:sp>
      <p:sp>
        <p:nvSpPr>
          <p:cNvPr id="14" name="Shape 10"/>
          <p:cNvSpPr/>
          <p:nvPr/>
        </p:nvSpPr>
        <p:spPr>
          <a:xfrm>
            <a:off x="9862899" y="1814751"/>
            <a:ext cx="610791" cy="610791"/>
          </a:xfrm>
          <a:prstGeom prst="roundRect">
            <a:avLst>
              <a:gd name="adj" fmla="val 14969254"/>
            </a:avLst>
          </a:prstGeom>
          <a:solidFill>
            <a:srgbClr val="8C98CA"/>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30897" y="1982748"/>
            <a:ext cx="274796" cy="274796"/>
          </a:xfrm>
          <a:prstGeom prst="rect">
            <a:avLst/>
          </a:prstGeom>
        </p:spPr>
      </p:pic>
      <p:sp>
        <p:nvSpPr>
          <p:cNvPr id="16" name="Text 11"/>
          <p:cNvSpPr/>
          <p:nvPr/>
        </p:nvSpPr>
        <p:spPr>
          <a:xfrm>
            <a:off x="9862899" y="2629138"/>
            <a:ext cx="2545437" cy="318135"/>
          </a:xfrm>
          <a:prstGeom prst="rect">
            <a:avLst/>
          </a:prstGeom>
          <a:noFill/>
          <a:ln/>
        </p:spPr>
        <p:txBody>
          <a:bodyPr wrap="none" lIns="0" tIns="0" rIns="0" bIns="0" rtlCol="0" anchor="t"/>
          <a:lstStyle/>
          <a:p>
            <a:pPr marL="0" indent="0" algn="l">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Feature Scaling</a:t>
            </a:r>
            <a:endParaRPr lang="en-US" sz="2000" dirty="0"/>
          </a:p>
        </p:txBody>
      </p:sp>
      <p:sp>
        <p:nvSpPr>
          <p:cNvPr id="17" name="Text 12"/>
          <p:cNvSpPr/>
          <p:nvPr/>
        </p:nvSpPr>
        <p:spPr>
          <a:xfrm>
            <a:off x="9862899" y="3069431"/>
            <a:ext cx="3843576" cy="977265"/>
          </a:xfrm>
          <a:prstGeom prst="rect">
            <a:avLst/>
          </a:prstGeom>
          <a:noFill/>
          <a:ln/>
        </p:spPr>
        <p:txBody>
          <a:bodyPr wrap="square" lIns="0" tIns="0" rIns="0" bIns="0" rtlCol="0" anchor="t"/>
          <a:lstStyle/>
          <a:p>
            <a:pPr marL="0" indent="0" algn="l">
              <a:lnSpc>
                <a:spcPts val="2550"/>
              </a:lnSpc>
              <a:buNone/>
            </a:pPr>
            <a:r>
              <a:rPr lang="en-US" sz="1600" dirty="0">
                <a:solidFill>
                  <a:srgbClr val="EBECEF"/>
                </a:solidFill>
                <a:latin typeface="Epilogue" pitchFamily="34" charset="0"/>
                <a:ea typeface="Epilogue" pitchFamily="34" charset="-122"/>
                <a:cs typeface="Epilogue" pitchFamily="34" charset="-120"/>
              </a:rPr>
              <a:t>Normalised numerical columns using StandardScaler for consistent model training</a:t>
            </a:r>
            <a:endParaRPr lang="en-US" sz="1600" dirty="0"/>
          </a:p>
        </p:txBody>
      </p:sp>
      <p:sp>
        <p:nvSpPr>
          <p:cNvPr id="18" name="Shape 13"/>
          <p:cNvSpPr/>
          <p:nvPr/>
        </p:nvSpPr>
        <p:spPr>
          <a:xfrm>
            <a:off x="712708" y="4461510"/>
            <a:ext cx="6500693" cy="2328624"/>
          </a:xfrm>
          <a:prstGeom prst="roundRect">
            <a:avLst>
              <a:gd name="adj" fmla="val 3673"/>
            </a:avLst>
          </a:prstGeom>
          <a:solidFill>
            <a:srgbClr val="283157"/>
          </a:solidFill>
          <a:ln w="7620">
            <a:solidFill>
              <a:srgbClr val="414A70"/>
            </a:solidFill>
            <a:prstDash val="solid"/>
          </a:ln>
        </p:spPr>
      </p:sp>
      <p:sp>
        <p:nvSpPr>
          <p:cNvPr id="19" name="Shape 14"/>
          <p:cNvSpPr/>
          <p:nvPr/>
        </p:nvSpPr>
        <p:spPr>
          <a:xfrm>
            <a:off x="923925" y="4672727"/>
            <a:ext cx="610791" cy="610791"/>
          </a:xfrm>
          <a:prstGeom prst="roundRect">
            <a:avLst>
              <a:gd name="adj" fmla="val 14969254"/>
            </a:avLst>
          </a:prstGeom>
          <a:solidFill>
            <a:srgbClr val="8C98CA"/>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91922" y="4840724"/>
            <a:ext cx="274796" cy="274796"/>
          </a:xfrm>
          <a:prstGeom prst="rect">
            <a:avLst/>
          </a:prstGeom>
        </p:spPr>
      </p:pic>
      <p:sp>
        <p:nvSpPr>
          <p:cNvPr id="21" name="Text 15"/>
          <p:cNvSpPr/>
          <p:nvPr/>
        </p:nvSpPr>
        <p:spPr>
          <a:xfrm>
            <a:off x="923925" y="5487114"/>
            <a:ext cx="2545437" cy="318135"/>
          </a:xfrm>
          <a:prstGeom prst="rect">
            <a:avLst/>
          </a:prstGeom>
          <a:noFill/>
          <a:ln/>
        </p:spPr>
        <p:txBody>
          <a:bodyPr wrap="none" lIns="0" tIns="0" rIns="0" bIns="0" rtlCol="0" anchor="t"/>
          <a:lstStyle/>
          <a:p>
            <a:pPr marL="0" indent="0" algn="l">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Outlier Detection</a:t>
            </a:r>
            <a:endParaRPr lang="en-US" sz="2000" dirty="0"/>
          </a:p>
        </p:txBody>
      </p:sp>
      <p:sp>
        <p:nvSpPr>
          <p:cNvPr id="22" name="Text 16"/>
          <p:cNvSpPr/>
          <p:nvPr/>
        </p:nvSpPr>
        <p:spPr>
          <a:xfrm>
            <a:off x="923925" y="5927408"/>
            <a:ext cx="6078260" cy="651510"/>
          </a:xfrm>
          <a:prstGeom prst="rect">
            <a:avLst/>
          </a:prstGeom>
          <a:noFill/>
          <a:ln/>
        </p:spPr>
        <p:txBody>
          <a:bodyPr wrap="square" lIns="0" tIns="0" rIns="0" bIns="0" rtlCol="0" anchor="t"/>
          <a:lstStyle/>
          <a:p>
            <a:pPr marL="0" indent="0" algn="l">
              <a:lnSpc>
                <a:spcPts val="2550"/>
              </a:lnSpc>
              <a:buNone/>
            </a:pPr>
            <a:r>
              <a:rPr lang="en-US" sz="1600" dirty="0">
                <a:solidFill>
                  <a:srgbClr val="EBECEF"/>
                </a:solidFill>
                <a:latin typeface="Epilogue" pitchFamily="34" charset="0"/>
                <a:ea typeface="Epilogue" pitchFamily="34" charset="-122"/>
                <a:cs typeface="Epilogue" pitchFamily="34" charset="-120"/>
              </a:rPr>
              <a:t>Identified and removed statistical outliers using Interquartile Range (IQR) method</a:t>
            </a:r>
            <a:endParaRPr lang="en-US" sz="1600" dirty="0"/>
          </a:p>
        </p:txBody>
      </p:sp>
      <p:sp>
        <p:nvSpPr>
          <p:cNvPr id="23" name="Shape 17"/>
          <p:cNvSpPr/>
          <p:nvPr/>
        </p:nvSpPr>
        <p:spPr>
          <a:xfrm>
            <a:off x="7416998" y="4461510"/>
            <a:ext cx="6500693" cy="2328624"/>
          </a:xfrm>
          <a:prstGeom prst="roundRect">
            <a:avLst>
              <a:gd name="adj" fmla="val 3673"/>
            </a:avLst>
          </a:prstGeom>
          <a:solidFill>
            <a:srgbClr val="283157"/>
          </a:solidFill>
          <a:ln w="7620">
            <a:solidFill>
              <a:srgbClr val="414A70"/>
            </a:solidFill>
            <a:prstDash val="solid"/>
          </a:ln>
        </p:spPr>
      </p:sp>
      <p:sp>
        <p:nvSpPr>
          <p:cNvPr id="24" name="Shape 18"/>
          <p:cNvSpPr/>
          <p:nvPr/>
        </p:nvSpPr>
        <p:spPr>
          <a:xfrm>
            <a:off x="7628215" y="4672727"/>
            <a:ext cx="610791" cy="610791"/>
          </a:xfrm>
          <a:prstGeom prst="roundRect">
            <a:avLst>
              <a:gd name="adj" fmla="val 14969254"/>
            </a:avLst>
          </a:prstGeom>
          <a:solidFill>
            <a:srgbClr val="8C98CA"/>
          </a:solidFill>
          <a:ln/>
        </p:spPr>
      </p:sp>
      <p:pic>
        <p:nvPicPr>
          <p:cNvPr id="2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96212" y="4840724"/>
            <a:ext cx="274796" cy="274796"/>
          </a:xfrm>
          <a:prstGeom prst="rect">
            <a:avLst/>
          </a:prstGeom>
        </p:spPr>
      </p:pic>
      <p:sp>
        <p:nvSpPr>
          <p:cNvPr id="26" name="Text 19"/>
          <p:cNvSpPr/>
          <p:nvPr/>
        </p:nvSpPr>
        <p:spPr>
          <a:xfrm>
            <a:off x="7628215" y="5487114"/>
            <a:ext cx="2545437" cy="318135"/>
          </a:xfrm>
          <a:prstGeom prst="rect">
            <a:avLst/>
          </a:prstGeom>
          <a:noFill/>
          <a:ln/>
        </p:spPr>
        <p:txBody>
          <a:bodyPr wrap="none" lIns="0" tIns="0" rIns="0" bIns="0" rtlCol="0" anchor="t"/>
          <a:lstStyle/>
          <a:p>
            <a:pPr marL="0" indent="0" algn="l">
              <a:lnSpc>
                <a:spcPts val="2500"/>
              </a:lnSpc>
              <a:buNone/>
            </a:pPr>
            <a:r>
              <a:rPr lang="en-US" sz="2000" dirty="0">
                <a:solidFill>
                  <a:srgbClr val="EBECEF"/>
                </a:solidFill>
                <a:latin typeface="Fraunces Medium" pitchFamily="34" charset="0"/>
                <a:ea typeface="Fraunces Medium" pitchFamily="34" charset="-122"/>
                <a:cs typeface="Fraunces Medium" pitchFamily="34" charset="-120"/>
              </a:rPr>
              <a:t>Class Balancing</a:t>
            </a:r>
            <a:endParaRPr lang="en-US" sz="2000" dirty="0"/>
          </a:p>
        </p:txBody>
      </p:sp>
      <p:sp>
        <p:nvSpPr>
          <p:cNvPr id="27" name="Text 20"/>
          <p:cNvSpPr/>
          <p:nvPr/>
        </p:nvSpPr>
        <p:spPr>
          <a:xfrm>
            <a:off x="7628215" y="5927408"/>
            <a:ext cx="6078260" cy="651510"/>
          </a:xfrm>
          <a:prstGeom prst="rect">
            <a:avLst/>
          </a:prstGeom>
          <a:noFill/>
          <a:ln/>
        </p:spPr>
        <p:txBody>
          <a:bodyPr wrap="square" lIns="0" tIns="0" rIns="0" bIns="0" rtlCol="0" anchor="t"/>
          <a:lstStyle/>
          <a:p>
            <a:pPr marL="0" indent="0" algn="l">
              <a:lnSpc>
                <a:spcPts val="2550"/>
              </a:lnSpc>
              <a:buNone/>
            </a:pPr>
            <a:r>
              <a:rPr lang="en-US" sz="1600" dirty="0">
                <a:solidFill>
                  <a:srgbClr val="EBECEF"/>
                </a:solidFill>
                <a:latin typeface="Epilogue" pitchFamily="34" charset="0"/>
                <a:ea typeface="Epilogue" pitchFamily="34" charset="-122"/>
                <a:cs typeface="Epilogue" pitchFamily="34" charset="-120"/>
              </a:rPr>
              <a:t>Implemented SMOTE to address class imbalance and improve model performance</a:t>
            </a:r>
            <a:endParaRPr lang="en-US" sz="1600" dirty="0"/>
          </a:p>
        </p:txBody>
      </p:sp>
      <p:sp>
        <p:nvSpPr>
          <p:cNvPr id="28" name="Text 21"/>
          <p:cNvSpPr/>
          <p:nvPr/>
        </p:nvSpPr>
        <p:spPr>
          <a:xfrm>
            <a:off x="712708" y="7019211"/>
            <a:ext cx="13204984" cy="651510"/>
          </a:xfrm>
          <a:prstGeom prst="rect">
            <a:avLst/>
          </a:prstGeom>
          <a:noFill/>
          <a:ln/>
        </p:spPr>
        <p:txBody>
          <a:bodyPr wrap="square" lIns="0" tIns="0" rIns="0" bIns="0" rtlCol="0" anchor="t"/>
          <a:lstStyle/>
          <a:p>
            <a:pPr marL="0" indent="0" algn="l">
              <a:lnSpc>
                <a:spcPts val="2550"/>
              </a:lnSpc>
              <a:buNone/>
            </a:pPr>
            <a:r>
              <a:rPr lang="en-US" sz="1600" dirty="0">
                <a:solidFill>
                  <a:srgbClr val="EBECEF"/>
                </a:solidFill>
                <a:latin typeface="Epilogue" pitchFamily="34" charset="0"/>
                <a:ea typeface="Epilogue" pitchFamily="34" charset="-122"/>
                <a:cs typeface="Epilogue" pitchFamily="34" charset="-120"/>
              </a:rPr>
              <a:t>Our comprehensive preprocessing pipeline transformed raw shipment data into clean, balanced, and normalised inputs optimised for machine learning model training and evaluation.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8757" y="415528"/>
            <a:ext cx="3587591" cy="377666"/>
          </a:xfrm>
          <a:prstGeom prst="rect">
            <a:avLst/>
          </a:prstGeom>
          <a:noFill/>
          <a:ln/>
        </p:spPr>
        <p:txBody>
          <a:bodyPr wrap="none" lIns="0" tIns="0" rIns="0" bIns="0" rtlCol="0" anchor="t"/>
          <a:lstStyle/>
          <a:p>
            <a:pPr marL="0" indent="0" algn="l">
              <a:lnSpc>
                <a:spcPts val="2950"/>
              </a:lnSpc>
              <a:buNone/>
            </a:pPr>
            <a:r>
              <a:rPr lang="en-US" sz="2350" dirty="0">
                <a:solidFill>
                  <a:srgbClr val="FFFFFF"/>
                </a:solidFill>
                <a:latin typeface="Fraunces Medium" pitchFamily="34" charset="0"/>
                <a:ea typeface="Fraunces Medium" pitchFamily="34" charset="-122"/>
                <a:cs typeface="Fraunces Medium" pitchFamily="34" charset="-120"/>
              </a:rPr>
              <a:t>Visualisation Techniques</a:t>
            </a:r>
            <a:endParaRPr lang="en-US" sz="2350" dirty="0"/>
          </a:p>
        </p:txBody>
      </p:sp>
      <p:sp>
        <p:nvSpPr>
          <p:cNvPr id="3" name="Text 1"/>
          <p:cNvSpPr/>
          <p:nvPr/>
        </p:nvSpPr>
        <p:spPr>
          <a:xfrm>
            <a:off x="528757" y="1095375"/>
            <a:ext cx="13572887" cy="241697"/>
          </a:xfrm>
          <a:prstGeom prst="rect">
            <a:avLst/>
          </a:prstGeom>
          <a:noFill/>
          <a:ln/>
        </p:spPr>
        <p:txBody>
          <a:bodyPr wrap="none" lIns="0" tIns="0" rIns="0" bIns="0" rtlCol="0" anchor="t"/>
          <a:lstStyle/>
          <a:p>
            <a:pPr marL="0" indent="0" algn="l">
              <a:lnSpc>
                <a:spcPts val="1900"/>
              </a:lnSpc>
              <a:buNone/>
            </a:pPr>
            <a:r>
              <a:rPr lang="en-US" sz="1150" dirty="0">
                <a:solidFill>
                  <a:srgbClr val="EBECEF"/>
                </a:solidFill>
                <a:latin typeface="Epilogue" pitchFamily="34" charset="0"/>
                <a:ea typeface="Epilogue" pitchFamily="34" charset="-122"/>
                <a:cs typeface="Epilogue" pitchFamily="34" charset="-120"/>
              </a:rPr>
              <a:t>Bar plots, heatmaps, pairplot(scatter plots &amp; histograms) revealed critical insights into delivery performance drivers.</a:t>
            </a:r>
            <a:endParaRPr lang="en-US" sz="1150" dirty="0"/>
          </a:p>
        </p:txBody>
      </p:sp>
      <p:sp>
        <p:nvSpPr>
          <p:cNvPr id="4" name="Text 2"/>
          <p:cNvSpPr/>
          <p:nvPr/>
        </p:nvSpPr>
        <p:spPr>
          <a:xfrm>
            <a:off x="528757" y="1642943"/>
            <a:ext cx="3116699" cy="241697"/>
          </a:xfrm>
          <a:prstGeom prst="rect">
            <a:avLst/>
          </a:prstGeom>
          <a:noFill/>
          <a:ln/>
        </p:spPr>
        <p:txBody>
          <a:bodyPr wrap="none" lIns="0" tIns="0" rIns="0" bIns="0" rtlCol="0" anchor="t"/>
          <a:lstStyle/>
          <a:p>
            <a:pPr marL="0" indent="0" algn="l">
              <a:lnSpc>
                <a:spcPts val="1900"/>
              </a:lnSpc>
              <a:buNone/>
            </a:pPr>
            <a:endParaRPr lang="en-US" sz="1150" dirty="0"/>
          </a:p>
        </p:txBody>
      </p:sp>
      <p:pic>
        <p:nvPicPr>
          <p:cNvPr id="5" name="Image 0" descr="preencoded.png"/>
          <p:cNvPicPr>
            <a:picLocks noChangeAspect="1"/>
          </p:cNvPicPr>
          <p:nvPr/>
        </p:nvPicPr>
        <p:blipFill>
          <a:blip r:embed="rId3"/>
          <a:stretch>
            <a:fillRect/>
          </a:stretch>
        </p:blipFill>
        <p:spPr>
          <a:xfrm>
            <a:off x="528757" y="2054543"/>
            <a:ext cx="2948548" cy="2649141"/>
          </a:xfrm>
          <a:prstGeom prst="rect">
            <a:avLst/>
          </a:prstGeom>
        </p:spPr>
      </p:pic>
      <p:sp>
        <p:nvSpPr>
          <p:cNvPr id="6" name="Text 3"/>
          <p:cNvSpPr/>
          <p:nvPr/>
        </p:nvSpPr>
        <p:spPr>
          <a:xfrm>
            <a:off x="4021693" y="1642943"/>
            <a:ext cx="3116699" cy="241697"/>
          </a:xfrm>
          <a:prstGeom prst="rect">
            <a:avLst/>
          </a:prstGeom>
          <a:noFill/>
          <a:ln/>
        </p:spPr>
        <p:txBody>
          <a:bodyPr wrap="none" lIns="0" tIns="0" rIns="0" bIns="0" rtlCol="0" anchor="t"/>
          <a:lstStyle/>
          <a:p>
            <a:pPr marL="0" indent="0" algn="l">
              <a:lnSpc>
                <a:spcPts val="1900"/>
              </a:lnSpc>
              <a:buNone/>
            </a:pPr>
            <a:endParaRPr lang="en-US" sz="1150" dirty="0"/>
          </a:p>
        </p:txBody>
      </p:sp>
      <p:pic>
        <p:nvPicPr>
          <p:cNvPr id="7" name="Image 1" descr="preencoded.png"/>
          <p:cNvPicPr>
            <a:picLocks noChangeAspect="1"/>
          </p:cNvPicPr>
          <p:nvPr/>
        </p:nvPicPr>
        <p:blipFill>
          <a:blip r:embed="rId4"/>
          <a:stretch>
            <a:fillRect/>
          </a:stretch>
        </p:blipFill>
        <p:spPr>
          <a:xfrm>
            <a:off x="4021693" y="2054542"/>
            <a:ext cx="3012948" cy="2649141"/>
          </a:xfrm>
          <a:prstGeom prst="rect">
            <a:avLst/>
          </a:prstGeom>
        </p:spPr>
      </p:pic>
      <p:sp>
        <p:nvSpPr>
          <p:cNvPr id="8" name="Text 4"/>
          <p:cNvSpPr/>
          <p:nvPr/>
        </p:nvSpPr>
        <p:spPr>
          <a:xfrm>
            <a:off x="7514630" y="1642943"/>
            <a:ext cx="3116699" cy="241697"/>
          </a:xfrm>
          <a:prstGeom prst="rect">
            <a:avLst/>
          </a:prstGeom>
          <a:noFill/>
          <a:ln/>
        </p:spPr>
        <p:txBody>
          <a:bodyPr wrap="none" lIns="0" tIns="0" rIns="0" bIns="0" rtlCol="0" anchor="t"/>
          <a:lstStyle/>
          <a:p>
            <a:pPr marL="0" indent="0" algn="l">
              <a:lnSpc>
                <a:spcPts val="1900"/>
              </a:lnSpc>
              <a:buNone/>
            </a:pPr>
            <a:endParaRPr lang="en-US" sz="1150" dirty="0"/>
          </a:p>
        </p:txBody>
      </p:sp>
      <p:pic>
        <p:nvPicPr>
          <p:cNvPr id="9" name="Image 2" descr="preencoded.png"/>
          <p:cNvPicPr>
            <a:picLocks noChangeAspect="1"/>
          </p:cNvPicPr>
          <p:nvPr/>
        </p:nvPicPr>
        <p:blipFill>
          <a:blip r:embed="rId5"/>
          <a:stretch>
            <a:fillRect/>
          </a:stretch>
        </p:blipFill>
        <p:spPr>
          <a:xfrm>
            <a:off x="7514630" y="2054543"/>
            <a:ext cx="3116699" cy="2649141"/>
          </a:xfrm>
          <a:prstGeom prst="rect">
            <a:avLst/>
          </a:prstGeom>
        </p:spPr>
      </p:pic>
      <p:sp>
        <p:nvSpPr>
          <p:cNvPr id="10" name="Text 5"/>
          <p:cNvSpPr/>
          <p:nvPr/>
        </p:nvSpPr>
        <p:spPr>
          <a:xfrm>
            <a:off x="11007566" y="1642943"/>
            <a:ext cx="3116699" cy="241697"/>
          </a:xfrm>
          <a:prstGeom prst="rect">
            <a:avLst/>
          </a:prstGeom>
          <a:noFill/>
          <a:ln/>
        </p:spPr>
        <p:txBody>
          <a:bodyPr wrap="none" lIns="0" tIns="0" rIns="0" bIns="0" rtlCol="0" anchor="t"/>
          <a:lstStyle/>
          <a:p>
            <a:pPr marL="0" indent="0" algn="l">
              <a:lnSpc>
                <a:spcPts val="1900"/>
              </a:lnSpc>
              <a:buNone/>
            </a:pPr>
            <a:endParaRPr lang="en-US" sz="1150" dirty="0"/>
          </a:p>
        </p:txBody>
      </p:sp>
      <p:pic>
        <p:nvPicPr>
          <p:cNvPr id="11" name="Image 3" descr="preencoded.png"/>
          <p:cNvPicPr>
            <a:picLocks noChangeAspect="1"/>
          </p:cNvPicPr>
          <p:nvPr/>
        </p:nvPicPr>
        <p:blipFill>
          <a:blip r:embed="rId6"/>
          <a:stretch>
            <a:fillRect/>
          </a:stretch>
        </p:blipFill>
        <p:spPr>
          <a:xfrm>
            <a:off x="11007565" y="2054543"/>
            <a:ext cx="3490217" cy="2581631"/>
          </a:xfrm>
          <a:prstGeom prst="rect">
            <a:avLst/>
          </a:prstGeom>
        </p:spPr>
      </p:pic>
      <p:sp>
        <p:nvSpPr>
          <p:cNvPr id="12" name="Text 6"/>
          <p:cNvSpPr/>
          <p:nvPr/>
        </p:nvSpPr>
        <p:spPr>
          <a:xfrm>
            <a:off x="528757" y="5043488"/>
            <a:ext cx="13572887" cy="241697"/>
          </a:xfrm>
          <a:prstGeom prst="rect">
            <a:avLst/>
          </a:prstGeom>
          <a:noFill/>
          <a:ln/>
        </p:spPr>
        <p:txBody>
          <a:bodyPr wrap="none" lIns="0" tIns="0" rIns="0" bIns="0" rtlCol="0" anchor="t"/>
          <a:lstStyle/>
          <a:p>
            <a:pPr marL="0" indent="0" algn="l">
              <a:lnSpc>
                <a:spcPts val="1900"/>
              </a:lnSpc>
              <a:buNone/>
            </a:pPr>
            <a:endParaRPr lang="en-US" sz="1150" dirty="0"/>
          </a:p>
        </p:txBody>
      </p:sp>
      <p:pic>
        <p:nvPicPr>
          <p:cNvPr id="13" name="Image 4" descr="preencoded.png"/>
          <p:cNvPicPr>
            <a:picLocks noChangeAspect="1"/>
          </p:cNvPicPr>
          <p:nvPr/>
        </p:nvPicPr>
        <p:blipFill>
          <a:blip r:embed="rId7"/>
          <a:stretch>
            <a:fillRect/>
          </a:stretch>
        </p:blipFill>
        <p:spPr>
          <a:xfrm>
            <a:off x="528757" y="5624989"/>
            <a:ext cx="3116699" cy="2423993"/>
          </a:xfrm>
          <a:prstGeom prst="rect">
            <a:avLst/>
          </a:prstGeom>
        </p:spPr>
      </p:pic>
      <p:pic>
        <p:nvPicPr>
          <p:cNvPr id="14" name="Image 5" descr="preencoded.png"/>
          <p:cNvPicPr>
            <a:picLocks noChangeAspect="1"/>
          </p:cNvPicPr>
          <p:nvPr/>
        </p:nvPicPr>
        <p:blipFill>
          <a:blip r:embed="rId8"/>
          <a:stretch>
            <a:fillRect/>
          </a:stretch>
        </p:blipFill>
        <p:spPr>
          <a:xfrm>
            <a:off x="4021693" y="5624989"/>
            <a:ext cx="3116699" cy="2483525"/>
          </a:xfrm>
          <a:prstGeom prst="rect">
            <a:avLst/>
          </a:prstGeom>
        </p:spPr>
      </p:pic>
      <p:pic>
        <p:nvPicPr>
          <p:cNvPr id="15" name="Image 6" descr="preencoded.png"/>
          <p:cNvPicPr>
            <a:picLocks noChangeAspect="1"/>
          </p:cNvPicPr>
          <p:nvPr/>
        </p:nvPicPr>
        <p:blipFill>
          <a:blip r:embed="rId9"/>
          <a:stretch>
            <a:fillRect/>
          </a:stretch>
        </p:blipFill>
        <p:spPr>
          <a:xfrm>
            <a:off x="7514630" y="5624989"/>
            <a:ext cx="3116699" cy="2444948"/>
          </a:xfrm>
          <a:prstGeom prst="rect">
            <a:avLst/>
          </a:prstGeom>
        </p:spPr>
      </p:pic>
      <p:pic>
        <p:nvPicPr>
          <p:cNvPr id="16" name="Image 7" descr="preencoded.png"/>
          <p:cNvPicPr>
            <a:picLocks noChangeAspect="1"/>
          </p:cNvPicPr>
          <p:nvPr/>
        </p:nvPicPr>
        <p:blipFill>
          <a:blip r:embed="rId10"/>
          <a:stretch>
            <a:fillRect/>
          </a:stretch>
        </p:blipFill>
        <p:spPr>
          <a:xfrm>
            <a:off x="11007566" y="5624989"/>
            <a:ext cx="3116699" cy="2483525"/>
          </a:xfrm>
          <a:prstGeom prst="rect">
            <a:avLst/>
          </a:prstGeom>
        </p:spPr>
      </p:pic>
      <p:sp>
        <p:nvSpPr>
          <p:cNvPr id="17" name="Text 7"/>
          <p:cNvSpPr/>
          <p:nvPr/>
        </p:nvSpPr>
        <p:spPr>
          <a:xfrm>
            <a:off x="528757" y="8584287"/>
            <a:ext cx="4092654" cy="241697"/>
          </a:xfrm>
          <a:prstGeom prst="rect">
            <a:avLst/>
          </a:prstGeom>
          <a:noFill/>
          <a:ln/>
        </p:spPr>
        <p:txBody>
          <a:bodyPr wrap="none" lIns="0" tIns="0" rIns="0" bIns="0" rtlCol="0" anchor="t"/>
          <a:lstStyle/>
          <a:p>
            <a:pPr marL="0" indent="0" algn="l">
              <a:lnSpc>
                <a:spcPts val="1900"/>
              </a:lnSpc>
              <a:buNone/>
            </a:pPr>
            <a:endParaRPr lang="en-US" sz="1150" dirty="0"/>
          </a:p>
        </p:txBody>
      </p:sp>
      <p:sp>
        <p:nvSpPr>
          <p:cNvPr id="18" name="Text 8"/>
          <p:cNvSpPr/>
          <p:nvPr/>
        </p:nvSpPr>
        <p:spPr>
          <a:xfrm>
            <a:off x="4997648" y="8584287"/>
            <a:ext cx="9111496" cy="241697"/>
          </a:xfrm>
          <a:prstGeom prst="rect">
            <a:avLst/>
          </a:prstGeom>
          <a:noFill/>
          <a:ln/>
        </p:spPr>
        <p:txBody>
          <a:bodyPr wrap="none" lIns="0" tIns="0" rIns="0" bIns="0" rtlCol="0" anchor="t"/>
          <a:lstStyle/>
          <a:p>
            <a:pPr marL="0" indent="0" algn="l">
              <a:lnSpc>
                <a:spcPts val="1900"/>
              </a:lnSpc>
              <a:buNone/>
            </a:pP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08779" y="556855"/>
            <a:ext cx="10259378" cy="632817"/>
          </a:xfrm>
          <a:prstGeom prst="rect">
            <a:avLst/>
          </a:prstGeom>
          <a:noFill/>
          <a:ln/>
        </p:spPr>
        <p:txBody>
          <a:bodyPr wrap="none" lIns="0" tIns="0" rIns="0" bIns="0" rtlCol="0" anchor="t"/>
          <a:lstStyle/>
          <a:p>
            <a:pPr marL="0" indent="0" algn="l">
              <a:lnSpc>
                <a:spcPts val="4950"/>
              </a:lnSpc>
              <a:buNone/>
            </a:pPr>
            <a:r>
              <a:rPr lang="en-US" sz="3950" dirty="0">
                <a:solidFill>
                  <a:srgbClr val="FFFFFF"/>
                </a:solidFill>
                <a:latin typeface="Fraunces Medium" pitchFamily="34" charset="0"/>
                <a:ea typeface="Fraunces Medium" pitchFamily="34" charset="-122"/>
                <a:cs typeface="Fraunces Medium" pitchFamily="34" charset="-120"/>
              </a:rPr>
              <a:t>Feature Engineering: Cost-to-Weight Ratio</a:t>
            </a:r>
            <a:endParaRPr lang="en-US" sz="3950" dirty="0"/>
          </a:p>
        </p:txBody>
      </p:sp>
      <p:sp>
        <p:nvSpPr>
          <p:cNvPr id="3" name="Text 1"/>
          <p:cNvSpPr/>
          <p:nvPr/>
        </p:nvSpPr>
        <p:spPr>
          <a:xfrm>
            <a:off x="708779" y="1695807"/>
            <a:ext cx="3456384" cy="379571"/>
          </a:xfrm>
          <a:prstGeom prst="rect">
            <a:avLst/>
          </a:prstGeom>
          <a:noFill/>
          <a:ln/>
        </p:spPr>
        <p:txBody>
          <a:bodyPr wrap="none" lIns="0" tIns="0" rIns="0" bIns="0" rtlCol="0" anchor="t"/>
          <a:lstStyle/>
          <a:p>
            <a:pPr marL="0" indent="0" algn="l">
              <a:lnSpc>
                <a:spcPts val="2950"/>
              </a:lnSpc>
              <a:buNone/>
            </a:pPr>
            <a:r>
              <a:rPr lang="en-US" sz="2350" dirty="0">
                <a:solidFill>
                  <a:srgbClr val="FFFFFF"/>
                </a:solidFill>
                <a:latin typeface="Fraunces Medium" pitchFamily="34" charset="0"/>
                <a:ea typeface="Fraunces Medium" pitchFamily="34" charset="-122"/>
                <a:cs typeface="Fraunces Medium" pitchFamily="34" charset="-120"/>
              </a:rPr>
              <a:t>The Engineered Feature</a:t>
            </a:r>
            <a:endParaRPr lang="en-US" sz="2350" dirty="0"/>
          </a:p>
        </p:txBody>
      </p:sp>
      <p:sp>
        <p:nvSpPr>
          <p:cNvPr id="4" name="Text 2"/>
          <p:cNvSpPr/>
          <p:nvPr/>
        </p:nvSpPr>
        <p:spPr>
          <a:xfrm>
            <a:off x="708779" y="2277785"/>
            <a:ext cx="4988600" cy="323969"/>
          </a:xfrm>
          <a:prstGeom prst="rect">
            <a:avLst/>
          </a:prstGeom>
          <a:noFill/>
          <a:ln/>
        </p:spPr>
        <p:txBody>
          <a:bodyPr wrap="none" lIns="0" tIns="0" rIns="0" bIns="0" rtlCol="0" anchor="t"/>
          <a:lstStyle/>
          <a:p>
            <a:pPr marL="0" indent="0" algn="l">
              <a:lnSpc>
                <a:spcPts val="2550"/>
              </a:lnSpc>
              <a:buNone/>
            </a:pPr>
            <a:r>
              <a:rPr lang="en-US" sz="1550" b="1" dirty="0">
                <a:solidFill>
                  <a:srgbClr val="EBECEF"/>
                </a:solidFill>
                <a:latin typeface="Epilogue" pitchFamily="34" charset="0"/>
                <a:ea typeface="Epilogue" pitchFamily="34" charset="-122"/>
                <a:cs typeface="Epilogue" pitchFamily="34" charset="-120"/>
              </a:rPr>
              <a:t>Formula:</a:t>
            </a:r>
            <a:r>
              <a:rPr lang="en-US" sz="1550" dirty="0">
                <a:solidFill>
                  <a:srgbClr val="EBECEF"/>
                </a:solidFill>
                <a:latin typeface="Epilogue" pitchFamily="34" charset="0"/>
                <a:ea typeface="Epilogue" pitchFamily="34" charset="-122"/>
                <a:cs typeface="Epilogue" pitchFamily="34" charset="-120"/>
              </a:rPr>
              <a:t> Cost_to_Weight = Cost ÷ Weight</a:t>
            </a:r>
            <a:endParaRPr lang="en-US" sz="1550" dirty="0"/>
          </a:p>
        </p:txBody>
      </p:sp>
      <p:sp>
        <p:nvSpPr>
          <p:cNvPr id="5" name="Text 3"/>
          <p:cNvSpPr/>
          <p:nvPr/>
        </p:nvSpPr>
        <p:spPr>
          <a:xfrm>
            <a:off x="708779" y="2783919"/>
            <a:ext cx="4988600" cy="1295876"/>
          </a:xfrm>
          <a:prstGeom prst="rect">
            <a:avLst/>
          </a:prstGeom>
          <a:noFill/>
          <a:ln/>
        </p:spPr>
        <p:txBody>
          <a:bodyPr wrap="square" lIns="0" tIns="0" rIns="0" bIns="0" rtlCol="0" anchor="t"/>
          <a:lstStyle/>
          <a:p>
            <a:pPr marL="0" indent="0" algn="l">
              <a:lnSpc>
                <a:spcPts val="2550"/>
              </a:lnSpc>
              <a:buNone/>
            </a:pPr>
            <a:r>
              <a:rPr lang="en-US" sz="1550" dirty="0">
                <a:solidFill>
                  <a:srgbClr val="EBECEF"/>
                </a:solidFill>
                <a:latin typeface="Epilogue" pitchFamily="34" charset="0"/>
                <a:ea typeface="Epilogue" pitchFamily="34" charset="-122"/>
                <a:cs typeface="Epilogue" pitchFamily="34" charset="-120"/>
              </a:rPr>
              <a:t>This derived metric captures the economic density of shipments, revealing critical relationships between product value, weight, and chosen logistics methods.</a:t>
            </a:r>
            <a:endParaRPr lang="en-US" sz="1550" dirty="0"/>
          </a:p>
        </p:txBody>
      </p:sp>
      <p:sp>
        <p:nvSpPr>
          <p:cNvPr id="6" name="Text 4"/>
          <p:cNvSpPr/>
          <p:nvPr/>
        </p:nvSpPr>
        <p:spPr>
          <a:xfrm>
            <a:off x="6199108" y="1695807"/>
            <a:ext cx="3037761" cy="379571"/>
          </a:xfrm>
          <a:prstGeom prst="rect">
            <a:avLst/>
          </a:prstGeom>
          <a:noFill/>
          <a:ln/>
        </p:spPr>
        <p:txBody>
          <a:bodyPr wrap="none" lIns="0" tIns="0" rIns="0" bIns="0" rtlCol="0" anchor="t"/>
          <a:lstStyle/>
          <a:p>
            <a:pPr marL="0" indent="0" algn="l">
              <a:lnSpc>
                <a:spcPts val="2950"/>
              </a:lnSpc>
              <a:buNone/>
            </a:pPr>
            <a:endParaRPr lang="en-US" sz="2350" dirty="0"/>
          </a:p>
        </p:txBody>
      </p:sp>
      <p:pic>
        <p:nvPicPr>
          <p:cNvPr id="7" name="Image 0" descr="preencoded.png"/>
          <p:cNvPicPr>
            <a:picLocks noChangeAspect="1"/>
          </p:cNvPicPr>
          <p:nvPr/>
        </p:nvPicPr>
        <p:blipFill>
          <a:blip r:embed="rId3"/>
          <a:stretch>
            <a:fillRect/>
          </a:stretch>
        </p:blipFill>
        <p:spPr>
          <a:xfrm>
            <a:off x="6199108" y="2303145"/>
            <a:ext cx="5895499" cy="3944183"/>
          </a:xfrm>
          <a:prstGeom prst="rect">
            <a:avLst/>
          </a:prstGeom>
        </p:spPr>
      </p:pic>
      <p:sp>
        <p:nvSpPr>
          <p:cNvPr id="8" name="Text 5"/>
          <p:cNvSpPr/>
          <p:nvPr/>
        </p:nvSpPr>
        <p:spPr>
          <a:xfrm>
            <a:off x="708779" y="6702862"/>
            <a:ext cx="13212842" cy="971907"/>
          </a:xfrm>
          <a:prstGeom prst="rect">
            <a:avLst/>
          </a:prstGeom>
          <a:noFill/>
          <a:ln/>
        </p:spPr>
        <p:txBody>
          <a:bodyPr wrap="square" lIns="0" tIns="0" rIns="0" bIns="0" rtlCol="0" anchor="t"/>
          <a:lstStyle/>
          <a:p>
            <a:pPr marL="0" indent="0" algn="l">
              <a:lnSpc>
                <a:spcPts val="2550"/>
              </a:lnSpc>
              <a:buNone/>
            </a:pPr>
            <a:r>
              <a:rPr lang="en-US" sz="1550" b="1" dirty="0">
                <a:solidFill>
                  <a:srgbClr val="EBECEF"/>
                </a:solidFill>
                <a:latin typeface="Epilogue" pitchFamily="34" charset="0"/>
                <a:ea typeface="Epilogue" pitchFamily="34" charset="-122"/>
                <a:cs typeface="Epilogue" pitchFamily="34" charset="-120"/>
              </a:rPr>
              <a:t>Impact on Model Performance:</a:t>
            </a:r>
            <a:r>
              <a:rPr lang="en-US" sz="1550" dirty="0">
                <a:solidFill>
                  <a:srgbClr val="EBECEF"/>
                </a:solidFill>
                <a:latin typeface="Epilogue" pitchFamily="34" charset="0"/>
                <a:ea typeface="Epilogue" pitchFamily="34" charset="-122"/>
                <a:cs typeface="Epilogue" pitchFamily="34" charset="-120"/>
              </a:rPr>
              <a:t> This feature significantly improved the model's ability to distinguish between shipment types by encoding business-meaningful relationships between price, weight, and delivery logistics, ultimately enhancing prediction accuracy.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96835" y="311825"/>
            <a:ext cx="5531406"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Fraunces Medium" pitchFamily="34" charset="0"/>
                <a:ea typeface="Fraunces Medium" pitchFamily="34" charset="-122"/>
                <a:cs typeface="Fraunces Medium" pitchFamily="34" charset="-120"/>
              </a:rPr>
              <a:t>Data Splitting &amp; Class Balancing Strategy</a:t>
            </a:r>
            <a:endParaRPr lang="en-US" sz="2200" dirty="0"/>
          </a:p>
        </p:txBody>
      </p:sp>
      <p:sp>
        <p:nvSpPr>
          <p:cNvPr id="3" name="Text 1"/>
          <p:cNvSpPr/>
          <p:nvPr/>
        </p:nvSpPr>
        <p:spPr>
          <a:xfrm>
            <a:off x="396835" y="949523"/>
            <a:ext cx="1701165" cy="212646"/>
          </a:xfrm>
          <a:prstGeom prst="rect">
            <a:avLst/>
          </a:prstGeom>
          <a:noFill/>
          <a:ln/>
        </p:spPr>
        <p:txBody>
          <a:bodyPr wrap="none" lIns="0" tIns="0" rIns="0" bIns="0" rtlCol="0" anchor="t"/>
          <a:lstStyle/>
          <a:p>
            <a:pPr marL="0" indent="0" algn="l">
              <a:lnSpc>
                <a:spcPts val="1650"/>
              </a:lnSpc>
              <a:buNone/>
            </a:pPr>
            <a:r>
              <a:rPr lang="en-US" sz="1300" dirty="0">
                <a:solidFill>
                  <a:srgbClr val="FFFFFF"/>
                </a:solidFill>
                <a:latin typeface="Fraunces Medium" pitchFamily="34" charset="0"/>
                <a:ea typeface="Fraunces Medium" pitchFamily="34" charset="-122"/>
                <a:cs typeface="Fraunces Medium" pitchFamily="34" charset="-120"/>
              </a:rPr>
              <a:t>Train-Test Split</a:t>
            </a:r>
            <a:endParaRPr lang="en-US" sz="1300" dirty="0"/>
          </a:p>
        </p:txBody>
      </p:sp>
      <p:sp>
        <p:nvSpPr>
          <p:cNvPr id="4" name="Text 2"/>
          <p:cNvSpPr/>
          <p:nvPr/>
        </p:nvSpPr>
        <p:spPr>
          <a:xfrm>
            <a:off x="396835" y="1275517"/>
            <a:ext cx="7485578" cy="362903"/>
          </a:xfrm>
          <a:prstGeom prst="rect">
            <a:avLst/>
          </a:prstGeom>
          <a:noFill/>
          <a:ln/>
        </p:spPr>
        <p:txBody>
          <a:bodyPr wrap="square" lIns="0" tIns="0" rIns="0" bIns="0" rtlCol="0" anchor="t"/>
          <a:lstStyle/>
          <a:p>
            <a:pPr marL="0" indent="0" algn="l">
              <a:lnSpc>
                <a:spcPts val="1400"/>
              </a:lnSpc>
              <a:buNone/>
            </a:pPr>
            <a:r>
              <a:rPr lang="en-US" sz="850" dirty="0">
                <a:solidFill>
                  <a:srgbClr val="EBECEF"/>
                </a:solidFill>
                <a:latin typeface="Epilogue" pitchFamily="34" charset="0"/>
                <a:ea typeface="Epilogue" pitchFamily="34" charset="-122"/>
                <a:cs typeface="Epilogue" pitchFamily="34" charset="-120"/>
              </a:rPr>
              <a:t>We implemented an 80-20 split strategy to ensure robust model training whilst maintaining sufficient data for comprehensive testing and validation.</a:t>
            </a:r>
            <a:endParaRPr lang="en-US" sz="850" dirty="0"/>
          </a:p>
        </p:txBody>
      </p:sp>
      <p:sp>
        <p:nvSpPr>
          <p:cNvPr id="5" name="Text 3"/>
          <p:cNvSpPr/>
          <p:nvPr/>
        </p:nvSpPr>
        <p:spPr>
          <a:xfrm>
            <a:off x="396835" y="1822609"/>
            <a:ext cx="3671888" cy="374213"/>
          </a:xfrm>
          <a:prstGeom prst="rect">
            <a:avLst/>
          </a:prstGeom>
          <a:noFill/>
          <a:ln/>
        </p:spPr>
        <p:txBody>
          <a:bodyPr wrap="none" lIns="0" tIns="0" rIns="0" bIns="0" rtlCol="0" anchor="t"/>
          <a:lstStyle/>
          <a:p>
            <a:pPr marL="0" indent="0" algn="ctr">
              <a:lnSpc>
                <a:spcPts val="2900"/>
              </a:lnSpc>
              <a:buNone/>
            </a:pPr>
            <a:r>
              <a:rPr lang="en-US" sz="2900" dirty="0">
                <a:solidFill>
                  <a:srgbClr val="EBECEF"/>
                </a:solidFill>
                <a:latin typeface="Fraunces Medium" pitchFamily="34" charset="0"/>
                <a:ea typeface="Fraunces Medium" pitchFamily="34" charset="-122"/>
                <a:cs typeface="Fraunces Medium" pitchFamily="34" charset="-120"/>
              </a:rPr>
              <a:t>80%</a:t>
            </a:r>
            <a:endParaRPr lang="en-US" sz="2900" dirty="0"/>
          </a:p>
        </p:txBody>
      </p:sp>
      <p:sp>
        <p:nvSpPr>
          <p:cNvPr id="6" name="Text 4"/>
          <p:cNvSpPr/>
          <p:nvPr/>
        </p:nvSpPr>
        <p:spPr>
          <a:xfrm>
            <a:off x="1524000" y="2338507"/>
            <a:ext cx="1417558" cy="177165"/>
          </a:xfrm>
          <a:prstGeom prst="rect">
            <a:avLst/>
          </a:prstGeom>
          <a:noFill/>
          <a:ln/>
        </p:spPr>
        <p:txBody>
          <a:bodyPr wrap="none" lIns="0" tIns="0" rIns="0" bIns="0" rtlCol="0" anchor="t"/>
          <a:lstStyle/>
          <a:p>
            <a:pPr marL="0" indent="0" algn="ctr">
              <a:lnSpc>
                <a:spcPts val="1350"/>
              </a:lnSpc>
              <a:buNone/>
            </a:pPr>
            <a:r>
              <a:rPr lang="en-US" sz="1100" dirty="0">
                <a:solidFill>
                  <a:srgbClr val="EBECEF"/>
                </a:solidFill>
                <a:latin typeface="Fraunces Medium" pitchFamily="34" charset="0"/>
                <a:ea typeface="Fraunces Medium" pitchFamily="34" charset="-122"/>
                <a:cs typeface="Fraunces Medium" pitchFamily="34" charset="-120"/>
              </a:rPr>
              <a:t>Training Set</a:t>
            </a:r>
            <a:endParaRPr lang="en-US" sz="1100" dirty="0"/>
          </a:p>
        </p:txBody>
      </p:sp>
      <p:sp>
        <p:nvSpPr>
          <p:cNvPr id="7" name="Text 5"/>
          <p:cNvSpPr/>
          <p:nvPr/>
        </p:nvSpPr>
        <p:spPr>
          <a:xfrm>
            <a:off x="396835" y="2629019"/>
            <a:ext cx="3671888" cy="181451"/>
          </a:xfrm>
          <a:prstGeom prst="rect">
            <a:avLst/>
          </a:prstGeom>
          <a:noFill/>
          <a:ln/>
        </p:spPr>
        <p:txBody>
          <a:bodyPr wrap="none" lIns="0" tIns="0" rIns="0" bIns="0" rtlCol="0" anchor="t"/>
          <a:lstStyle/>
          <a:p>
            <a:pPr marL="0" indent="0" algn="ctr">
              <a:lnSpc>
                <a:spcPts val="1400"/>
              </a:lnSpc>
              <a:buNone/>
            </a:pPr>
            <a:r>
              <a:rPr lang="en-US" sz="850" dirty="0">
                <a:solidFill>
                  <a:srgbClr val="EBECEF"/>
                </a:solidFill>
                <a:latin typeface="Epilogue" pitchFamily="34" charset="0"/>
                <a:ea typeface="Epilogue" pitchFamily="34" charset="-122"/>
                <a:cs typeface="Epilogue" pitchFamily="34" charset="-120"/>
              </a:rPr>
              <a:t>Used for model learning and pattern recognition</a:t>
            </a:r>
            <a:endParaRPr lang="en-US" sz="850" dirty="0"/>
          </a:p>
        </p:txBody>
      </p:sp>
      <p:sp>
        <p:nvSpPr>
          <p:cNvPr id="8" name="Text 6"/>
          <p:cNvSpPr/>
          <p:nvPr/>
        </p:nvSpPr>
        <p:spPr>
          <a:xfrm>
            <a:off x="4210407" y="1822609"/>
            <a:ext cx="3672007" cy="374213"/>
          </a:xfrm>
          <a:prstGeom prst="rect">
            <a:avLst/>
          </a:prstGeom>
          <a:noFill/>
          <a:ln/>
        </p:spPr>
        <p:txBody>
          <a:bodyPr wrap="none" lIns="0" tIns="0" rIns="0" bIns="0" rtlCol="0" anchor="t"/>
          <a:lstStyle/>
          <a:p>
            <a:pPr marL="0" indent="0" algn="ctr">
              <a:lnSpc>
                <a:spcPts val="2900"/>
              </a:lnSpc>
              <a:buNone/>
            </a:pPr>
            <a:r>
              <a:rPr lang="en-US" sz="2900" dirty="0">
                <a:solidFill>
                  <a:srgbClr val="EBECEF"/>
                </a:solidFill>
                <a:latin typeface="Fraunces Medium" pitchFamily="34" charset="0"/>
                <a:ea typeface="Fraunces Medium" pitchFamily="34" charset="-122"/>
                <a:cs typeface="Fraunces Medium" pitchFamily="34" charset="-120"/>
              </a:rPr>
              <a:t>20%</a:t>
            </a:r>
            <a:endParaRPr lang="en-US" sz="2900" dirty="0"/>
          </a:p>
        </p:txBody>
      </p:sp>
      <p:sp>
        <p:nvSpPr>
          <p:cNvPr id="9" name="Text 7"/>
          <p:cNvSpPr/>
          <p:nvPr/>
        </p:nvSpPr>
        <p:spPr>
          <a:xfrm>
            <a:off x="5337572" y="2338507"/>
            <a:ext cx="1417558" cy="177165"/>
          </a:xfrm>
          <a:prstGeom prst="rect">
            <a:avLst/>
          </a:prstGeom>
          <a:noFill/>
          <a:ln/>
        </p:spPr>
        <p:txBody>
          <a:bodyPr wrap="none" lIns="0" tIns="0" rIns="0" bIns="0" rtlCol="0" anchor="t"/>
          <a:lstStyle/>
          <a:p>
            <a:pPr marL="0" indent="0" algn="ctr">
              <a:lnSpc>
                <a:spcPts val="1350"/>
              </a:lnSpc>
              <a:buNone/>
            </a:pPr>
            <a:r>
              <a:rPr lang="en-US" sz="1100" dirty="0">
                <a:solidFill>
                  <a:srgbClr val="EBECEF"/>
                </a:solidFill>
                <a:latin typeface="Fraunces Medium" pitchFamily="34" charset="0"/>
                <a:ea typeface="Fraunces Medium" pitchFamily="34" charset="-122"/>
                <a:cs typeface="Fraunces Medium" pitchFamily="34" charset="-120"/>
              </a:rPr>
              <a:t>Testing Set</a:t>
            </a:r>
            <a:endParaRPr lang="en-US" sz="1100" dirty="0"/>
          </a:p>
        </p:txBody>
      </p:sp>
      <p:sp>
        <p:nvSpPr>
          <p:cNvPr id="10" name="Text 8"/>
          <p:cNvSpPr/>
          <p:nvPr/>
        </p:nvSpPr>
        <p:spPr>
          <a:xfrm>
            <a:off x="4210407" y="2629019"/>
            <a:ext cx="3672007" cy="181451"/>
          </a:xfrm>
          <a:prstGeom prst="rect">
            <a:avLst/>
          </a:prstGeom>
          <a:noFill/>
          <a:ln/>
        </p:spPr>
        <p:txBody>
          <a:bodyPr wrap="none" lIns="0" tIns="0" rIns="0" bIns="0" rtlCol="0" anchor="t"/>
          <a:lstStyle/>
          <a:p>
            <a:pPr marL="0" indent="0" algn="ctr">
              <a:lnSpc>
                <a:spcPts val="1400"/>
              </a:lnSpc>
              <a:buNone/>
            </a:pPr>
            <a:r>
              <a:rPr lang="en-US" sz="850" dirty="0">
                <a:solidFill>
                  <a:srgbClr val="EBECEF"/>
                </a:solidFill>
                <a:latin typeface="Epilogue" pitchFamily="34" charset="0"/>
                <a:ea typeface="Epilogue" pitchFamily="34" charset="-122"/>
                <a:cs typeface="Epilogue" pitchFamily="34" charset="-120"/>
              </a:rPr>
              <a:t>Reserved for  performance evaluation</a:t>
            </a:r>
            <a:endParaRPr lang="en-US" sz="850" dirty="0"/>
          </a:p>
        </p:txBody>
      </p:sp>
      <p:sp>
        <p:nvSpPr>
          <p:cNvPr id="11" name="Text 9"/>
          <p:cNvSpPr/>
          <p:nvPr/>
        </p:nvSpPr>
        <p:spPr>
          <a:xfrm>
            <a:off x="8166735" y="938213"/>
            <a:ext cx="6074331" cy="181451"/>
          </a:xfrm>
          <a:prstGeom prst="rect">
            <a:avLst/>
          </a:prstGeom>
          <a:noFill/>
          <a:ln/>
        </p:spPr>
        <p:txBody>
          <a:bodyPr wrap="none" lIns="0" tIns="0" rIns="0" bIns="0" rtlCol="0" anchor="t"/>
          <a:lstStyle/>
          <a:p>
            <a:pPr marL="0" indent="0" algn="l">
              <a:lnSpc>
                <a:spcPts val="1400"/>
              </a:lnSpc>
              <a:buNone/>
            </a:pPr>
            <a:endParaRPr lang="en-US" sz="850" dirty="0"/>
          </a:p>
        </p:txBody>
      </p:sp>
      <p:pic>
        <p:nvPicPr>
          <p:cNvPr id="12" name="Image 0" descr="preencoded.png"/>
          <p:cNvPicPr>
            <a:picLocks noChangeAspect="1"/>
          </p:cNvPicPr>
          <p:nvPr/>
        </p:nvPicPr>
        <p:blipFill>
          <a:blip r:embed="rId3"/>
          <a:stretch>
            <a:fillRect/>
          </a:stretch>
        </p:blipFill>
        <p:spPr>
          <a:xfrm>
            <a:off x="8166736" y="687942"/>
            <a:ext cx="4657130" cy="2669604"/>
          </a:xfrm>
          <a:prstGeom prst="rect">
            <a:avLst/>
          </a:prstGeom>
        </p:spPr>
      </p:pic>
      <p:sp>
        <p:nvSpPr>
          <p:cNvPr id="17" name="Shape 14"/>
          <p:cNvSpPr/>
          <p:nvPr/>
        </p:nvSpPr>
        <p:spPr>
          <a:xfrm>
            <a:off x="404337" y="3966908"/>
            <a:ext cx="13836729" cy="21788"/>
          </a:xfrm>
          <a:prstGeom prst="rect">
            <a:avLst/>
          </a:prstGeom>
          <a:solidFill>
            <a:srgbClr val="EBECEF">
              <a:alpha val="50000"/>
            </a:srgbClr>
          </a:solidFill>
          <a:ln/>
        </p:spPr>
      </p:sp>
      <p:sp>
        <p:nvSpPr>
          <p:cNvPr id="18" name="Text 15"/>
          <p:cNvSpPr/>
          <p:nvPr/>
        </p:nvSpPr>
        <p:spPr>
          <a:xfrm>
            <a:off x="396835" y="4240905"/>
            <a:ext cx="2354223" cy="357153"/>
          </a:xfrm>
          <a:prstGeom prst="rect">
            <a:avLst/>
          </a:prstGeom>
          <a:noFill/>
          <a:ln/>
        </p:spPr>
        <p:txBody>
          <a:bodyPr wrap="none" lIns="0" tIns="0" rIns="0" bIns="0" rtlCol="0" anchor="t"/>
          <a:lstStyle/>
          <a:p>
            <a:pPr marL="0" indent="0" algn="l">
              <a:lnSpc>
                <a:spcPts val="1650"/>
              </a:lnSpc>
              <a:buNone/>
            </a:pPr>
            <a:r>
              <a:rPr lang="en-US" sz="1300" dirty="0">
                <a:solidFill>
                  <a:srgbClr val="FFFFFF"/>
                </a:solidFill>
                <a:latin typeface="Fraunces Medium" pitchFamily="34" charset="0"/>
                <a:ea typeface="Fraunces Medium" pitchFamily="34" charset="-122"/>
                <a:cs typeface="Fraunces Medium" pitchFamily="34" charset="-120"/>
              </a:rPr>
              <a:t>SMOTE Balancing Technique</a:t>
            </a:r>
            <a:endParaRPr lang="en-US" sz="1300" dirty="0"/>
          </a:p>
        </p:txBody>
      </p:sp>
      <p:sp>
        <p:nvSpPr>
          <p:cNvPr id="19" name="Text 16"/>
          <p:cNvSpPr/>
          <p:nvPr/>
        </p:nvSpPr>
        <p:spPr>
          <a:xfrm>
            <a:off x="396835" y="4629118"/>
            <a:ext cx="13836729" cy="620793"/>
          </a:xfrm>
          <a:prstGeom prst="rect">
            <a:avLst/>
          </a:prstGeom>
          <a:noFill/>
          <a:ln/>
        </p:spPr>
        <p:txBody>
          <a:bodyPr wrap="square" lIns="0" tIns="0" rIns="0" bIns="0" rtlCol="0" anchor="t"/>
          <a:lstStyle/>
          <a:p>
            <a:pPr marL="0" indent="0" algn="l">
              <a:lnSpc>
                <a:spcPts val="1400"/>
              </a:lnSpc>
              <a:buNone/>
            </a:pPr>
            <a:r>
              <a:rPr lang="en-US" sz="850" dirty="0">
                <a:solidFill>
                  <a:srgbClr val="EBECEF"/>
                </a:solidFill>
                <a:latin typeface="Epilogue" pitchFamily="34" charset="0"/>
                <a:ea typeface="Epilogue" pitchFamily="34" charset="-122"/>
                <a:cs typeface="Epilogue" pitchFamily="34" charset="-120"/>
              </a:rPr>
              <a:t>Synthetic Minority Over-sampling Technique (SMOTE) was applied to address the class imbalance between on-time and delayed deliveries. This sophisticated resampling method generates synthetic examples of the minority class, ensuring the model learns both delivery outcomes equally.</a:t>
            </a:r>
            <a:endParaRPr lang="en-US" sz="850" dirty="0"/>
          </a:p>
        </p:txBody>
      </p:sp>
      <p:pic>
        <p:nvPicPr>
          <p:cNvPr id="20" name="Image 1" descr="preencoded.png"/>
          <p:cNvPicPr>
            <a:picLocks noChangeAspect="1"/>
          </p:cNvPicPr>
          <p:nvPr/>
        </p:nvPicPr>
        <p:blipFill>
          <a:blip r:embed="rId4"/>
          <a:stretch>
            <a:fillRect/>
          </a:stretch>
        </p:blipFill>
        <p:spPr>
          <a:xfrm>
            <a:off x="396835" y="5343407"/>
            <a:ext cx="4398189" cy="2821629"/>
          </a:xfrm>
          <a:prstGeom prst="rect">
            <a:avLst/>
          </a:prstGeom>
        </p:spPr>
      </p:pic>
      <p:sp>
        <p:nvSpPr>
          <p:cNvPr id="21" name="Text 17"/>
          <p:cNvSpPr/>
          <p:nvPr/>
        </p:nvSpPr>
        <p:spPr>
          <a:xfrm>
            <a:off x="8307943" y="6127433"/>
            <a:ext cx="5933123" cy="181451"/>
          </a:xfrm>
          <a:prstGeom prst="rect">
            <a:avLst/>
          </a:prstGeom>
          <a:noFill/>
          <a:ln/>
        </p:spPr>
        <p:txBody>
          <a:bodyPr wrap="none" lIns="0" tIns="0" rIns="0" bIns="0" rtlCol="0" anchor="t"/>
          <a:lstStyle/>
          <a:p>
            <a:pPr marL="0" indent="0" algn="l">
              <a:lnSpc>
                <a:spcPts val="1400"/>
              </a:lnSpc>
              <a:buNone/>
            </a:pPr>
            <a:endParaRPr lang="en-US" sz="850" dirty="0"/>
          </a:p>
        </p:txBody>
      </p:sp>
      <p:pic>
        <p:nvPicPr>
          <p:cNvPr id="22" name="Image 2" descr="preencoded.png"/>
          <p:cNvPicPr>
            <a:picLocks noChangeAspect="1"/>
          </p:cNvPicPr>
          <p:nvPr/>
        </p:nvPicPr>
        <p:blipFill>
          <a:blip r:embed="rId5"/>
          <a:stretch>
            <a:fillRect/>
          </a:stretch>
        </p:blipFill>
        <p:spPr>
          <a:xfrm>
            <a:off x="7181385" y="4824651"/>
            <a:ext cx="5731727" cy="3270170"/>
          </a:xfrm>
          <a:prstGeom prst="rect">
            <a:avLst/>
          </a:prstGeom>
        </p:spPr>
      </p:pic>
      <p:sp>
        <p:nvSpPr>
          <p:cNvPr id="24" name="Text 19"/>
          <p:cNvSpPr/>
          <p:nvPr/>
        </p:nvSpPr>
        <p:spPr>
          <a:xfrm>
            <a:off x="10743009" y="9645372"/>
            <a:ext cx="455295" cy="113467"/>
          </a:xfrm>
          <a:prstGeom prst="rect">
            <a:avLst/>
          </a:prstGeom>
          <a:noFill/>
          <a:ln/>
        </p:spPr>
        <p:txBody>
          <a:bodyPr wrap="none" lIns="0" tIns="0" rIns="0" bIns="0" rtlCol="0" anchor="t"/>
          <a:lstStyle/>
          <a:p>
            <a:pPr marL="0" indent="0" algn="l">
              <a:lnSpc>
                <a:spcPts val="850"/>
              </a:lnSpc>
              <a:buNone/>
            </a:pPr>
            <a:r>
              <a:rPr lang="en-US" sz="850" dirty="0">
                <a:solidFill>
                  <a:srgbClr val="EBECEF"/>
                </a:solidFill>
                <a:latin typeface="Epilogue" pitchFamily="34" charset="0"/>
                <a:ea typeface="Epilogue" pitchFamily="34" charset="-122"/>
                <a:cs typeface="Epilogue" pitchFamily="34" charset="-120"/>
              </a:rPr>
              <a:t>On-Time</a:t>
            </a:r>
            <a:endParaRPr lang="en-US" sz="850" dirty="0"/>
          </a:p>
        </p:txBody>
      </p:sp>
      <p:sp>
        <p:nvSpPr>
          <p:cNvPr id="26" name="Text 21"/>
          <p:cNvSpPr/>
          <p:nvPr/>
        </p:nvSpPr>
        <p:spPr>
          <a:xfrm>
            <a:off x="11525012" y="9645372"/>
            <a:ext cx="438983" cy="113467"/>
          </a:xfrm>
          <a:prstGeom prst="rect">
            <a:avLst/>
          </a:prstGeom>
          <a:noFill/>
          <a:ln/>
        </p:spPr>
        <p:txBody>
          <a:bodyPr wrap="none" lIns="0" tIns="0" rIns="0" bIns="0" rtlCol="0" anchor="t"/>
          <a:lstStyle/>
          <a:p>
            <a:pPr marL="0" indent="0" algn="l">
              <a:lnSpc>
                <a:spcPts val="850"/>
              </a:lnSpc>
              <a:buNone/>
            </a:pPr>
            <a:r>
              <a:rPr lang="en-US" sz="850" dirty="0">
                <a:solidFill>
                  <a:srgbClr val="EBECEF"/>
                </a:solidFill>
                <a:latin typeface="Epilogue" pitchFamily="34" charset="0"/>
                <a:ea typeface="Epilogue" pitchFamily="34" charset="-122"/>
                <a:cs typeface="Epilogue" pitchFamily="34" charset="-120"/>
              </a:rPr>
              <a:t>Delayed</a:t>
            </a:r>
            <a:endParaRPr lang="en-US" sz="850" dirty="0"/>
          </a:p>
        </p:txBody>
      </p:sp>
      <p:sp>
        <p:nvSpPr>
          <p:cNvPr id="27" name="Text 22"/>
          <p:cNvSpPr/>
          <p:nvPr/>
        </p:nvSpPr>
        <p:spPr>
          <a:xfrm>
            <a:off x="396835" y="10013871"/>
            <a:ext cx="13836729" cy="181451"/>
          </a:xfrm>
          <a:prstGeom prst="rect">
            <a:avLst/>
          </a:prstGeom>
          <a:noFill/>
          <a:ln/>
        </p:spPr>
        <p:txBody>
          <a:bodyPr wrap="none" lIns="0" tIns="0" rIns="0" bIns="0" rtlCol="0" anchor="t"/>
          <a:lstStyle/>
          <a:p>
            <a:pPr marL="0" indent="0" algn="l">
              <a:lnSpc>
                <a:spcPts val="1400"/>
              </a:lnSpc>
              <a:buNone/>
            </a:pPr>
            <a:r>
              <a:rPr lang="en-US" sz="850" b="1" dirty="0">
                <a:solidFill>
                  <a:srgbClr val="EBECEF"/>
                </a:solidFill>
                <a:latin typeface="Epilogue" pitchFamily="34" charset="0"/>
                <a:ea typeface="Epilogue" pitchFamily="34" charset="-122"/>
                <a:cs typeface="Epilogue" pitchFamily="34" charset="-120"/>
              </a:rPr>
              <a:t>Result:</a:t>
            </a:r>
            <a:r>
              <a:rPr lang="en-US" sz="850" dirty="0">
                <a:solidFill>
                  <a:srgbClr val="EBECEF"/>
                </a:solidFill>
                <a:latin typeface="Epilogue" pitchFamily="34" charset="0"/>
                <a:ea typeface="Epilogue" pitchFamily="34" charset="-122"/>
                <a:cs typeface="Epilogue" pitchFamily="34" charset="-120"/>
              </a:rPr>
              <a:t> Perfectly balanced classes enable the model to learn patterns from both delivery outcomes without bias towards the majority class.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3169" y="601385"/>
            <a:ext cx="8954333" cy="529590"/>
          </a:xfrm>
          <a:prstGeom prst="rect">
            <a:avLst/>
          </a:prstGeom>
          <a:noFill/>
          <a:ln/>
        </p:spPr>
        <p:txBody>
          <a:bodyPr wrap="none" lIns="0" tIns="0" rIns="0" bIns="0" rtlCol="0" anchor="t"/>
          <a:lstStyle/>
          <a:p>
            <a:pPr marL="0" indent="0" algn="l">
              <a:lnSpc>
                <a:spcPts val="4150"/>
              </a:lnSpc>
              <a:buNone/>
            </a:pPr>
            <a:r>
              <a:rPr lang="en-US" sz="3300" dirty="0">
                <a:solidFill>
                  <a:srgbClr val="FFFFFF"/>
                </a:solidFill>
                <a:latin typeface="Fraunces Medium" pitchFamily="34" charset="0"/>
                <a:ea typeface="Fraunces Medium" pitchFamily="34" charset="-122"/>
                <a:cs typeface="Fraunces Medium" pitchFamily="34" charset="-120"/>
              </a:rPr>
              <a:t>Model Building &amp; Regularisation Techniques</a:t>
            </a:r>
            <a:endParaRPr lang="en-US" sz="3300" dirty="0"/>
          </a:p>
        </p:txBody>
      </p:sp>
      <p:sp>
        <p:nvSpPr>
          <p:cNvPr id="3" name="Text 1"/>
          <p:cNvSpPr/>
          <p:nvPr/>
        </p:nvSpPr>
        <p:spPr>
          <a:xfrm>
            <a:off x="593169" y="1198721"/>
            <a:ext cx="2801303" cy="317659"/>
          </a:xfrm>
          <a:prstGeom prst="rect">
            <a:avLst/>
          </a:prstGeom>
          <a:noFill/>
          <a:ln/>
        </p:spPr>
        <p:txBody>
          <a:bodyPr wrap="none" lIns="0" tIns="0" rIns="0" bIns="0" rtlCol="0" anchor="t"/>
          <a:lstStyle/>
          <a:p>
            <a:pPr marL="0" indent="0" algn="l">
              <a:lnSpc>
                <a:spcPts val="2500"/>
              </a:lnSpc>
              <a:buNone/>
            </a:pPr>
            <a:r>
              <a:rPr lang="en-US" sz="2000" dirty="0">
                <a:solidFill>
                  <a:srgbClr val="FFFFFF"/>
                </a:solidFill>
                <a:latin typeface="Fraunces Medium" pitchFamily="34" charset="0"/>
                <a:ea typeface="Fraunces Medium" pitchFamily="34" charset="-122"/>
                <a:cs typeface="Fraunces Medium" pitchFamily="34" charset="-120"/>
              </a:rPr>
              <a:t>Algorithm Comparison</a:t>
            </a:r>
            <a:endParaRPr lang="en-US" sz="2000" dirty="0"/>
          </a:p>
        </p:txBody>
      </p:sp>
      <p:sp>
        <p:nvSpPr>
          <p:cNvPr id="4" name="Text 2"/>
          <p:cNvSpPr/>
          <p:nvPr/>
        </p:nvSpPr>
        <p:spPr>
          <a:xfrm>
            <a:off x="593169" y="1770578"/>
            <a:ext cx="13444061" cy="271224"/>
          </a:xfrm>
          <a:prstGeom prst="rect">
            <a:avLst/>
          </a:prstGeom>
          <a:noFill/>
          <a:ln/>
        </p:spPr>
        <p:txBody>
          <a:bodyPr wrap="none" lIns="0" tIns="0" rIns="0" bIns="0" rtlCol="0" anchor="t"/>
          <a:lstStyle/>
          <a:p>
            <a:pPr marL="0" indent="0" algn="l">
              <a:lnSpc>
                <a:spcPts val="2100"/>
              </a:lnSpc>
              <a:buNone/>
            </a:pPr>
            <a:r>
              <a:rPr lang="en-US" sz="1300" dirty="0">
                <a:solidFill>
                  <a:srgbClr val="EBECEF"/>
                </a:solidFill>
                <a:latin typeface="Epilogue" pitchFamily="34" charset="0"/>
                <a:ea typeface="Epilogue" pitchFamily="34" charset="-122"/>
                <a:cs typeface="Epilogue" pitchFamily="34" charset="-120"/>
              </a:rPr>
              <a:t>We evaluated eight distinct machine learning algorithms to identify the optimal predictor for delivery outcomes:</a:t>
            </a:r>
            <a:endParaRPr lang="en-US" sz="1300" dirty="0"/>
          </a:p>
        </p:txBody>
      </p:sp>
      <p:sp>
        <p:nvSpPr>
          <p:cNvPr id="5" name="Shape 3"/>
          <p:cNvSpPr/>
          <p:nvPr/>
        </p:nvSpPr>
        <p:spPr>
          <a:xfrm>
            <a:off x="593169" y="2232422"/>
            <a:ext cx="381357" cy="381357"/>
          </a:xfrm>
          <a:prstGeom prst="roundRect">
            <a:avLst>
              <a:gd name="adj" fmla="val 18668"/>
            </a:avLst>
          </a:prstGeom>
          <a:solidFill>
            <a:srgbClr val="283157"/>
          </a:solidFill>
          <a:ln w="7620">
            <a:solidFill>
              <a:srgbClr val="414A70"/>
            </a:solidFill>
            <a:prstDash val="solid"/>
          </a:ln>
        </p:spPr>
      </p:sp>
      <p:sp>
        <p:nvSpPr>
          <p:cNvPr id="6" name="Text 4"/>
          <p:cNvSpPr/>
          <p:nvPr/>
        </p:nvSpPr>
        <p:spPr>
          <a:xfrm>
            <a:off x="656689" y="2264152"/>
            <a:ext cx="254198" cy="317778"/>
          </a:xfrm>
          <a:prstGeom prst="rect">
            <a:avLst/>
          </a:prstGeom>
          <a:noFill/>
          <a:ln/>
        </p:spPr>
        <p:txBody>
          <a:bodyPr wrap="none" lIns="0" tIns="0" rIns="0" bIns="0" rtlCol="0" anchor="t"/>
          <a:lstStyle/>
          <a:p>
            <a:pPr marL="0" indent="0" algn="ctr">
              <a:lnSpc>
                <a:spcPts val="2000"/>
              </a:lnSpc>
              <a:buNone/>
            </a:pPr>
            <a:r>
              <a:rPr lang="en-US" sz="2000" dirty="0">
                <a:solidFill>
                  <a:srgbClr val="EBECEF"/>
                </a:solidFill>
                <a:latin typeface="Fraunces Medium" pitchFamily="34" charset="0"/>
                <a:ea typeface="Fraunces Medium" pitchFamily="34" charset="-122"/>
                <a:cs typeface="Fraunces Medium" pitchFamily="34" charset="-120"/>
              </a:rPr>
              <a:t>1</a:t>
            </a:r>
            <a:endParaRPr lang="en-US" sz="2000" dirty="0"/>
          </a:p>
        </p:txBody>
      </p:sp>
      <p:sp>
        <p:nvSpPr>
          <p:cNvPr id="7" name="Text 5"/>
          <p:cNvSpPr/>
          <p:nvPr/>
        </p:nvSpPr>
        <p:spPr>
          <a:xfrm>
            <a:off x="1143953" y="2290643"/>
            <a:ext cx="2118717"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Logistic Regression</a:t>
            </a:r>
            <a:endParaRPr lang="en-US" sz="1650" dirty="0"/>
          </a:p>
        </p:txBody>
      </p:sp>
      <p:sp>
        <p:nvSpPr>
          <p:cNvPr id="8" name="Shape 6"/>
          <p:cNvSpPr/>
          <p:nvPr/>
        </p:nvSpPr>
        <p:spPr>
          <a:xfrm>
            <a:off x="5145048" y="2232422"/>
            <a:ext cx="381357" cy="381357"/>
          </a:xfrm>
          <a:prstGeom prst="roundRect">
            <a:avLst>
              <a:gd name="adj" fmla="val 18668"/>
            </a:avLst>
          </a:prstGeom>
          <a:solidFill>
            <a:srgbClr val="283157"/>
          </a:solidFill>
          <a:ln w="7620">
            <a:solidFill>
              <a:srgbClr val="414A70"/>
            </a:solidFill>
            <a:prstDash val="solid"/>
          </a:ln>
        </p:spPr>
      </p:sp>
      <p:sp>
        <p:nvSpPr>
          <p:cNvPr id="9" name="Text 7"/>
          <p:cNvSpPr/>
          <p:nvPr/>
        </p:nvSpPr>
        <p:spPr>
          <a:xfrm>
            <a:off x="5208568" y="2264152"/>
            <a:ext cx="254198" cy="317778"/>
          </a:xfrm>
          <a:prstGeom prst="rect">
            <a:avLst/>
          </a:prstGeom>
          <a:noFill/>
          <a:ln/>
        </p:spPr>
        <p:txBody>
          <a:bodyPr wrap="none" lIns="0" tIns="0" rIns="0" bIns="0" rtlCol="0" anchor="t"/>
          <a:lstStyle/>
          <a:p>
            <a:pPr marL="0" indent="0" algn="ctr">
              <a:lnSpc>
                <a:spcPts val="2000"/>
              </a:lnSpc>
              <a:buNone/>
            </a:pPr>
            <a:r>
              <a:rPr lang="en-US" sz="2000" dirty="0">
                <a:solidFill>
                  <a:srgbClr val="EBECEF"/>
                </a:solidFill>
                <a:latin typeface="Fraunces Medium" pitchFamily="34" charset="0"/>
                <a:ea typeface="Fraunces Medium" pitchFamily="34" charset="-122"/>
                <a:cs typeface="Fraunces Medium" pitchFamily="34" charset="-120"/>
              </a:rPr>
              <a:t>2</a:t>
            </a:r>
            <a:endParaRPr lang="en-US" sz="2000" dirty="0"/>
          </a:p>
        </p:txBody>
      </p:sp>
      <p:sp>
        <p:nvSpPr>
          <p:cNvPr id="10" name="Text 8"/>
          <p:cNvSpPr/>
          <p:nvPr/>
        </p:nvSpPr>
        <p:spPr>
          <a:xfrm>
            <a:off x="5695831" y="2290643"/>
            <a:ext cx="2118717"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Decision Tree</a:t>
            </a:r>
            <a:endParaRPr lang="en-US" sz="1650" dirty="0"/>
          </a:p>
        </p:txBody>
      </p:sp>
      <p:sp>
        <p:nvSpPr>
          <p:cNvPr id="11" name="Shape 9"/>
          <p:cNvSpPr/>
          <p:nvPr/>
        </p:nvSpPr>
        <p:spPr>
          <a:xfrm>
            <a:off x="9697045" y="2232422"/>
            <a:ext cx="381357" cy="381357"/>
          </a:xfrm>
          <a:prstGeom prst="roundRect">
            <a:avLst>
              <a:gd name="adj" fmla="val 18668"/>
            </a:avLst>
          </a:prstGeom>
          <a:solidFill>
            <a:srgbClr val="283157"/>
          </a:solidFill>
          <a:ln w="7620">
            <a:solidFill>
              <a:srgbClr val="414A70"/>
            </a:solidFill>
            <a:prstDash val="solid"/>
          </a:ln>
        </p:spPr>
      </p:sp>
      <p:sp>
        <p:nvSpPr>
          <p:cNvPr id="12" name="Text 10"/>
          <p:cNvSpPr/>
          <p:nvPr/>
        </p:nvSpPr>
        <p:spPr>
          <a:xfrm>
            <a:off x="9760565" y="2264152"/>
            <a:ext cx="254198" cy="317778"/>
          </a:xfrm>
          <a:prstGeom prst="rect">
            <a:avLst/>
          </a:prstGeom>
          <a:noFill/>
          <a:ln/>
        </p:spPr>
        <p:txBody>
          <a:bodyPr wrap="none" lIns="0" tIns="0" rIns="0" bIns="0" rtlCol="0" anchor="t"/>
          <a:lstStyle/>
          <a:p>
            <a:pPr marL="0" indent="0" algn="ctr">
              <a:lnSpc>
                <a:spcPts val="2000"/>
              </a:lnSpc>
              <a:buNone/>
            </a:pPr>
            <a:r>
              <a:rPr lang="en-US" sz="2000" dirty="0">
                <a:solidFill>
                  <a:srgbClr val="EBECEF"/>
                </a:solidFill>
                <a:latin typeface="Fraunces Medium" pitchFamily="34" charset="0"/>
                <a:ea typeface="Fraunces Medium" pitchFamily="34" charset="-122"/>
                <a:cs typeface="Fraunces Medium" pitchFamily="34" charset="-120"/>
              </a:rPr>
              <a:t>3</a:t>
            </a:r>
            <a:endParaRPr lang="en-US" sz="2000" dirty="0"/>
          </a:p>
        </p:txBody>
      </p:sp>
      <p:sp>
        <p:nvSpPr>
          <p:cNvPr id="13" name="Text 11"/>
          <p:cNvSpPr/>
          <p:nvPr/>
        </p:nvSpPr>
        <p:spPr>
          <a:xfrm>
            <a:off x="10247828" y="2290643"/>
            <a:ext cx="2118717"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Random Forest</a:t>
            </a:r>
            <a:endParaRPr lang="en-US" sz="1650" dirty="0"/>
          </a:p>
        </p:txBody>
      </p:sp>
      <p:sp>
        <p:nvSpPr>
          <p:cNvPr id="14" name="Shape 12"/>
          <p:cNvSpPr/>
          <p:nvPr/>
        </p:nvSpPr>
        <p:spPr>
          <a:xfrm>
            <a:off x="593169" y="2952750"/>
            <a:ext cx="381357" cy="381357"/>
          </a:xfrm>
          <a:prstGeom prst="roundRect">
            <a:avLst>
              <a:gd name="adj" fmla="val 18668"/>
            </a:avLst>
          </a:prstGeom>
          <a:solidFill>
            <a:srgbClr val="283157"/>
          </a:solidFill>
          <a:ln w="7620">
            <a:solidFill>
              <a:srgbClr val="414A70"/>
            </a:solidFill>
            <a:prstDash val="solid"/>
          </a:ln>
        </p:spPr>
      </p:sp>
      <p:sp>
        <p:nvSpPr>
          <p:cNvPr id="15" name="Text 13"/>
          <p:cNvSpPr/>
          <p:nvPr/>
        </p:nvSpPr>
        <p:spPr>
          <a:xfrm>
            <a:off x="656689" y="2984480"/>
            <a:ext cx="254198" cy="317778"/>
          </a:xfrm>
          <a:prstGeom prst="rect">
            <a:avLst/>
          </a:prstGeom>
          <a:noFill/>
          <a:ln/>
        </p:spPr>
        <p:txBody>
          <a:bodyPr wrap="none" lIns="0" tIns="0" rIns="0" bIns="0" rtlCol="0" anchor="t"/>
          <a:lstStyle/>
          <a:p>
            <a:pPr marL="0" indent="0" algn="ctr">
              <a:lnSpc>
                <a:spcPts val="2000"/>
              </a:lnSpc>
              <a:buNone/>
            </a:pPr>
            <a:r>
              <a:rPr lang="en-US" sz="2000" dirty="0">
                <a:solidFill>
                  <a:srgbClr val="EBECEF"/>
                </a:solidFill>
                <a:latin typeface="Fraunces Medium" pitchFamily="34" charset="0"/>
                <a:ea typeface="Fraunces Medium" pitchFamily="34" charset="-122"/>
                <a:cs typeface="Fraunces Medium" pitchFamily="34" charset="-120"/>
              </a:rPr>
              <a:t>4</a:t>
            </a:r>
            <a:endParaRPr lang="en-US" sz="2000" dirty="0"/>
          </a:p>
        </p:txBody>
      </p:sp>
      <p:sp>
        <p:nvSpPr>
          <p:cNvPr id="16" name="Text 14"/>
          <p:cNvSpPr/>
          <p:nvPr/>
        </p:nvSpPr>
        <p:spPr>
          <a:xfrm>
            <a:off x="1143953" y="3010972"/>
            <a:ext cx="2441258"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Support Vector Machine</a:t>
            </a:r>
            <a:endParaRPr lang="en-US" sz="1650" dirty="0"/>
          </a:p>
        </p:txBody>
      </p:sp>
      <p:sp>
        <p:nvSpPr>
          <p:cNvPr id="17" name="Shape 15"/>
          <p:cNvSpPr/>
          <p:nvPr/>
        </p:nvSpPr>
        <p:spPr>
          <a:xfrm>
            <a:off x="5145048" y="2952750"/>
            <a:ext cx="381357" cy="381357"/>
          </a:xfrm>
          <a:prstGeom prst="roundRect">
            <a:avLst>
              <a:gd name="adj" fmla="val 18668"/>
            </a:avLst>
          </a:prstGeom>
          <a:solidFill>
            <a:srgbClr val="283157"/>
          </a:solidFill>
          <a:ln w="7620">
            <a:solidFill>
              <a:srgbClr val="414A70"/>
            </a:solidFill>
            <a:prstDash val="solid"/>
          </a:ln>
        </p:spPr>
      </p:sp>
      <p:sp>
        <p:nvSpPr>
          <p:cNvPr id="18" name="Text 16"/>
          <p:cNvSpPr/>
          <p:nvPr/>
        </p:nvSpPr>
        <p:spPr>
          <a:xfrm>
            <a:off x="5208568" y="2984480"/>
            <a:ext cx="254198" cy="317778"/>
          </a:xfrm>
          <a:prstGeom prst="rect">
            <a:avLst/>
          </a:prstGeom>
          <a:noFill/>
          <a:ln/>
        </p:spPr>
        <p:txBody>
          <a:bodyPr wrap="none" lIns="0" tIns="0" rIns="0" bIns="0" rtlCol="0" anchor="t"/>
          <a:lstStyle/>
          <a:p>
            <a:pPr marL="0" indent="0" algn="ctr">
              <a:lnSpc>
                <a:spcPts val="2000"/>
              </a:lnSpc>
              <a:buNone/>
            </a:pPr>
            <a:r>
              <a:rPr lang="en-US" sz="2000" dirty="0">
                <a:solidFill>
                  <a:srgbClr val="EBECEF"/>
                </a:solidFill>
                <a:latin typeface="Fraunces Medium" pitchFamily="34" charset="0"/>
                <a:ea typeface="Fraunces Medium" pitchFamily="34" charset="-122"/>
                <a:cs typeface="Fraunces Medium" pitchFamily="34" charset="-120"/>
              </a:rPr>
              <a:t>5</a:t>
            </a:r>
            <a:endParaRPr lang="en-US" sz="2000" dirty="0"/>
          </a:p>
        </p:txBody>
      </p:sp>
      <p:sp>
        <p:nvSpPr>
          <p:cNvPr id="19" name="Text 17"/>
          <p:cNvSpPr/>
          <p:nvPr/>
        </p:nvSpPr>
        <p:spPr>
          <a:xfrm>
            <a:off x="5695831" y="3010972"/>
            <a:ext cx="2260163"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K-Nearest Neighbours</a:t>
            </a:r>
            <a:endParaRPr lang="en-US" sz="1650" dirty="0"/>
          </a:p>
        </p:txBody>
      </p:sp>
      <p:sp>
        <p:nvSpPr>
          <p:cNvPr id="20" name="Shape 18"/>
          <p:cNvSpPr/>
          <p:nvPr/>
        </p:nvSpPr>
        <p:spPr>
          <a:xfrm>
            <a:off x="9697045" y="2952750"/>
            <a:ext cx="381357" cy="381357"/>
          </a:xfrm>
          <a:prstGeom prst="roundRect">
            <a:avLst>
              <a:gd name="adj" fmla="val 18668"/>
            </a:avLst>
          </a:prstGeom>
          <a:solidFill>
            <a:srgbClr val="283157"/>
          </a:solidFill>
          <a:ln w="7620">
            <a:solidFill>
              <a:srgbClr val="414A70"/>
            </a:solidFill>
            <a:prstDash val="solid"/>
          </a:ln>
        </p:spPr>
      </p:sp>
      <p:sp>
        <p:nvSpPr>
          <p:cNvPr id="21" name="Text 19"/>
          <p:cNvSpPr/>
          <p:nvPr/>
        </p:nvSpPr>
        <p:spPr>
          <a:xfrm>
            <a:off x="9760565" y="2984480"/>
            <a:ext cx="254198" cy="317778"/>
          </a:xfrm>
          <a:prstGeom prst="rect">
            <a:avLst/>
          </a:prstGeom>
          <a:noFill/>
          <a:ln/>
        </p:spPr>
        <p:txBody>
          <a:bodyPr wrap="none" lIns="0" tIns="0" rIns="0" bIns="0" rtlCol="0" anchor="t"/>
          <a:lstStyle/>
          <a:p>
            <a:pPr marL="0" indent="0" algn="ctr">
              <a:lnSpc>
                <a:spcPts val="2000"/>
              </a:lnSpc>
              <a:buNone/>
            </a:pPr>
            <a:r>
              <a:rPr lang="en-US" sz="2000" dirty="0">
                <a:solidFill>
                  <a:srgbClr val="EBECEF"/>
                </a:solidFill>
                <a:latin typeface="Fraunces Medium" pitchFamily="34" charset="0"/>
                <a:ea typeface="Fraunces Medium" pitchFamily="34" charset="-122"/>
                <a:cs typeface="Fraunces Medium" pitchFamily="34" charset="-120"/>
              </a:rPr>
              <a:t>6</a:t>
            </a:r>
            <a:endParaRPr lang="en-US" sz="2000" dirty="0"/>
          </a:p>
        </p:txBody>
      </p:sp>
      <p:sp>
        <p:nvSpPr>
          <p:cNvPr id="22" name="Text 20"/>
          <p:cNvSpPr/>
          <p:nvPr/>
        </p:nvSpPr>
        <p:spPr>
          <a:xfrm>
            <a:off x="10247828" y="3010972"/>
            <a:ext cx="2118717"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Naive Bayes</a:t>
            </a:r>
            <a:endParaRPr lang="en-US" sz="1650" dirty="0"/>
          </a:p>
        </p:txBody>
      </p:sp>
      <p:sp>
        <p:nvSpPr>
          <p:cNvPr id="23" name="Shape 21"/>
          <p:cNvSpPr/>
          <p:nvPr/>
        </p:nvSpPr>
        <p:spPr>
          <a:xfrm>
            <a:off x="593169" y="3673078"/>
            <a:ext cx="381357" cy="381357"/>
          </a:xfrm>
          <a:prstGeom prst="roundRect">
            <a:avLst>
              <a:gd name="adj" fmla="val 18668"/>
            </a:avLst>
          </a:prstGeom>
          <a:solidFill>
            <a:srgbClr val="283157"/>
          </a:solidFill>
          <a:ln w="7620">
            <a:solidFill>
              <a:srgbClr val="414A70"/>
            </a:solidFill>
            <a:prstDash val="solid"/>
          </a:ln>
        </p:spPr>
      </p:sp>
      <p:sp>
        <p:nvSpPr>
          <p:cNvPr id="24" name="Text 22"/>
          <p:cNvSpPr/>
          <p:nvPr/>
        </p:nvSpPr>
        <p:spPr>
          <a:xfrm>
            <a:off x="656689" y="3704808"/>
            <a:ext cx="254198" cy="317778"/>
          </a:xfrm>
          <a:prstGeom prst="rect">
            <a:avLst/>
          </a:prstGeom>
          <a:noFill/>
          <a:ln/>
        </p:spPr>
        <p:txBody>
          <a:bodyPr wrap="none" lIns="0" tIns="0" rIns="0" bIns="0" rtlCol="0" anchor="t"/>
          <a:lstStyle/>
          <a:p>
            <a:pPr marL="0" indent="0" algn="ctr">
              <a:lnSpc>
                <a:spcPts val="2000"/>
              </a:lnSpc>
              <a:buNone/>
            </a:pPr>
            <a:r>
              <a:rPr lang="en-US" sz="2000" dirty="0">
                <a:solidFill>
                  <a:srgbClr val="EBECEF"/>
                </a:solidFill>
                <a:latin typeface="Fraunces Medium" pitchFamily="34" charset="0"/>
                <a:ea typeface="Fraunces Medium" pitchFamily="34" charset="-122"/>
                <a:cs typeface="Fraunces Medium" pitchFamily="34" charset="-120"/>
              </a:rPr>
              <a:t>7</a:t>
            </a:r>
            <a:endParaRPr lang="en-US" sz="2000" dirty="0"/>
          </a:p>
        </p:txBody>
      </p:sp>
      <p:sp>
        <p:nvSpPr>
          <p:cNvPr id="25" name="Text 23"/>
          <p:cNvSpPr/>
          <p:nvPr/>
        </p:nvSpPr>
        <p:spPr>
          <a:xfrm>
            <a:off x="1143953" y="3731300"/>
            <a:ext cx="2118717"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Gradient Boosting</a:t>
            </a:r>
            <a:endParaRPr lang="en-US" sz="1650" dirty="0"/>
          </a:p>
        </p:txBody>
      </p:sp>
      <p:sp>
        <p:nvSpPr>
          <p:cNvPr id="26" name="Shape 24"/>
          <p:cNvSpPr/>
          <p:nvPr/>
        </p:nvSpPr>
        <p:spPr>
          <a:xfrm>
            <a:off x="7421047" y="3673078"/>
            <a:ext cx="381357" cy="381357"/>
          </a:xfrm>
          <a:prstGeom prst="roundRect">
            <a:avLst>
              <a:gd name="adj" fmla="val 18668"/>
            </a:avLst>
          </a:prstGeom>
          <a:solidFill>
            <a:srgbClr val="283157"/>
          </a:solidFill>
          <a:ln w="7620">
            <a:solidFill>
              <a:srgbClr val="414A70"/>
            </a:solidFill>
            <a:prstDash val="solid"/>
          </a:ln>
        </p:spPr>
      </p:sp>
      <p:sp>
        <p:nvSpPr>
          <p:cNvPr id="27" name="Text 25"/>
          <p:cNvSpPr/>
          <p:nvPr/>
        </p:nvSpPr>
        <p:spPr>
          <a:xfrm>
            <a:off x="7484566" y="3704808"/>
            <a:ext cx="254198" cy="317778"/>
          </a:xfrm>
          <a:prstGeom prst="rect">
            <a:avLst/>
          </a:prstGeom>
          <a:noFill/>
          <a:ln/>
        </p:spPr>
        <p:txBody>
          <a:bodyPr wrap="none" lIns="0" tIns="0" rIns="0" bIns="0" rtlCol="0" anchor="t"/>
          <a:lstStyle/>
          <a:p>
            <a:pPr marL="0" indent="0" algn="ctr">
              <a:lnSpc>
                <a:spcPts val="2000"/>
              </a:lnSpc>
              <a:buNone/>
            </a:pPr>
            <a:r>
              <a:rPr lang="en-US" sz="2000" dirty="0">
                <a:solidFill>
                  <a:srgbClr val="EBECEF"/>
                </a:solidFill>
                <a:latin typeface="Fraunces Medium" pitchFamily="34" charset="0"/>
                <a:ea typeface="Fraunces Medium" pitchFamily="34" charset="-122"/>
                <a:cs typeface="Fraunces Medium" pitchFamily="34" charset="-120"/>
              </a:rPr>
              <a:t>8</a:t>
            </a:r>
            <a:endParaRPr lang="en-US" sz="2000" dirty="0"/>
          </a:p>
        </p:txBody>
      </p:sp>
      <p:sp>
        <p:nvSpPr>
          <p:cNvPr id="28" name="Text 26"/>
          <p:cNvSpPr/>
          <p:nvPr/>
        </p:nvSpPr>
        <p:spPr>
          <a:xfrm>
            <a:off x="7971830" y="3731300"/>
            <a:ext cx="2118717"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XGBoost ✓</a:t>
            </a:r>
            <a:endParaRPr lang="en-US" sz="1650" dirty="0"/>
          </a:p>
        </p:txBody>
      </p:sp>
      <p:sp>
        <p:nvSpPr>
          <p:cNvPr id="29" name="Text 27"/>
          <p:cNvSpPr/>
          <p:nvPr/>
        </p:nvSpPr>
        <p:spPr>
          <a:xfrm>
            <a:off x="593169" y="4308634"/>
            <a:ext cx="2861786" cy="317659"/>
          </a:xfrm>
          <a:prstGeom prst="rect">
            <a:avLst/>
          </a:prstGeom>
          <a:noFill/>
          <a:ln/>
        </p:spPr>
        <p:txBody>
          <a:bodyPr wrap="none" lIns="0" tIns="0" rIns="0" bIns="0" rtlCol="0" anchor="t"/>
          <a:lstStyle/>
          <a:p>
            <a:pPr marL="0" indent="0" algn="l">
              <a:lnSpc>
                <a:spcPts val="2500"/>
              </a:lnSpc>
              <a:buNone/>
            </a:pPr>
            <a:r>
              <a:rPr lang="en-US" sz="2000" dirty="0">
                <a:solidFill>
                  <a:srgbClr val="FFFFFF"/>
                </a:solidFill>
                <a:latin typeface="Fraunces Medium" pitchFamily="34" charset="0"/>
                <a:ea typeface="Fraunces Medium" pitchFamily="34" charset="-122"/>
                <a:cs typeface="Fraunces Medium" pitchFamily="34" charset="-120"/>
              </a:rPr>
              <a:t>Regularisation Strategy</a:t>
            </a:r>
            <a:endParaRPr lang="en-US" sz="2000" dirty="0"/>
          </a:p>
        </p:txBody>
      </p:sp>
      <p:sp>
        <p:nvSpPr>
          <p:cNvPr id="30" name="Text 28"/>
          <p:cNvSpPr/>
          <p:nvPr/>
        </p:nvSpPr>
        <p:spPr>
          <a:xfrm>
            <a:off x="593169" y="4880491"/>
            <a:ext cx="13444061" cy="271224"/>
          </a:xfrm>
          <a:prstGeom prst="rect">
            <a:avLst/>
          </a:prstGeom>
          <a:noFill/>
          <a:ln/>
        </p:spPr>
        <p:txBody>
          <a:bodyPr wrap="none" lIns="0" tIns="0" rIns="0" bIns="0" rtlCol="0" anchor="t"/>
          <a:lstStyle/>
          <a:p>
            <a:pPr marL="0" indent="0" algn="l">
              <a:lnSpc>
                <a:spcPts val="2100"/>
              </a:lnSpc>
              <a:buNone/>
            </a:pPr>
            <a:r>
              <a:rPr lang="en-US" sz="1300" dirty="0">
                <a:solidFill>
                  <a:srgbClr val="EBECEF"/>
                </a:solidFill>
                <a:latin typeface="Epilogue" pitchFamily="34" charset="0"/>
                <a:ea typeface="Epilogue" pitchFamily="34" charset="-122"/>
                <a:cs typeface="Epilogue" pitchFamily="34" charset="-120"/>
              </a:rPr>
              <a:t>Regularisation techniques prevent overfitting by adding penalty terms to the loss function, constraining model complexity and improving generalisation.</a:t>
            </a:r>
            <a:endParaRPr lang="en-US" sz="1300" dirty="0"/>
          </a:p>
        </p:txBody>
      </p:sp>
      <p:sp>
        <p:nvSpPr>
          <p:cNvPr id="31" name="Shape 29"/>
          <p:cNvSpPr/>
          <p:nvPr/>
        </p:nvSpPr>
        <p:spPr>
          <a:xfrm>
            <a:off x="593169" y="5342334"/>
            <a:ext cx="6637258" cy="1293614"/>
          </a:xfrm>
          <a:prstGeom prst="roundRect">
            <a:avLst>
              <a:gd name="adj" fmla="val 5503"/>
            </a:avLst>
          </a:prstGeom>
          <a:solidFill>
            <a:srgbClr val="080E26"/>
          </a:solidFill>
          <a:ln w="22860">
            <a:solidFill>
              <a:srgbClr val="414A70"/>
            </a:solidFill>
            <a:prstDash val="solid"/>
          </a:ln>
        </p:spPr>
      </p:sp>
      <p:sp>
        <p:nvSpPr>
          <p:cNvPr id="32" name="Text 30"/>
          <p:cNvSpPr/>
          <p:nvPr/>
        </p:nvSpPr>
        <p:spPr>
          <a:xfrm>
            <a:off x="785455" y="5534620"/>
            <a:ext cx="2534483"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L1 Regularisation (Lasso)</a:t>
            </a:r>
            <a:endParaRPr lang="en-US" sz="1650" dirty="0"/>
          </a:p>
        </p:txBody>
      </p:sp>
      <p:sp>
        <p:nvSpPr>
          <p:cNvPr id="33" name="Text 31"/>
          <p:cNvSpPr/>
          <p:nvPr/>
        </p:nvSpPr>
        <p:spPr>
          <a:xfrm>
            <a:off x="785455" y="5901214"/>
            <a:ext cx="6252686" cy="542449"/>
          </a:xfrm>
          <a:prstGeom prst="rect">
            <a:avLst/>
          </a:prstGeom>
          <a:noFill/>
          <a:ln/>
        </p:spPr>
        <p:txBody>
          <a:bodyPr wrap="square" lIns="0" tIns="0" rIns="0" bIns="0" rtlCol="0" anchor="t"/>
          <a:lstStyle/>
          <a:p>
            <a:pPr marL="0" indent="0" algn="l">
              <a:lnSpc>
                <a:spcPts val="2100"/>
              </a:lnSpc>
              <a:buNone/>
            </a:pPr>
            <a:r>
              <a:rPr lang="en-US" sz="1300" dirty="0">
                <a:solidFill>
                  <a:srgbClr val="EBECEF"/>
                </a:solidFill>
                <a:latin typeface="Epilogue" pitchFamily="34" charset="0"/>
                <a:ea typeface="Epilogue" pitchFamily="34" charset="-122"/>
                <a:cs typeface="Epilogue" pitchFamily="34" charset="-120"/>
              </a:rPr>
              <a:t>Forces irrelevant feature weights to zero, enabling automatic feature selection and model simplification</a:t>
            </a:r>
            <a:endParaRPr lang="en-US" sz="1300" dirty="0"/>
          </a:p>
        </p:txBody>
      </p:sp>
      <p:sp>
        <p:nvSpPr>
          <p:cNvPr id="34" name="Shape 32"/>
          <p:cNvSpPr/>
          <p:nvPr/>
        </p:nvSpPr>
        <p:spPr>
          <a:xfrm>
            <a:off x="7399853" y="5342334"/>
            <a:ext cx="6637377" cy="1293614"/>
          </a:xfrm>
          <a:prstGeom prst="roundRect">
            <a:avLst>
              <a:gd name="adj" fmla="val 5503"/>
            </a:avLst>
          </a:prstGeom>
          <a:solidFill>
            <a:srgbClr val="080E26"/>
          </a:solidFill>
          <a:ln w="22860">
            <a:solidFill>
              <a:srgbClr val="414A70"/>
            </a:solidFill>
            <a:prstDash val="solid"/>
          </a:ln>
        </p:spPr>
      </p:sp>
      <p:sp>
        <p:nvSpPr>
          <p:cNvPr id="35" name="Text 33"/>
          <p:cNvSpPr/>
          <p:nvPr/>
        </p:nvSpPr>
        <p:spPr>
          <a:xfrm>
            <a:off x="7592139" y="5534620"/>
            <a:ext cx="2572107" cy="264914"/>
          </a:xfrm>
          <a:prstGeom prst="rect">
            <a:avLst/>
          </a:prstGeom>
          <a:noFill/>
          <a:ln/>
        </p:spPr>
        <p:txBody>
          <a:bodyPr wrap="none" lIns="0" tIns="0" rIns="0" bIns="0" rtlCol="0" anchor="t"/>
          <a:lstStyle/>
          <a:p>
            <a:pPr marL="0" indent="0" algn="l">
              <a:lnSpc>
                <a:spcPts val="2050"/>
              </a:lnSpc>
              <a:buNone/>
            </a:pPr>
            <a:r>
              <a:rPr lang="en-US" sz="1650" dirty="0">
                <a:solidFill>
                  <a:srgbClr val="EBECEF"/>
                </a:solidFill>
                <a:latin typeface="Fraunces Medium" pitchFamily="34" charset="0"/>
                <a:ea typeface="Fraunces Medium" pitchFamily="34" charset="-122"/>
                <a:cs typeface="Fraunces Medium" pitchFamily="34" charset="-120"/>
              </a:rPr>
              <a:t>L2 Regularisation (Ridge)</a:t>
            </a:r>
            <a:endParaRPr lang="en-US" sz="1650" dirty="0"/>
          </a:p>
        </p:txBody>
      </p:sp>
      <p:sp>
        <p:nvSpPr>
          <p:cNvPr id="36" name="Text 34"/>
          <p:cNvSpPr/>
          <p:nvPr/>
        </p:nvSpPr>
        <p:spPr>
          <a:xfrm>
            <a:off x="7592139" y="5901214"/>
            <a:ext cx="6252805" cy="542449"/>
          </a:xfrm>
          <a:prstGeom prst="rect">
            <a:avLst/>
          </a:prstGeom>
          <a:noFill/>
          <a:ln/>
        </p:spPr>
        <p:txBody>
          <a:bodyPr wrap="square" lIns="0" tIns="0" rIns="0" bIns="0" rtlCol="0" anchor="t"/>
          <a:lstStyle/>
          <a:p>
            <a:pPr marL="0" indent="0" algn="l">
              <a:lnSpc>
                <a:spcPts val="2100"/>
              </a:lnSpc>
              <a:buNone/>
            </a:pPr>
            <a:r>
              <a:rPr lang="en-US" sz="1300" dirty="0">
                <a:solidFill>
                  <a:srgbClr val="EBECEF"/>
                </a:solidFill>
                <a:latin typeface="Epilogue" pitchFamily="34" charset="0"/>
                <a:ea typeface="Epilogue" pitchFamily="34" charset="-122"/>
                <a:cs typeface="Epilogue" pitchFamily="34" charset="-120"/>
              </a:rPr>
              <a:t>Penalises large weights to promote smooth generalisation and reduce sensitivity to individual features</a:t>
            </a:r>
            <a:endParaRPr lang="en-US" sz="1300" dirty="0"/>
          </a:p>
        </p:txBody>
      </p:sp>
      <p:sp>
        <p:nvSpPr>
          <p:cNvPr id="37" name="Text 35"/>
          <p:cNvSpPr/>
          <p:nvPr/>
        </p:nvSpPr>
        <p:spPr>
          <a:xfrm>
            <a:off x="593169" y="6850380"/>
            <a:ext cx="13444061" cy="292060"/>
          </a:xfrm>
          <a:prstGeom prst="rect">
            <a:avLst/>
          </a:prstGeom>
          <a:noFill/>
          <a:ln/>
        </p:spPr>
        <p:txBody>
          <a:bodyPr wrap="none" lIns="0" tIns="0" rIns="0" bIns="0" rtlCol="0" anchor="t"/>
          <a:lstStyle/>
          <a:p>
            <a:pPr marL="0" indent="0" algn="l">
              <a:lnSpc>
                <a:spcPts val="2400"/>
              </a:lnSpc>
              <a:buNone/>
            </a:pPr>
            <a:endParaRPr lang="en-US" sz="1500" dirty="0"/>
          </a:p>
        </p:txBody>
      </p:sp>
      <p:pic>
        <p:nvPicPr>
          <p:cNvPr id="38" name="Image 0" descr="preencoded.png"/>
          <p:cNvPicPr>
            <a:picLocks noChangeAspect="1"/>
          </p:cNvPicPr>
          <p:nvPr/>
        </p:nvPicPr>
        <p:blipFill>
          <a:blip r:embed="rId3"/>
          <a:stretch>
            <a:fillRect/>
          </a:stretch>
        </p:blipFill>
        <p:spPr>
          <a:xfrm>
            <a:off x="593169" y="6850380"/>
            <a:ext cx="13444061" cy="292060"/>
          </a:xfrm>
          <a:prstGeom prst="rect">
            <a:avLst/>
          </a:prstGeom>
        </p:spPr>
      </p:pic>
      <p:sp>
        <p:nvSpPr>
          <p:cNvPr id="39" name="Text 36"/>
          <p:cNvSpPr/>
          <p:nvPr/>
        </p:nvSpPr>
        <p:spPr>
          <a:xfrm>
            <a:off x="593169" y="7356872"/>
            <a:ext cx="13444061" cy="271224"/>
          </a:xfrm>
          <a:prstGeom prst="rect">
            <a:avLst/>
          </a:prstGeom>
          <a:noFill/>
          <a:ln/>
        </p:spPr>
        <p:txBody>
          <a:bodyPr wrap="none" lIns="0" tIns="0" rIns="0" bIns="0" rtlCol="0" anchor="t"/>
          <a:lstStyle/>
          <a:p>
            <a:pPr marL="0" indent="0" algn="l">
              <a:lnSpc>
                <a:spcPts val="2100"/>
              </a:lnSpc>
              <a:buNone/>
            </a:pPr>
            <a:r>
              <a:rPr lang="en-US" sz="1300" dirty="0">
                <a:solidFill>
                  <a:srgbClr val="EBECEF"/>
                </a:solidFill>
                <a:latin typeface="Epilogue" pitchFamily="34" charset="0"/>
                <a:ea typeface="Epilogue" pitchFamily="34" charset="-122"/>
                <a:cs typeface="Epilogue" pitchFamily="34" charset="-120"/>
              </a:rPr>
              <a:t>The regularisation parameter λ controls the trade-off between fitting the training data and maintaining model simplicity.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9491" y="541734"/>
            <a:ext cx="8541901" cy="615672"/>
          </a:xfrm>
          <a:prstGeom prst="rect">
            <a:avLst/>
          </a:prstGeom>
          <a:noFill/>
          <a:ln/>
        </p:spPr>
        <p:txBody>
          <a:bodyPr wrap="none" lIns="0" tIns="0" rIns="0" bIns="0" rtlCol="0" anchor="t"/>
          <a:lstStyle/>
          <a:p>
            <a:pPr marL="0" indent="0" algn="l">
              <a:lnSpc>
                <a:spcPts val="4800"/>
              </a:lnSpc>
              <a:buNone/>
            </a:pPr>
            <a:r>
              <a:rPr lang="en-US" sz="3850" dirty="0">
                <a:solidFill>
                  <a:srgbClr val="FFFFFF"/>
                </a:solidFill>
                <a:latin typeface="Fraunces Medium" pitchFamily="34" charset="0"/>
                <a:ea typeface="Fraunces Medium" pitchFamily="34" charset="-122"/>
                <a:cs typeface="Fraunces Medium" pitchFamily="34" charset="-120"/>
              </a:rPr>
              <a:t>Model Training &amp; Validation Process</a:t>
            </a:r>
            <a:endParaRPr lang="en-US" sz="3850" dirty="0"/>
          </a:p>
        </p:txBody>
      </p:sp>
      <p:sp>
        <p:nvSpPr>
          <p:cNvPr id="3" name="Shape 1"/>
          <p:cNvSpPr/>
          <p:nvPr/>
        </p:nvSpPr>
        <p:spPr>
          <a:xfrm>
            <a:off x="689491" y="1452801"/>
            <a:ext cx="13251418" cy="2915841"/>
          </a:xfrm>
          <a:prstGeom prst="roundRect">
            <a:avLst>
              <a:gd name="adj" fmla="val 2838"/>
            </a:avLst>
          </a:prstGeom>
          <a:solidFill>
            <a:srgbClr val="283157"/>
          </a:solidFill>
          <a:ln w="7620">
            <a:solidFill>
              <a:srgbClr val="414A70"/>
            </a:solidFill>
            <a:prstDash val="solid"/>
          </a:ln>
        </p:spPr>
      </p:sp>
      <p:sp>
        <p:nvSpPr>
          <p:cNvPr id="4" name="Shape 2"/>
          <p:cNvSpPr/>
          <p:nvPr/>
        </p:nvSpPr>
        <p:spPr>
          <a:xfrm>
            <a:off x="697111" y="1460421"/>
            <a:ext cx="6618089" cy="1450300"/>
          </a:xfrm>
          <a:prstGeom prst="roundRect">
            <a:avLst>
              <a:gd name="adj" fmla="val 5705"/>
            </a:avLst>
          </a:prstGeom>
          <a:solidFill>
            <a:srgbClr val="283157"/>
          </a:solidFill>
          <a:ln/>
        </p:spPr>
      </p:sp>
      <p:sp>
        <p:nvSpPr>
          <p:cNvPr id="5" name="Text 3"/>
          <p:cNvSpPr/>
          <p:nvPr/>
        </p:nvSpPr>
        <p:spPr>
          <a:xfrm>
            <a:off x="894040" y="1657350"/>
            <a:ext cx="3951208" cy="307777"/>
          </a:xfrm>
          <a:prstGeom prst="rect">
            <a:avLst/>
          </a:prstGeom>
          <a:noFill/>
          <a:ln/>
        </p:spPr>
        <p:txBody>
          <a:bodyPr wrap="none" lIns="0" tIns="0" rIns="0" bIns="0" rtlCol="0" anchor="t"/>
          <a:lstStyle/>
          <a:p>
            <a:pPr marL="0" indent="0" algn="l">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Stratified K-Fold Cross Validation</a:t>
            </a:r>
            <a:endParaRPr lang="en-US" sz="1900" dirty="0"/>
          </a:p>
        </p:txBody>
      </p:sp>
      <p:sp>
        <p:nvSpPr>
          <p:cNvPr id="6" name="Text 4"/>
          <p:cNvSpPr/>
          <p:nvPr/>
        </p:nvSpPr>
        <p:spPr>
          <a:xfrm>
            <a:off x="894040" y="2083237"/>
            <a:ext cx="5928717" cy="630555"/>
          </a:xfrm>
          <a:prstGeom prst="rect">
            <a:avLst/>
          </a:prstGeom>
          <a:noFill/>
          <a:ln/>
        </p:spPr>
        <p:txBody>
          <a:bodyPr wrap="square" lIns="0" tIns="0" rIns="0" bIns="0" rtlCol="0" anchor="t"/>
          <a:lstStyle/>
          <a:p>
            <a:pPr marL="0" indent="0" algn="l">
              <a:lnSpc>
                <a:spcPts val="2450"/>
              </a:lnSpc>
              <a:buNone/>
            </a:pPr>
            <a:r>
              <a:rPr lang="en-US" sz="1550" dirty="0">
                <a:solidFill>
                  <a:srgbClr val="EBECEF"/>
                </a:solidFill>
                <a:latin typeface="Epilogue" pitchFamily="34" charset="0"/>
                <a:ea typeface="Epilogue" pitchFamily="34" charset="-122"/>
                <a:cs typeface="Epilogue" pitchFamily="34" charset="-120"/>
              </a:rPr>
              <a:t>Implemented k=10 folds to ensure robust performance estimation across multiple data partitions</a:t>
            </a:r>
            <a:endParaRPr lang="en-US" sz="1550" dirty="0"/>
          </a:p>
        </p:txBody>
      </p:sp>
      <p:sp>
        <p:nvSpPr>
          <p:cNvPr id="7" name="Shape 5"/>
          <p:cNvSpPr/>
          <p:nvPr/>
        </p:nvSpPr>
        <p:spPr>
          <a:xfrm>
            <a:off x="7315200" y="1460421"/>
            <a:ext cx="6618089" cy="1450300"/>
          </a:xfrm>
          <a:prstGeom prst="rect">
            <a:avLst/>
          </a:prstGeom>
          <a:solidFill>
            <a:srgbClr val="283157"/>
          </a:solidFill>
          <a:ln/>
        </p:spPr>
      </p:sp>
      <p:sp>
        <p:nvSpPr>
          <p:cNvPr id="8" name="Shape 6"/>
          <p:cNvSpPr/>
          <p:nvPr/>
        </p:nvSpPr>
        <p:spPr>
          <a:xfrm>
            <a:off x="7315200" y="1460421"/>
            <a:ext cx="22860" cy="1450300"/>
          </a:xfrm>
          <a:prstGeom prst="roundRect">
            <a:avLst>
              <a:gd name="adj" fmla="val 361952"/>
            </a:avLst>
          </a:prstGeom>
          <a:solidFill>
            <a:srgbClr val="414A70"/>
          </a:solidFill>
          <a:ln/>
        </p:spPr>
      </p:sp>
      <p:sp>
        <p:nvSpPr>
          <p:cNvPr id="9" name="Text 7"/>
          <p:cNvSpPr/>
          <p:nvPr/>
        </p:nvSpPr>
        <p:spPr>
          <a:xfrm>
            <a:off x="7807643" y="1657350"/>
            <a:ext cx="3248739" cy="307777"/>
          </a:xfrm>
          <a:prstGeom prst="rect">
            <a:avLst/>
          </a:prstGeom>
          <a:noFill/>
          <a:ln/>
        </p:spPr>
        <p:txBody>
          <a:bodyPr wrap="none" lIns="0" tIns="0" rIns="0" bIns="0" rtlCol="0" anchor="t"/>
          <a:lstStyle/>
          <a:p>
            <a:pPr marL="0" indent="0" algn="l">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Balanced Class Distribution</a:t>
            </a:r>
            <a:endParaRPr lang="en-US" sz="1900" dirty="0"/>
          </a:p>
        </p:txBody>
      </p:sp>
      <p:sp>
        <p:nvSpPr>
          <p:cNvPr id="10" name="Text 8"/>
          <p:cNvSpPr/>
          <p:nvPr/>
        </p:nvSpPr>
        <p:spPr>
          <a:xfrm>
            <a:off x="7807643" y="2083237"/>
            <a:ext cx="5928717" cy="630555"/>
          </a:xfrm>
          <a:prstGeom prst="rect">
            <a:avLst/>
          </a:prstGeom>
          <a:noFill/>
          <a:ln/>
        </p:spPr>
        <p:txBody>
          <a:bodyPr wrap="square" lIns="0" tIns="0" rIns="0" bIns="0" rtlCol="0" anchor="t"/>
          <a:lstStyle/>
          <a:p>
            <a:pPr marL="0" indent="0" algn="l">
              <a:lnSpc>
                <a:spcPts val="2450"/>
              </a:lnSpc>
              <a:buNone/>
            </a:pPr>
            <a:r>
              <a:rPr lang="en-US" sz="1550" dirty="0">
                <a:solidFill>
                  <a:srgbClr val="EBECEF"/>
                </a:solidFill>
                <a:latin typeface="Epilogue" pitchFamily="34" charset="0"/>
                <a:ea typeface="Epilogue" pitchFamily="34" charset="-122"/>
                <a:cs typeface="Epilogue" pitchFamily="34" charset="-120"/>
              </a:rPr>
              <a:t>Maintained consistent class ratios across all validation folds for unbiased evaluation</a:t>
            </a:r>
            <a:endParaRPr lang="en-US" sz="1550" dirty="0"/>
          </a:p>
        </p:txBody>
      </p:sp>
      <p:sp>
        <p:nvSpPr>
          <p:cNvPr id="11" name="Shape 9"/>
          <p:cNvSpPr/>
          <p:nvPr/>
        </p:nvSpPr>
        <p:spPr>
          <a:xfrm>
            <a:off x="7068979" y="1939290"/>
            <a:ext cx="492443" cy="492443"/>
          </a:xfrm>
          <a:prstGeom prst="roundRect">
            <a:avLst>
              <a:gd name="adj" fmla="val 16802"/>
            </a:avLst>
          </a:prstGeom>
          <a:solidFill>
            <a:srgbClr val="080E26"/>
          </a:solidFill>
          <a:ln w="22860">
            <a:solidFill>
              <a:srgbClr val="414A70"/>
            </a:solidFill>
            <a:prstDash val="solid"/>
          </a:ln>
        </p:spPr>
      </p:sp>
      <p:pic>
        <p:nvPicPr>
          <p:cNvPr id="12"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92089" y="2062282"/>
            <a:ext cx="246221" cy="246221"/>
          </a:xfrm>
          <a:prstGeom prst="rect">
            <a:avLst/>
          </a:prstGeom>
        </p:spPr>
      </p:pic>
      <p:sp>
        <p:nvSpPr>
          <p:cNvPr id="13" name="Shape 10"/>
          <p:cNvSpPr/>
          <p:nvPr/>
        </p:nvSpPr>
        <p:spPr>
          <a:xfrm>
            <a:off x="697111" y="2910721"/>
            <a:ext cx="6618089" cy="1450300"/>
          </a:xfrm>
          <a:prstGeom prst="rect">
            <a:avLst/>
          </a:prstGeom>
          <a:solidFill>
            <a:srgbClr val="283157"/>
          </a:solidFill>
          <a:ln/>
        </p:spPr>
      </p:sp>
      <p:sp>
        <p:nvSpPr>
          <p:cNvPr id="14" name="Shape 11"/>
          <p:cNvSpPr/>
          <p:nvPr/>
        </p:nvSpPr>
        <p:spPr>
          <a:xfrm>
            <a:off x="697111" y="2910721"/>
            <a:ext cx="6618089" cy="22860"/>
          </a:xfrm>
          <a:prstGeom prst="roundRect">
            <a:avLst>
              <a:gd name="adj" fmla="val 361952"/>
            </a:avLst>
          </a:prstGeom>
          <a:solidFill>
            <a:srgbClr val="414A70"/>
          </a:solidFill>
          <a:ln/>
        </p:spPr>
      </p:sp>
      <p:sp>
        <p:nvSpPr>
          <p:cNvPr id="15" name="Text 12"/>
          <p:cNvSpPr/>
          <p:nvPr/>
        </p:nvSpPr>
        <p:spPr>
          <a:xfrm>
            <a:off x="894040" y="3107650"/>
            <a:ext cx="2462451" cy="307777"/>
          </a:xfrm>
          <a:prstGeom prst="rect">
            <a:avLst/>
          </a:prstGeom>
          <a:noFill/>
          <a:ln/>
        </p:spPr>
        <p:txBody>
          <a:bodyPr wrap="none" lIns="0" tIns="0" rIns="0" bIns="0" rtlCol="0" anchor="t"/>
          <a:lstStyle/>
          <a:p>
            <a:pPr marL="0" indent="0" algn="l">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L2 Regularisation</a:t>
            </a:r>
            <a:endParaRPr lang="en-US" sz="1900" dirty="0"/>
          </a:p>
        </p:txBody>
      </p:sp>
      <p:sp>
        <p:nvSpPr>
          <p:cNvPr id="16" name="Text 13"/>
          <p:cNvSpPr/>
          <p:nvPr/>
        </p:nvSpPr>
        <p:spPr>
          <a:xfrm>
            <a:off x="894040" y="3533537"/>
            <a:ext cx="5928717" cy="630555"/>
          </a:xfrm>
          <a:prstGeom prst="rect">
            <a:avLst/>
          </a:prstGeom>
          <a:noFill/>
          <a:ln/>
        </p:spPr>
        <p:txBody>
          <a:bodyPr wrap="square" lIns="0" tIns="0" rIns="0" bIns="0" rtlCol="0" anchor="t"/>
          <a:lstStyle/>
          <a:p>
            <a:pPr marL="0" indent="0" algn="l">
              <a:lnSpc>
                <a:spcPts val="2450"/>
              </a:lnSpc>
              <a:buNone/>
            </a:pPr>
            <a:r>
              <a:rPr lang="en-US" sz="1550" dirty="0">
                <a:solidFill>
                  <a:srgbClr val="EBECEF"/>
                </a:solidFill>
                <a:latin typeface="Epilogue" pitchFamily="34" charset="0"/>
                <a:ea typeface="Epilogue" pitchFamily="34" charset="-122"/>
                <a:cs typeface="Epilogue" pitchFamily="34" charset="-120"/>
              </a:rPr>
              <a:t>Applied Ridge regularisation with λ=1 to prevent overfitting and enhance generalisation</a:t>
            </a:r>
            <a:endParaRPr lang="en-US" sz="1550" dirty="0"/>
          </a:p>
        </p:txBody>
      </p:sp>
      <p:sp>
        <p:nvSpPr>
          <p:cNvPr id="17" name="Shape 14"/>
          <p:cNvSpPr/>
          <p:nvPr/>
        </p:nvSpPr>
        <p:spPr>
          <a:xfrm>
            <a:off x="7315200" y="2910721"/>
            <a:ext cx="6618089" cy="1450300"/>
          </a:xfrm>
          <a:prstGeom prst="rect">
            <a:avLst/>
          </a:prstGeom>
          <a:solidFill>
            <a:srgbClr val="283157"/>
          </a:solidFill>
          <a:ln/>
        </p:spPr>
      </p:sp>
      <p:sp>
        <p:nvSpPr>
          <p:cNvPr id="18" name="Shape 15"/>
          <p:cNvSpPr/>
          <p:nvPr/>
        </p:nvSpPr>
        <p:spPr>
          <a:xfrm>
            <a:off x="7315200" y="2910721"/>
            <a:ext cx="22860" cy="1450300"/>
          </a:xfrm>
          <a:prstGeom prst="roundRect">
            <a:avLst>
              <a:gd name="adj" fmla="val 361952"/>
            </a:avLst>
          </a:prstGeom>
          <a:solidFill>
            <a:srgbClr val="414A70"/>
          </a:solidFill>
          <a:ln/>
        </p:spPr>
      </p:sp>
      <p:sp>
        <p:nvSpPr>
          <p:cNvPr id="19" name="Shape 16"/>
          <p:cNvSpPr/>
          <p:nvPr/>
        </p:nvSpPr>
        <p:spPr>
          <a:xfrm>
            <a:off x="7315200" y="2910721"/>
            <a:ext cx="6618089" cy="22860"/>
          </a:xfrm>
          <a:prstGeom prst="roundRect">
            <a:avLst>
              <a:gd name="adj" fmla="val 361952"/>
            </a:avLst>
          </a:prstGeom>
          <a:solidFill>
            <a:srgbClr val="414A70"/>
          </a:solidFill>
          <a:ln/>
        </p:spPr>
      </p:sp>
      <p:sp>
        <p:nvSpPr>
          <p:cNvPr id="20" name="Text 17"/>
          <p:cNvSpPr/>
          <p:nvPr/>
        </p:nvSpPr>
        <p:spPr>
          <a:xfrm>
            <a:off x="7807643" y="3107650"/>
            <a:ext cx="3579733" cy="307777"/>
          </a:xfrm>
          <a:prstGeom prst="rect">
            <a:avLst/>
          </a:prstGeom>
          <a:noFill/>
          <a:ln/>
        </p:spPr>
        <p:txBody>
          <a:bodyPr wrap="none" lIns="0" tIns="0" rIns="0" bIns="0" rtlCol="0" anchor="t"/>
          <a:lstStyle/>
          <a:p>
            <a:pPr marL="0" indent="0" algn="l">
              <a:lnSpc>
                <a:spcPts val="2400"/>
              </a:lnSpc>
              <a:buNone/>
            </a:pPr>
            <a:r>
              <a:rPr lang="en-US" sz="1900" dirty="0">
                <a:solidFill>
                  <a:srgbClr val="EBECEF"/>
                </a:solidFill>
                <a:latin typeface="Fraunces Medium" pitchFamily="34" charset="0"/>
                <a:ea typeface="Fraunces Medium" pitchFamily="34" charset="-122"/>
                <a:cs typeface="Fraunces Medium" pitchFamily="34" charset="-120"/>
              </a:rPr>
              <a:t>Hyperparameter Optimisation</a:t>
            </a:r>
            <a:endParaRPr lang="en-US" sz="1900" dirty="0"/>
          </a:p>
        </p:txBody>
      </p:sp>
      <p:sp>
        <p:nvSpPr>
          <p:cNvPr id="21" name="Text 18"/>
          <p:cNvSpPr/>
          <p:nvPr/>
        </p:nvSpPr>
        <p:spPr>
          <a:xfrm>
            <a:off x="7807643" y="3533537"/>
            <a:ext cx="5928717" cy="630555"/>
          </a:xfrm>
          <a:prstGeom prst="rect">
            <a:avLst/>
          </a:prstGeom>
          <a:noFill/>
          <a:ln/>
        </p:spPr>
        <p:txBody>
          <a:bodyPr wrap="square" lIns="0" tIns="0" rIns="0" bIns="0" rtlCol="0" anchor="t"/>
          <a:lstStyle/>
          <a:p>
            <a:pPr marL="0" indent="0" algn="l">
              <a:lnSpc>
                <a:spcPts val="2450"/>
              </a:lnSpc>
              <a:buNone/>
            </a:pPr>
            <a:r>
              <a:rPr lang="en-US" sz="1550" dirty="0">
                <a:solidFill>
                  <a:srgbClr val="EBECEF"/>
                </a:solidFill>
                <a:latin typeface="Epilogue" pitchFamily="34" charset="0"/>
                <a:ea typeface="Epilogue" pitchFamily="34" charset="-122"/>
                <a:cs typeface="Epilogue" pitchFamily="34" charset="-120"/>
              </a:rPr>
              <a:t>Utilised RandomizedSearchCV to tune learning rate, n_estimators, and max_depth parameters</a:t>
            </a:r>
            <a:endParaRPr lang="en-US" sz="1550" dirty="0"/>
          </a:p>
        </p:txBody>
      </p:sp>
      <p:sp>
        <p:nvSpPr>
          <p:cNvPr id="22" name="Shape 19"/>
          <p:cNvSpPr/>
          <p:nvPr/>
        </p:nvSpPr>
        <p:spPr>
          <a:xfrm>
            <a:off x="7068979" y="3389590"/>
            <a:ext cx="492443" cy="492443"/>
          </a:xfrm>
          <a:prstGeom prst="roundRect">
            <a:avLst>
              <a:gd name="adj" fmla="val 16802"/>
            </a:avLst>
          </a:prstGeom>
          <a:solidFill>
            <a:srgbClr val="080E26"/>
          </a:solidFill>
          <a:ln w="22860">
            <a:solidFill>
              <a:srgbClr val="414A70"/>
            </a:solidFill>
            <a:prstDash val="solid"/>
          </a:ln>
        </p:spPr>
      </p:sp>
      <p:pic>
        <p:nvPicPr>
          <p:cNvPr id="2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2089" y="3512582"/>
            <a:ext cx="246221" cy="246221"/>
          </a:xfrm>
          <a:prstGeom prst="rect">
            <a:avLst/>
          </a:prstGeom>
        </p:spPr>
      </p:pic>
      <p:sp>
        <p:nvSpPr>
          <p:cNvPr id="24" name="Text 20"/>
          <p:cNvSpPr/>
          <p:nvPr/>
        </p:nvSpPr>
        <p:spPr>
          <a:xfrm>
            <a:off x="689491" y="4664035"/>
            <a:ext cx="3483173" cy="369332"/>
          </a:xfrm>
          <a:prstGeom prst="rect">
            <a:avLst/>
          </a:prstGeom>
          <a:noFill/>
          <a:ln/>
        </p:spPr>
        <p:txBody>
          <a:bodyPr wrap="none" lIns="0" tIns="0" rIns="0" bIns="0" rtlCol="0" anchor="t"/>
          <a:lstStyle/>
          <a:p>
            <a:pPr marL="0" indent="0" algn="l">
              <a:lnSpc>
                <a:spcPts val="2900"/>
              </a:lnSpc>
              <a:buNone/>
            </a:pPr>
            <a:r>
              <a:rPr lang="en-US" sz="2300" dirty="0">
                <a:solidFill>
                  <a:srgbClr val="FFFFFF"/>
                </a:solidFill>
                <a:latin typeface="Fraunces Medium" pitchFamily="34" charset="0"/>
                <a:ea typeface="Fraunces Medium" pitchFamily="34" charset="-122"/>
                <a:cs typeface="Fraunces Medium" pitchFamily="34" charset="-120"/>
              </a:rPr>
              <a:t>Hyperparameters Tuned</a:t>
            </a:r>
            <a:endParaRPr lang="en-US" sz="2300" dirty="0"/>
          </a:p>
        </p:txBody>
      </p:sp>
      <p:sp>
        <p:nvSpPr>
          <p:cNvPr id="25" name="Text 21"/>
          <p:cNvSpPr/>
          <p:nvPr/>
        </p:nvSpPr>
        <p:spPr>
          <a:xfrm>
            <a:off x="689491" y="5525691"/>
            <a:ext cx="2462451" cy="307777"/>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Fraunces Medium" pitchFamily="34" charset="0"/>
                <a:ea typeface="Fraunces Medium" pitchFamily="34" charset="-122"/>
                <a:cs typeface="Fraunces Medium" pitchFamily="34" charset="-120"/>
              </a:rPr>
              <a:t>Learning Rate</a:t>
            </a:r>
            <a:endParaRPr lang="en-US" sz="1900" dirty="0"/>
          </a:p>
        </p:txBody>
      </p:sp>
      <p:sp>
        <p:nvSpPr>
          <p:cNvPr id="26" name="Text 22"/>
          <p:cNvSpPr/>
          <p:nvPr/>
        </p:nvSpPr>
        <p:spPr>
          <a:xfrm>
            <a:off x="689491" y="6030397"/>
            <a:ext cx="4050982" cy="630555"/>
          </a:xfrm>
          <a:prstGeom prst="rect">
            <a:avLst/>
          </a:prstGeom>
          <a:noFill/>
          <a:ln/>
        </p:spPr>
        <p:txBody>
          <a:bodyPr wrap="square" lIns="0" tIns="0" rIns="0" bIns="0" rtlCol="0" anchor="t"/>
          <a:lstStyle/>
          <a:p>
            <a:pPr marL="0" indent="0" algn="l">
              <a:lnSpc>
                <a:spcPts val="2450"/>
              </a:lnSpc>
              <a:buNone/>
            </a:pPr>
            <a:r>
              <a:rPr lang="en-US" sz="1550" dirty="0">
                <a:solidFill>
                  <a:srgbClr val="EBECEF"/>
                </a:solidFill>
                <a:latin typeface="Epilogue" pitchFamily="34" charset="0"/>
                <a:ea typeface="Epilogue" pitchFamily="34" charset="-122"/>
                <a:cs typeface="Epilogue" pitchFamily="34" charset="-120"/>
              </a:rPr>
              <a:t>Controls the step size during gradient descent optimisation</a:t>
            </a:r>
            <a:endParaRPr lang="en-US" sz="1550" dirty="0"/>
          </a:p>
        </p:txBody>
      </p:sp>
      <p:sp>
        <p:nvSpPr>
          <p:cNvPr id="27" name="Text 23"/>
          <p:cNvSpPr/>
          <p:nvPr/>
        </p:nvSpPr>
        <p:spPr>
          <a:xfrm>
            <a:off x="5228630" y="5525691"/>
            <a:ext cx="2462451" cy="307777"/>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Fraunces Medium" pitchFamily="34" charset="0"/>
                <a:ea typeface="Fraunces Medium" pitchFamily="34" charset="-122"/>
                <a:cs typeface="Fraunces Medium" pitchFamily="34" charset="-120"/>
              </a:rPr>
              <a:t>N_Estimators</a:t>
            </a:r>
            <a:endParaRPr lang="en-US" sz="1900" dirty="0"/>
          </a:p>
        </p:txBody>
      </p:sp>
      <p:sp>
        <p:nvSpPr>
          <p:cNvPr id="28" name="Text 24"/>
          <p:cNvSpPr/>
          <p:nvPr/>
        </p:nvSpPr>
        <p:spPr>
          <a:xfrm>
            <a:off x="5228630" y="6030397"/>
            <a:ext cx="4050982" cy="630555"/>
          </a:xfrm>
          <a:prstGeom prst="rect">
            <a:avLst/>
          </a:prstGeom>
          <a:noFill/>
          <a:ln/>
        </p:spPr>
        <p:txBody>
          <a:bodyPr wrap="square" lIns="0" tIns="0" rIns="0" bIns="0" rtlCol="0" anchor="t"/>
          <a:lstStyle/>
          <a:p>
            <a:pPr marL="0" indent="0" algn="l">
              <a:lnSpc>
                <a:spcPts val="2450"/>
              </a:lnSpc>
              <a:buNone/>
            </a:pPr>
            <a:r>
              <a:rPr lang="en-US" sz="1550" dirty="0">
                <a:solidFill>
                  <a:srgbClr val="EBECEF"/>
                </a:solidFill>
                <a:latin typeface="Epilogue" pitchFamily="34" charset="0"/>
                <a:ea typeface="Epilogue" pitchFamily="34" charset="-122"/>
                <a:cs typeface="Epilogue" pitchFamily="34" charset="-120"/>
              </a:rPr>
              <a:t>Determines the number of boosting rounds in the ensemble</a:t>
            </a:r>
            <a:endParaRPr lang="en-US" sz="1550" dirty="0"/>
          </a:p>
        </p:txBody>
      </p:sp>
      <p:sp>
        <p:nvSpPr>
          <p:cNvPr id="29" name="Text 25"/>
          <p:cNvSpPr/>
          <p:nvPr/>
        </p:nvSpPr>
        <p:spPr>
          <a:xfrm>
            <a:off x="9767768" y="5525691"/>
            <a:ext cx="2462451" cy="307777"/>
          </a:xfrm>
          <a:prstGeom prst="rect">
            <a:avLst/>
          </a:prstGeom>
          <a:noFill/>
          <a:ln/>
        </p:spPr>
        <p:txBody>
          <a:bodyPr wrap="none" lIns="0" tIns="0" rIns="0" bIns="0" rtlCol="0" anchor="t"/>
          <a:lstStyle/>
          <a:p>
            <a:pPr marL="0" indent="0" algn="l">
              <a:lnSpc>
                <a:spcPts val="2400"/>
              </a:lnSpc>
              <a:buNone/>
            </a:pPr>
            <a:r>
              <a:rPr lang="en-US" sz="1900" dirty="0">
                <a:solidFill>
                  <a:srgbClr val="FFFFFF"/>
                </a:solidFill>
                <a:latin typeface="Fraunces Medium" pitchFamily="34" charset="0"/>
                <a:ea typeface="Fraunces Medium" pitchFamily="34" charset="-122"/>
                <a:cs typeface="Fraunces Medium" pitchFamily="34" charset="-120"/>
              </a:rPr>
              <a:t>Max_Depth</a:t>
            </a:r>
            <a:endParaRPr lang="en-US" sz="1900" dirty="0"/>
          </a:p>
        </p:txBody>
      </p:sp>
      <p:sp>
        <p:nvSpPr>
          <p:cNvPr id="30" name="Text 26"/>
          <p:cNvSpPr/>
          <p:nvPr/>
        </p:nvSpPr>
        <p:spPr>
          <a:xfrm>
            <a:off x="9767768" y="6030397"/>
            <a:ext cx="4188262" cy="630555"/>
          </a:xfrm>
          <a:prstGeom prst="rect">
            <a:avLst/>
          </a:prstGeom>
          <a:noFill/>
          <a:ln/>
        </p:spPr>
        <p:txBody>
          <a:bodyPr wrap="square" lIns="0" tIns="0" rIns="0" bIns="0" rtlCol="0" anchor="t"/>
          <a:lstStyle/>
          <a:p>
            <a:pPr marL="0" indent="0" algn="l">
              <a:lnSpc>
                <a:spcPts val="2450"/>
              </a:lnSpc>
              <a:buNone/>
            </a:pPr>
            <a:r>
              <a:rPr lang="en-US" sz="1550" dirty="0">
                <a:solidFill>
                  <a:srgbClr val="EBECEF"/>
                </a:solidFill>
                <a:latin typeface="Epilogue" pitchFamily="34" charset="0"/>
                <a:ea typeface="Epilogue" pitchFamily="34" charset="-122"/>
                <a:cs typeface="Epilogue" pitchFamily="34" charset="-120"/>
              </a:rPr>
              <a:t>Limits tree complexity to prevent overfitting</a:t>
            </a:r>
            <a:endParaRPr lang="en-US" sz="1550" dirty="0"/>
          </a:p>
        </p:txBody>
      </p:sp>
      <p:sp>
        <p:nvSpPr>
          <p:cNvPr id="31" name="Text 27"/>
          <p:cNvSpPr/>
          <p:nvPr/>
        </p:nvSpPr>
        <p:spPr>
          <a:xfrm>
            <a:off x="689491" y="7059811"/>
            <a:ext cx="13251418" cy="630555"/>
          </a:xfrm>
          <a:prstGeom prst="rect">
            <a:avLst/>
          </a:prstGeom>
          <a:noFill/>
          <a:ln/>
        </p:spPr>
        <p:txBody>
          <a:bodyPr wrap="square" lIns="0" tIns="0" rIns="0" bIns="0" rtlCol="0" anchor="t"/>
          <a:lstStyle/>
          <a:p>
            <a:pPr marL="0" indent="0" algn="l">
              <a:lnSpc>
                <a:spcPts val="2450"/>
              </a:lnSpc>
              <a:buNone/>
            </a:pPr>
            <a:r>
              <a:rPr lang="en-US" sz="1550" b="1" dirty="0">
                <a:solidFill>
                  <a:srgbClr val="EBECEF"/>
                </a:solidFill>
                <a:latin typeface="Epilogue" pitchFamily="34" charset="0"/>
                <a:ea typeface="Epilogue" pitchFamily="34" charset="-122"/>
                <a:cs typeface="Epilogue" pitchFamily="34" charset="-120"/>
              </a:rPr>
              <a:t>Outcome:</a:t>
            </a:r>
            <a:r>
              <a:rPr lang="en-US" sz="1550" dirty="0">
                <a:solidFill>
                  <a:srgbClr val="EBECEF"/>
                </a:solidFill>
                <a:latin typeface="Epilogue" pitchFamily="34" charset="0"/>
                <a:ea typeface="Epilogue" pitchFamily="34" charset="-122"/>
                <a:cs typeface="Epilogue" pitchFamily="34" charset="-120"/>
              </a:rPr>
              <a:t> Achieved stable accuracy with minimal variance across validation folds, confirming robust model performance and reliable generalisation to unseen data.</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4829" y="420291"/>
            <a:ext cx="4601289" cy="477560"/>
          </a:xfrm>
          <a:prstGeom prst="rect">
            <a:avLst/>
          </a:prstGeom>
          <a:noFill/>
          <a:ln/>
        </p:spPr>
        <p:txBody>
          <a:bodyPr wrap="none" lIns="0" tIns="0" rIns="0" bIns="0" rtlCol="0" anchor="t"/>
          <a:lstStyle/>
          <a:p>
            <a:pPr marL="0" indent="0" algn="l">
              <a:lnSpc>
                <a:spcPts val="3750"/>
              </a:lnSpc>
              <a:buNone/>
            </a:pPr>
            <a:r>
              <a:rPr lang="en-US" sz="3000" dirty="0">
                <a:solidFill>
                  <a:srgbClr val="FFFFFF"/>
                </a:solidFill>
                <a:latin typeface="Fraunces Medium" pitchFamily="34" charset="0"/>
                <a:ea typeface="Fraunces Medium" pitchFamily="34" charset="-122"/>
                <a:cs typeface="Fraunces Medium" pitchFamily="34" charset="-120"/>
              </a:rPr>
              <a:t>Model Evaluation Results</a:t>
            </a:r>
            <a:endParaRPr lang="en-US" sz="3000" dirty="0"/>
          </a:p>
        </p:txBody>
      </p:sp>
      <p:sp>
        <p:nvSpPr>
          <p:cNvPr id="3" name="Text 1"/>
          <p:cNvSpPr/>
          <p:nvPr/>
        </p:nvSpPr>
        <p:spPr>
          <a:xfrm>
            <a:off x="534829" y="1279803"/>
            <a:ext cx="2305883" cy="286464"/>
          </a:xfrm>
          <a:prstGeom prst="rect">
            <a:avLst/>
          </a:prstGeom>
          <a:noFill/>
          <a:ln/>
        </p:spPr>
        <p:txBody>
          <a:bodyPr wrap="none" lIns="0" tIns="0" rIns="0" bIns="0" rtlCol="0" anchor="t"/>
          <a:lstStyle/>
          <a:p>
            <a:pPr marL="0" indent="0" algn="l">
              <a:lnSpc>
                <a:spcPts val="2250"/>
              </a:lnSpc>
              <a:buNone/>
            </a:pPr>
            <a:r>
              <a:rPr lang="en-US" sz="1800" dirty="0">
                <a:solidFill>
                  <a:srgbClr val="FFFFFF"/>
                </a:solidFill>
                <a:latin typeface="Fraunces Medium" pitchFamily="34" charset="0"/>
                <a:ea typeface="Fraunces Medium" pitchFamily="34" charset="-122"/>
                <a:cs typeface="Fraunces Medium" pitchFamily="34" charset="-120"/>
              </a:rPr>
              <a:t>Performance Metrics</a:t>
            </a:r>
            <a:endParaRPr lang="en-US" sz="1800" dirty="0"/>
          </a:p>
        </p:txBody>
      </p:sp>
      <p:sp>
        <p:nvSpPr>
          <p:cNvPr id="4" name="Text 2"/>
          <p:cNvSpPr/>
          <p:nvPr/>
        </p:nvSpPr>
        <p:spPr>
          <a:xfrm>
            <a:off x="534829" y="1719024"/>
            <a:ext cx="6593919" cy="489109"/>
          </a:xfrm>
          <a:prstGeom prst="rect">
            <a:avLst/>
          </a:prstGeom>
          <a:noFill/>
          <a:ln/>
        </p:spPr>
        <p:txBody>
          <a:bodyPr wrap="squar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Comprehensive evaluation across multiple metrics confirms XGBoost as the optimal solution for delivery prediction:</a:t>
            </a:r>
            <a:endParaRPr lang="en-US" sz="1200" dirty="0"/>
          </a:p>
        </p:txBody>
      </p:sp>
      <p:sp>
        <p:nvSpPr>
          <p:cNvPr id="5" name="Shape 3"/>
          <p:cNvSpPr/>
          <p:nvPr/>
        </p:nvSpPr>
        <p:spPr>
          <a:xfrm>
            <a:off x="534829" y="2380059"/>
            <a:ext cx="6593919" cy="2230993"/>
          </a:xfrm>
          <a:prstGeom prst="roundRect">
            <a:avLst>
              <a:gd name="adj" fmla="val 2877"/>
            </a:avLst>
          </a:prstGeom>
          <a:noFill/>
          <a:ln w="7620">
            <a:solidFill>
              <a:srgbClr val="FFFFFF">
                <a:alpha val="24000"/>
              </a:srgbClr>
            </a:solidFill>
            <a:prstDash val="solid"/>
          </a:ln>
        </p:spPr>
      </p:sp>
      <p:sp>
        <p:nvSpPr>
          <p:cNvPr id="6" name="Shape 4"/>
          <p:cNvSpPr/>
          <p:nvPr/>
        </p:nvSpPr>
        <p:spPr>
          <a:xfrm>
            <a:off x="542449" y="2387679"/>
            <a:ext cx="6578679" cy="443151"/>
          </a:xfrm>
          <a:prstGeom prst="rect">
            <a:avLst/>
          </a:prstGeom>
          <a:solidFill>
            <a:srgbClr val="FFFFFF">
              <a:alpha val="4000"/>
            </a:srgbClr>
          </a:solidFill>
          <a:ln/>
        </p:spPr>
      </p:sp>
      <p:sp>
        <p:nvSpPr>
          <p:cNvPr id="7" name="Text 5"/>
          <p:cNvSpPr/>
          <p:nvPr/>
        </p:nvSpPr>
        <p:spPr>
          <a:xfrm>
            <a:off x="695206" y="2486978"/>
            <a:ext cx="2980015" cy="244554"/>
          </a:xfrm>
          <a:prstGeom prst="rect">
            <a:avLst/>
          </a:prstGeom>
          <a:noFill/>
          <a:ln/>
        </p:spPr>
        <p:txBody>
          <a:bodyPr wrap="none" lIns="0" tIns="0" rIns="0" bIns="0" rtlCol="0" anchor="t"/>
          <a:lstStyle/>
          <a:p>
            <a:pPr marL="0" indent="0" algn="l">
              <a:lnSpc>
                <a:spcPts val="1900"/>
              </a:lnSpc>
              <a:buNone/>
            </a:pPr>
            <a:r>
              <a:rPr lang="en-US" sz="1200" b="1" dirty="0">
                <a:solidFill>
                  <a:srgbClr val="EBECEF"/>
                </a:solidFill>
                <a:latin typeface="Epilogue" pitchFamily="34" charset="0"/>
                <a:ea typeface="Epilogue" pitchFamily="34" charset="-122"/>
                <a:cs typeface="Epilogue" pitchFamily="34" charset="-120"/>
              </a:rPr>
              <a:t>Metric</a:t>
            </a:r>
            <a:endParaRPr lang="en-US" sz="1200" dirty="0"/>
          </a:p>
        </p:txBody>
      </p:sp>
      <p:sp>
        <p:nvSpPr>
          <p:cNvPr id="8" name="Text 6"/>
          <p:cNvSpPr/>
          <p:nvPr/>
        </p:nvSpPr>
        <p:spPr>
          <a:xfrm>
            <a:off x="3988356" y="2486978"/>
            <a:ext cx="2980015" cy="244554"/>
          </a:xfrm>
          <a:prstGeom prst="rect">
            <a:avLst/>
          </a:prstGeom>
          <a:noFill/>
          <a:ln/>
        </p:spPr>
        <p:txBody>
          <a:bodyPr wrap="none" lIns="0" tIns="0" rIns="0" bIns="0" rtlCol="0" anchor="t"/>
          <a:lstStyle/>
          <a:p>
            <a:pPr marL="0" indent="0" algn="l">
              <a:lnSpc>
                <a:spcPts val="1900"/>
              </a:lnSpc>
              <a:buNone/>
            </a:pPr>
            <a:r>
              <a:rPr lang="en-US" sz="1200" b="1" dirty="0">
                <a:solidFill>
                  <a:srgbClr val="EBECEF"/>
                </a:solidFill>
                <a:latin typeface="Epilogue" pitchFamily="34" charset="0"/>
                <a:ea typeface="Epilogue" pitchFamily="34" charset="-122"/>
                <a:cs typeface="Epilogue" pitchFamily="34" charset="-120"/>
              </a:rPr>
              <a:t>Score</a:t>
            </a:r>
            <a:endParaRPr lang="en-US" sz="1200" dirty="0"/>
          </a:p>
        </p:txBody>
      </p:sp>
      <p:sp>
        <p:nvSpPr>
          <p:cNvPr id="9" name="Shape 7"/>
          <p:cNvSpPr/>
          <p:nvPr/>
        </p:nvSpPr>
        <p:spPr>
          <a:xfrm>
            <a:off x="542449" y="2830830"/>
            <a:ext cx="6578679" cy="443151"/>
          </a:xfrm>
          <a:prstGeom prst="rect">
            <a:avLst/>
          </a:prstGeom>
          <a:solidFill>
            <a:srgbClr val="000000">
              <a:alpha val="4000"/>
            </a:srgbClr>
          </a:solidFill>
          <a:ln/>
        </p:spPr>
      </p:sp>
      <p:sp>
        <p:nvSpPr>
          <p:cNvPr id="10" name="Text 8"/>
          <p:cNvSpPr/>
          <p:nvPr/>
        </p:nvSpPr>
        <p:spPr>
          <a:xfrm>
            <a:off x="695206" y="2930128"/>
            <a:ext cx="2980015" cy="244554"/>
          </a:xfrm>
          <a:prstGeom prst="rect">
            <a:avLst/>
          </a:prstGeom>
          <a:noFill/>
          <a:ln/>
        </p:spPr>
        <p:txBody>
          <a:bodyPr wrap="non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Accuracy</a:t>
            </a:r>
            <a:endParaRPr lang="en-US" sz="1200" dirty="0"/>
          </a:p>
        </p:txBody>
      </p:sp>
      <p:sp>
        <p:nvSpPr>
          <p:cNvPr id="11" name="Text 9"/>
          <p:cNvSpPr/>
          <p:nvPr/>
        </p:nvSpPr>
        <p:spPr>
          <a:xfrm>
            <a:off x="3988356" y="2930128"/>
            <a:ext cx="2980015" cy="244554"/>
          </a:xfrm>
          <a:prstGeom prst="rect">
            <a:avLst/>
          </a:prstGeom>
          <a:noFill/>
          <a:ln/>
        </p:spPr>
        <p:txBody>
          <a:bodyPr wrap="non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0.9428</a:t>
            </a:r>
            <a:endParaRPr lang="en-US" sz="1200" dirty="0"/>
          </a:p>
        </p:txBody>
      </p:sp>
      <p:sp>
        <p:nvSpPr>
          <p:cNvPr id="12" name="Shape 10"/>
          <p:cNvSpPr/>
          <p:nvPr/>
        </p:nvSpPr>
        <p:spPr>
          <a:xfrm>
            <a:off x="542449" y="3273981"/>
            <a:ext cx="6578679" cy="443151"/>
          </a:xfrm>
          <a:prstGeom prst="rect">
            <a:avLst/>
          </a:prstGeom>
          <a:solidFill>
            <a:srgbClr val="FFFFFF">
              <a:alpha val="4000"/>
            </a:srgbClr>
          </a:solidFill>
          <a:ln/>
        </p:spPr>
      </p:sp>
      <p:sp>
        <p:nvSpPr>
          <p:cNvPr id="13" name="Text 11"/>
          <p:cNvSpPr/>
          <p:nvPr/>
        </p:nvSpPr>
        <p:spPr>
          <a:xfrm>
            <a:off x="695206" y="3373279"/>
            <a:ext cx="2980015" cy="244554"/>
          </a:xfrm>
          <a:prstGeom prst="rect">
            <a:avLst/>
          </a:prstGeom>
          <a:noFill/>
          <a:ln/>
        </p:spPr>
        <p:txBody>
          <a:bodyPr wrap="non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Precision</a:t>
            </a:r>
            <a:endParaRPr lang="en-US" sz="1200" dirty="0"/>
          </a:p>
        </p:txBody>
      </p:sp>
      <p:sp>
        <p:nvSpPr>
          <p:cNvPr id="14" name="Text 12"/>
          <p:cNvSpPr/>
          <p:nvPr/>
        </p:nvSpPr>
        <p:spPr>
          <a:xfrm>
            <a:off x="3988356" y="3373279"/>
            <a:ext cx="2980015" cy="244554"/>
          </a:xfrm>
          <a:prstGeom prst="rect">
            <a:avLst/>
          </a:prstGeom>
          <a:noFill/>
          <a:ln/>
        </p:spPr>
        <p:txBody>
          <a:bodyPr wrap="non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0.9713</a:t>
            </a:r>
            <a:endParaRPr lang="en-US" sz="1200" dirty="0"/>
          </a:p>
        </p:txBody>
      </p:sp>
      <p:sp>
        <p:nvSpPr>
          <p:cNvPr id="15" name="Shape 13"/>
          <p:cNvSpPr/>
          <p:nvPr/>
        </p:nvSpPr>
        <p:spPr>
          <a:xfrm>
            <a:off x="542449" y="3717131"/>
            <a:ext cx="6578679" cy="443151"/>
          </a:xfrm>
          <a:prstGeom prst="rect">
            <a:avLst/>
          </a:prstGeom>
          <a:solidFill>
            <a:srgbClr val="000000">
              <a:alpha val="4000"/>
            </a:srgbClr>
          </a:solidFill>
          <a:ln/>
        </p:spPr>
      </p:sp>
      <p:sp>
        <p:nvSpPr>
          <p:cNvPr id="16" name="Text 14"/>
          <p:cNvSpPr/>
          <p:nvPr/>
        </p:nvSpPr>
        <p:spPr>
          <a:xfrm>
            <a:off x="695206" y="3816429"/>
            <a:ext cx="2980015" cy="244554"/>
          </a:xfrm>
          <a:prstGeom prst="rect">
            <a:avLst/>
          </a:prstGeom>
          <a:noFill/>
          <a:ln/>
        </p:spPr>
        <p:txBody>
          <a:bodyPr wrap="non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Recall</a:t>
            </a:r>
            <a:endParaRPr lang="en-US" sz="1200" dirty="0"/>
          </a:p>
        </p:txBody>
      </p:sp>
      <p:sp>
        <p:nvSpPr>
          <p:cNvPr id="17" name="Text 15"/>
          <p:cNvSpPr/>
          <p:nvPr/>
        </p:nvSpPr>
        <p:spPr>
          <a:xfrm>
            <a:off x="3988356" y="3816429"/>
            <a:ext cx="2980015" cy="244554"/>
          </a:xfrm>
          <a:prstGeom prst="rect">
            <a:avLst/>
          </a:prstGeom>
          <a:noFill/>
          <a:ln/>
        </p:spPr>
        <p:txBody>
          <a:bodyPr wrap="non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0.9114</a:t>
            </a:r>
            <a:endParaRPr lang="en-US" sz="1200" dirty="0"/>
          </a:p>
        </p:txBody>
      </p:sp>
      <p:sp>
        <p:nvSpPr>
          <p:cNvPr id="18" name="Shape 16"/>
          <p:cNvSpPr/>
          <p:nvPr/>
        </p:nvSpPr>
        <p:spPr>
          <a:xfrm>
            <a:off x="542449" y="4160282"/>
            <a:ext cx="6578679" cy="443151"/>
          </a:xfrm>
          <a:prstGeom prst="rect">
            <a:avLst/>
          </a:prstGeom>
          <a:solidFill>
            <a:srgbClr val="FFFFFF">
              <a:alpha val="4000"/>
            </a:srgbClr>
          </a:solidFill>
          <a:ln/>
        </p:spPr>
      </p:sp>
      <p:sp>
        <p:nvSpPr>
          <p:cNvPr id="19" name="Text 17"/>
          <p:cNvSpPr/>
          <p:nvPr/>
        </p:nvSpPr>
        <p:spPr>
          <a:xfrm>
            <a:off x="695206" y="4259580"/>
            <a:ext cx="2980015" cy="244554"/>
          </a:xfrm>
          <a:prstGeom prst="rect">
            <a:avLst/>
          </a:prstGeom>
          <a:noFill/>
          <a:ln/>
        </p:spPr>
        <p:txBody>
          <a:bodyPr wrap="non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F1-Score</a:t>
            </a:r>
            <a:endParaRPr lang="en-US" sz="1200" dirty="0"/>
          </a:p>
        </p:txBody>
      </p:sp>
      <p:sp>
        <p:nvSpPr>
          <p:cNvPr id="20" name="Text 18"/>
          <p:cNvSpPr/>
          <p:nvPr/>
        </p:nvSpPr>
        <p:spPr>
          <a:xfrm>
            <a:off x="3988356" y="4259580"/>
            <a:ext cx="2980015" cy="244554"/>
          </a:xfrm>
          <a:prstGeom prst="rect">
            <a:avLst/>
          </a:prstGeom>
          <a:noFill/>
          <a:ln/>
        </p:spPr>
        <p:txBody>
          <a:bodyPr wrap="non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0.9404</a:t>
            </a:r>
            <a:endParaRPr lang="en-US" sz="1200" dirty="0"/>
          </a:p>
        </p:txBody>
      </p:sp>
      <p:pic>
        <p:nvPicPr>
          <p:cNvPr id="21" name="Image 0" descr="preencoded.png"/>
          <p:cNvPicPr>
            <a:picLocks noChangeAspect="1"/>
          </p:cNvPicPr>
          <p:nvPr/>
        </p:nvPicPr>
        <p:blipFill>
          <a:blip r:embed="rId3"/>
          <a:stretch>
            <a:fillRect/>
          </a:stretch>
        </p:blipFill>
        <p:spPr>
          <a:xfrm>
            <a:off x="7509272" y="1298972"/>
            <a:ext cx="4542473" cy="3983117"/>
          </a:xfrm>
          <a:prstGeom prst="rect">
            <a:avLst/>
          </a:prstGeom>
        </p:spPr>
      </p:pic>
      <p:sp>
        <p:nvSpPr>
          <p:cNvPr id="22" name="Text 19"/>
          <p:cNvSpPr/>
          <p:nvPr/>
        </p:nvSpPr>
        <p:spPr>
          <a:xfrm>
            <a:off x="7509272" y="5454015"/>
            <a:ext cx="6593919" cy="244554"/>
          </a:xfrm>
          <a:prstGeom prst="rect">
            <a:avLst/>
          </a:prstGeom>
          <a:noFill/>
          <a:ln/>
        </p:spPr>
        <p:txBody>
          <a:bodyPr wrap="none" lIns="0" tIns="0" rIns="0" bIns="0" rtlCol="0" anchor="t"/>
          <a:lstStyle/>
          <a:p>
            <a:pPr marL="0" indent="0" algn="l">
              <a:lnSpc>
                <a:spcPts val="1900"/>
              </a:lnSpc>
              <a:buNone/>
            </a:pPr>
            <a:endParaRPr lang="en-US" sz="1200" dirty="0"/>
          </a:p>
        </p:txBody>
      </p:sp>
      <p:sp>
        <p:nvSpPr>
          <p:cNvPr id="23" name="Shape 20"/>
          <p:cNvSpPr/>
          <p:nvPr/>
        </p:nvSpPr>
        <p:spPr>
          <a:xfrm>
            <a:off x="534829" y="6008013"/>
            <a:ext cx="6703933" cy="1140381"/>
          </a:xfrm>
          <a:prstGeom prst="roundRect">
            <a:avLst>
              <a:gd name="adj" fmla="val 5629"/>
            </a:avLst>
          </a:prstGeom>
          <a:solidFill>
            <a:srgbClr val="283157"/>
          </a:solidFill>
          <a:ln w="7620">
            <a:solidFill>
              <a:srgbClr val="414A70"/>
            </a:solidFill>
            <a:prstDash val="solid"/>
          </a:ln>
        </p:spPr>
      </p:sp>
      <p:sp>
        <p:nvSpPr>
          <p:cNvPr id="24" name="Text 21"/>
          <p:cNvSpPr/>
          <p:nvPr/>
        </p:nvSpPr>
        <p:spPr>
          <a:xfrm>
            <a:off x="695206" y="6168390"/>
            <a:ext cx="1967627" cy="238839"/>
          </a:xfrm>
          <a:prstGeom prst="rect">
            <a:avLst/>
          </a:prstGeom>
          <a:noFill/>
          <a:ln/>
        </p:spPr>
        <p:txBody>
          <a:bodyPr wrap="none" lIns="0" tIns="0" rIns="0" bIns="0" rtlCol="0" anchor="t"/>
          <a:lstStyle/>
          <a:p>
            <a:pPr marL="0" indent="0" algn="l">
              <a:lnSpc>
                <a:spcPts val="1850"/>
              </a:lnSpc>
              <a:buNone/>
            </a:pPr>
            <a:r>
              <a:rPr lang="en-US" sz="1500" dirty="0">
                <a:solidFill>
                  <a:srgbClr val="EBECEF"/>
                </a:solidFill>
                <a:latin typeface="Fraunces Medium" pitchFamily="34" charset="0"/>
                <a:ea typeface="Fraunces Medium" pitchFamily="34" charset="-122"/>
                <a:cs typeface="Fraunces Medium" pitchFamily="34" charset="-120"/>
              </a:rPr>
              <a:t>Exceptional Accuracy</a:t>
            </a:r>
            <a:endParaRPr lang="en-US" sz="1500" dirty="0"/>
          </a:p>
        </p:txBody>
      </p:sp>
      <p:sp>
        <p:nvSpPr>
          <p:cNvPr id="25" name="Text 22"/>
          <p:cNvSpPr/>
          <p:nvPr/>
        </p:nvSpPr>
        <p:spPr>
          <a:xfrm>
            <a:off x="695206" y="6498908"/>
            <a:ext cx="6383179" cy="489109"/>
          </a:xfrm>
          <a:prstGeom prst="rect">
            <a:avLst/>
          </a:prstGeom>
          <a:noFill/>
          <a:ln/>
        </p:spPr>
        <p:txBody>
          <a:bodyPr wrap="squar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94% overall prediction accuracy demonstrates strong performance across both delivery outcome classes</a:t>
            </a:r>
            <a:endParaRPr lang="en-US" sz="1200" dirty="0"/>
          </a:p>
        </p:txBody>
      </p:sp>
      <p:sp>
        <p:nvSpPr>
          <p:cNvPr id="26" name="Shape 23"/>
          <p:cNvSpPr/>
          <p:nvPr/>
        </p:nvSpPr>
        <p:spPr>
          <a:xfrm>
            <a:off x="7391519" y="6008013"/>
            <a:ext cx="6704052" cy="1140381"/>
          </a:xfrm>
          <a:prstGeom prst="roundRect">
            <a:avLst>
              <a:gd name="adj" fmla="val 5629"/>
            </a:avLst>
          </a:prstGeom>
          <a:solidFill>
            <a:srgbClr val="283157"/>
          </a:solidFill>
          <a:ln w="7620">
            <a:solidFill>
              <a:srgbClr val="414A70"/>
            </a:solidFill>
            <a:prstDash val="solid"/>
          </a:ln>
        </p:spPr>
      </p:sp>
      <p:sp>
        <p:nvSpPr>
          <p:cNvPr id="27" name="Text 24"/>
          <p:cNvSpPr/>
          <p:nvPr/>
        </p:nvSpPr>
        <p:spPr>
          <a:xfrm>
            <a:off x="7551896" y="6168390"/>
            <a:ext cx="1910358" cy="238839"/>
          </a:xfrm>
          <a:prstGeom prst="rect">
            <a:avLst/>
          </a:prstGeom>
          <a:noFill/>
          <a:ln/>
        </p:spPr>
        <p:txBody>
          <a:bodyPr wrap="none" lIns="0" tIns="0" rIns="0" bIns="0" rtlCol="0" anchor="t"/>
          <a:lstStyle/>
          <a:p>
            <a:pPr marL="0" indent="0" algn="l">
              <a:lnSpc>
                <a:spcPts val="1850"/>
              </a:lnSpc>
              <a:buNone/>
            </a:pPr>
            <a:r>
              <a:rPr lang="en-US" sz="1500" dirty="0">
                <a:solidFill>
                  <a:srgbClr val="EBECEF"/>
                </a:solidFill>
                <a:latin typeface="Fraunces Medium" pitchFamily="34" charset="0"/>
                <a:ea typeface="Fraunces Medium" pitchFamily="34" charset="-122"/>
                <a:cs typeface="Fraunces Medium" pitchFamily="34" charset="-120"/>
              </a:rPr>
              <a:t>Balanced Metrics</a:t>
            </a:r>
            <a:endParaRPr lang="en-US" sz="1500" dirty="0"/>
          </a:p>
        </p:txBody>
      </p:sp>
      <p:sp>
        <p:nvSpPr>
          <p:cNvPr id="28" name="Text 25"/>
          <p:cNvSpPr/>
          <p:nvPr/>
        </p:nvSpPr>
        <p:spPr>
          <a:xfrm>
            <a:off x="7551896" y="6498908"/>
            <a:ext cx="6383298" cy="489109"/>
          </a:xfrm>
          <a:prstGeom prst="rect">
            <a:avLst/>
          </a:prstGeom>
          <a:noFill/>
          <a:ln/>
        </p:spPr>
        <p:txBody>
          <a:bodyPr wrap="square" lIns="0" tIns="0" rIns="0" bIns="0" rtlCol="0" anchor="t"/>
          <a:lstStyle/>
          <a:p>
            <a:pPr marL="0" indent="0" algn="l">
              <a:lnSpc>
                <a:spcPts val="1900"/>
              </a:lnSpc>
              <a:buNone/>
            </a:pPr>
            <a:r>
              <a:rPr lang="en-US" sz="1200" dirty="0">
                <a:solidFill>
                  <a:srgbClr val="EBECEF"/>
                </a:solidFill>
                <a:latin typeface="Epilogue" pitchFamily="34" charset="0"/>
                <a:ea typeface="Epilogue" pitchFamily="34" charset="-122"/>
                <a:cs typeface="Epilogue" pitchFamily="34" charset="-120"/>
              </a:rPr>
              <a:t>High precision and recall scores indicate reliable prediction of both on-time and delayed shipments</a:t>
            </a:r>
            <a:endParaRPr lang="en-US" sz="1200" dirty="0"/>
          </a:p>
        </p:txBody>
      </p:sp>
      <p:sp>
        <p:nvSpPr>
          <p:cNvPr id="29" name="Text 26"/>
          <p:cNvSpPr/>
          <p:nvPr/>
        </p:nvSpPr>
        <p:spPr>
          <a:xfrm>
            <a:off x="534829" y="7320320"/>
            <a:ext cx="13560743" cy="489109"/>
          </a:xfrm>
          <a:prstGeom prst="rect">
            <a:avLst/>
          </a:prstGeom>
          <a:noFill/>
          <a:ln/>
        </p:spPr>
        <p:txBody>
          <a:bodyPr wrap="square" lIns="0" tIns="0" rIns="0" bIns="0" rtlCol="0" anchor="t"/>
          <a:lstStyle/>
          <a:p>
            <a:pPr marL="0" indent="0" algn="l">
              <a:lnSpc>
                <a:spcPts val="1900"/>
              </a:lnSpc>
              <a:buNone/>
            </a:pPr>
            <a:r>
              <a:rPr lang="en-US" sz="1200" b="1" dirty="0">
                <a:solidFill>
                  <a:srgbClr val="EBECEF"/>
                </a:solidFill>
                <a:latin typeface="Epilogue" pitchFamily="34" charset="0"/>
                <a:ea typeface="Epilogue" pitchFamily="34" charset="-122"/>
                <a:cs typeface="Epilogue" pitchFamily="34" charset="-120"/>
              </a:rPr>
              <a:t>Best Model:</a:t>
            </a:r>
            <a:r>
              <a:rPr lang="en-US" sz="1200" dirty="0">
                <a:solidFill>
                  <a:srgbClr val="EBECEF"/>
                </a:solidFill>
                <a:latin typeface="Epilogue" pitchFamily="34" charset="0"/>
                <a:ea typeface="Epilogue" pitchFamily="34" charset="-122"/>
                <a:cs typeface="Epilogue" pitchFamily="34" charset="-120"/>
              </a:rPr>
              <a:t> XGBoost Classifier outperformed all competing algorithms through superior handling of complex feature interactions, robust regularisation control, and optimised hyperparameter configuration. The confusion matrix and ROC curve validate consistent performance across all evaluation criteria.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6249" y="366355"/>
            <a:ext cx="6842641" cy="416243"/>
          </a:xfrm>
          <a:prstGeom prst="rect">
            <a:avLst/>
          </a:prstGeom>
          <a:noFill/>
          <a:ln/>
        </p:spPr>
        <p:txBody>
          <a:bodyPr wrap="none" lIns="0" tIns="0" rIns="0" bIns="0" rtlCol="0" anchor="t"/>
          <a:lstStyle/>
          <a:p>
            <a:pPr marL="0" indent="0" algn="l">
              <a:lnSpc>
                <a:spcPts val="3250"/>
              </a:lnSpc>
              <a:buNone/>
            </a:pPr>
            <a:r>
              <a:rPr lang="en-US" sz="2600" dirty="0">
                <a:solidFill>
                  <a:srgbClr val="FFFFFF"/>
                </a:solidFill>
                <a:latin typeface="Fraunces Medium" pitchFamily="34" charset="0"/>
                <a:ea typeface="Fraunces Medium" pitchFamily="34" charset="-122"/>
                <a:cs typeface="Fraunces Medium" pitchFamily="34" charset="-120"/>
              </a:rPr>
              <a:t>Model Evaluation Results</a:t>
            </a:r>
          </a:p>
          <a:p>
            <a:pPr marL="0" indent="0" algn="l">
              <a:lnSpc>
                <a:spcPts val="3250"/>
              </a:lnSpc>
              <a:buNone/>
            </a:pPr>
            <a:endParaRPr lang="en-US" sz="2600" dirty="0"/>
          </a:p>
        </p:txBody>
      </p:sp>
      <p:sp>
        <p:nvSpPr>
          <p:cNvPr id="3" name="Shape 1"/>
          <p:cNvSpPr/>
          <p:nvPr/>
        </p:nvSpPr>
        <p:spPr>
          <a:xfrm>
            <a:off x="466249" y="1048941"/>
            <a:ext cx="13697902" cy="3508534"/>
          </a:xfrm>
          <a:prstGeom prst="roundRect">
            <a:avLst>
              <a:gd name="adj" fmla="val 1595"/>
            </a:avLst>
          </a:prstGeom>
          <a:noFill/>
          <a:ln w="7620">
            <a:solidFill>
              <a:srgbClr val="FFFFFF">
                <a:alpha val="24000"/>
              </a:srgbClr>
            </a:solidFill>
            <a:prstDash val="solid"/>
          </a:ln>
        </p:spPr>
      </p:sp>
      <p:sp>
        <p:nvSpPr>
          <p:cNvPr id="4" name="Shape 2"/>
          <p:cNvSpPr/>
          <p:nvPr/>
        </p:nvSpPr>
        <p:spPr>
          <a:xfrm>
            <a:off x="473869" y="1056561"/>
            <a:ext cx="13682663" cy="388144"/>
          </a:xfrm>
          <a:prstGeom prst="rect">
            <a:avLst/>
          </a:prstGeom>
          <a:solidFill>
            <a:srgbClr val="FFFFFF">
              <a:alpha val="4000"/>
            </a:srgbClr>
          </a:solidFill>
          <a:ln/>
        </p:spPr>
      </p:sp>
      <p:sp>
        <p:nvSpPr>
          <p:cNvPr id="5" name="Text 3"/>
          <p:cNvSpPr/>
          <p:nvPr/>
        </p:nvSpPr>
        <p:spPr>
          <a:xfrm>
            <a:off x="607219" y="1144072"/>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Model</a:t>
            </a:r>
            <a:endParaRPr lang="en-US" sz="1000" dirty="0"/>
          </a:p>
        </p:txBody>
      </p:sp>
      <p:sp>
        <p:nvSpPr>
          <p:cNvPr id="6" name="Text 4"/>
          <p:cNvSpPr/>
          <p:nvPr/>
        </p:nvSpPr>
        <p:spPr>
          <a:xfrm>
            <a:off x="3459718" y="1144072"/>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Accuracy</a:t>
            </a:r>
            <a:endParaRPr lang="en-US" sz="1000" dirty="0"/>
          </a:p>
        </p:txBody>
      </p:sp>
      <p:sp>
        <p:nvSpPr>
          <p:cNvPr id="7" name="Text 5"/>
          <p:cNvSpPr/>
          <p:nvPr/>
        </p:nvSpPr>
        <p:spPr>
          <a:xfrm>
            <a:off x="5624274" y="1144072"/>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Precision</a:t>
            </a:r>
            <a:endParaRPr lang="en-US" sz="1000" dirty="0"/>
          </a:p>
        </p:txBody>
      </p:sp>
      <p:sp>
        <p:nvSpPr>
          <p:cNvPr id="8" name="Text 6"/>
          <p:cNvSpPr/>
          <p:nvPr/>
        </p:nvSpPr>
        <p:spPr>
          <a:xfrm>
            <a:off x="7791569" y="1144072"/>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Recall</a:t>
            </a:r>
            <a:endParaRPr lang="en-US" sz="1000" dirty="0"/>
          </a:p>
        </p:txBody>
      </p:sp>
      <p:sp>
        <p:nvSpPr>
          <p:cNvPr id="9" name="Text 7"/>
          <p:cNvSpPr/>
          <p:nvPr/>
        </p:nvSpPr>
        <p:spPr>
          <a:xfrm>
            <a:off x="9958864" y="1144072"/>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F1=score</a:t>
            </a:r>
            <a:endParaRPr lang="en-US" sz="1000" dirty="0"/>
          </a:p>
        </p:txBody>
      </p:sp>
      <p:sp>
        <p:nvSpPr>
          <p:cNvPr id="10" name="Text 8"/>
          <p:cNvSpPr/>
          <p:nvPr/>
        </p:nvSpPr>
        <p:spPr>
          <a:xfrm>
            <a:off x="12126158" y="1144072"/>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ROC-AUC</a:t>
            </a:r>
            <a:endParaRPr lang="en-US" sz="1000" dirty="0"/>
          </a:p>
        </p:txBody>
      </p:sp>
      <p:sp>
        <p:nvSpPr>
          <p:cNvPr id="11" name="Shape 9"/>
          <p:cNvSpPr/>
          <p:nvPr/>
        </p:nvSpPr>
        <p:spPr>
          <a:xfrm>
            <a:off x="473869" y="1444704"/>
            <a:ext cx="13682663" cy="388144"/>
          </a:xfrm>
          <a:prstGeom prst="rect">
            <a:avLst/>
          </a:prstGeom>
          <a:solidFill>
            <a:srgbClr val="000000">
              <a:alpha val="4000"/>
            </a:srgbClr>
          </a:solidFill>
          <a:ln/>
        </p:spPr>
      </p:sp>
      <p:sp>
        <p:nvSpPr>
          <p:cNvPr id="12" name="Text 10"/>
          <p:cNvSpPr/>
          <p:nvPr/>
        </p:nvSpPr>
        <p:spPr>
          <a:xfrm>
            <a:off x="607219" y="1532215"/>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LightGBM</a:t>
            </a:r>
            <a:endParaRPr lang="en-US" sz="1000" dirty="0"/>
          </a:p>
        </p:txBody>
      </p:sp>
      <p:sp>
        <p:nvSpPr>
          <p:cNvPr id="13" name="Text 11"/>
          <p:cNvSpPr/>
          <p:nvPr/>
        </p:nvSpPr>
        <p:spPr>
          <a:xfrm>
            <a:off x="3459718" y="1532215"/>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0.8378</a:t>
            </a:r>
            <a:endParaRPr lang="en-US" sz="1000" dirty="0"/>
          </a:p>
        </p:txBody>
      </p:sp>
      <p:sp>
        <p:nvSpPr>
          <p:cNvPr id="14" name="Text 12"/>
          <p:cNvSpPr/>
          <p:nvPr/>
        </p:nvSpPr>
        <p:spPr>
          <a:xfrm>
            <a:off x="5624274" y="1532215"/>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0.9242</a:t>
            </a:r>
            <a:endParaRPr lang="en-US" sz="1000" dirty="0"/>
          </a:p>
        </p:txBody>
      </p:sp>
      <p:sp>
        <p:nvSpPr>
          <p:cNvPr id="15" name="Text 13"/>
          <p:cNvSpPr/>
          <p:nvPr/>
        </p:nvSpPr>
        <p:spPr>
          <a:xfrm>
            <a:off x="7791569" y="1532215"/>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0.7326</a:t>
            </a:r>
            <a:endParaRPr lang="en-US" sz="1000" dirty="0"/>
          </a:p>
        </p:txBody>
      </p:sp>
      <p:sp>
        <p:nvSpPr>
          <p:cNvPr id="16" name="Text 14"/>
          <p:cNvSpPr/>
          <p:nvPr/>
        </p:nvSpPr>
        <p:spPr>
          <a:xfrm>
            <a:off x="9958864" y="1532215"/>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0.8173</a:t>
            </a:r>
            <a:endParaRPr lang="en-US" sz="1000" dirty="0"/>
          </a:p>
        </p:txBody>
      </p:sp>
      <p:sp>
        <p:nvSpPr>
          <p:cNvPr id="17" name="Text 15"/>
          <p:cNvSpPr/>
          <p:nvPr/>
        </p:nvSpPr>
        <p:spPr>
          <a:xfrm>
            <a:off x="12126158" y="1532215"/>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0.9420</a:t>
            </a:r>
            <a:endParaRPr lang="en-US" sz="1000" dirty="0"/>
          </a:p>
        </p:txBody>
      </p:sp>
      <p:sp>
        <p:nvSpPr>
          <p:cNvPr id="18" name="Shape 16"/>
          <p:cNvSpPr/>
          <p:nvPr/>
        </p:nvSpPr>
        <p:spPr>
          <a:xfrm>
            <a:off x="473869" y="1832848"/>
            <a:ext cx="13682663" cy="388144"/>
          </a:xfrm>
          <a:prstGeom prst="rect">
            <a:avLst/>
          </a:prstGeom>
          <a:solidFill>
            <a:srgbClr val="FFFFFF">
              <a:alpha val="4000"/>
            </a:srgbClr>
          </a:solidFill>
          <a:ln/>
        </p:spPr>
      </p:sp>
      <p:sp>
        <p:nvSpPr>
          <p:cNvPr id="19" name="Text 17"/>
          <p:cNvSpPr/>
          <p:nvPr/>
        </p:nvSpPr>
        <p:spPr>
          <a:xfrm>
            <a:off x="607219" y="1920359"/>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CatBoost</a:t>
            </a:r>
            <a:endParaRPr lang="en-US" sz="1000" dirty="0"/>
          </a:p>
        </p:txBody>
      </p:sp>
      <p:sp>
        <p:nvSpPr>
          <p:cNvPr id="20" name="Text 18"/>
          <p:cNvSpPr/>
          <p:nvPr/>
        </p:nvSpPr>
        <p:spPr>
          <a:xfrm>
            <a:off x="3459718" y="1920359"/>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0.8111</a:t>
            </a:r>
            <a:endParaRPr lang="en-US" sz="1000" dirty="0"/>
          </a:p>
        </p:txBody>
      </p:sp>
      <p:sp>
        <p:nvSpPr>
          <p:cNvPr id="21" name="Text 19"/>
          <p:cNvSpPr/>
          <p:nvPr/>
        </p:nvSpPr>
        <p:spPr>
          <a:xfrm>
            <a:off x="5624274" y="1920359"/>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0.9151</a:t>
            </a:r>
            <a:endParaRPr lang="en-US" sz="1000" dirty="0"/>
          </a:p>
        </p:txBody>
      </p:sp>
      <p:sp>
        <p:nvSpPr>
          <p:cNvPr id="22" name="Text 20"/>
          <p:cNvSpPr/>
          <p:nvPr/>
        </p:nvSpPr>
        <p:spPr>
          <a:xfrm>
            <a:off x="7791569" y="1920359"/>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0.6820</a:t>
            </a:r>
            <a:endParaRPr lang="en-US" sz="1000" dirty="0"/>
          </a:p>
        </p:txBody>
      </p:sp>
      <p:sp>
        <p:nvSpPr>
          <p:cNvPr id="23" name="Text 21"/>
          <p:cNvSpPr/>
          <p:nvPr/>
        </p:nvSpPr>
        <p:spPr>
          <a:xfrm>
            <a:off x="9958864" y="1920359"/>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0.7815</a:t>
            </a:r>
            <a:endParaRPr lang="en-US" sz="1000" dirty="0"/>
          </a:p>
        </p:txBody>
      </p:sp>
      <p:sp>
        <p:nvSpPr>
          <p:cNvPr id="24" name="Text 22"/>
          <p:cNvSpPr/>
          <p:nvPr/>
        </p:nvSpPr>
        <p:spPr>
          <a:xfrm>
            <a:off x="12126158" y="1920359"/>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0.9289</a:t>
            </a:r>
            <a:endParaRPr lang="en-US" sz="1000" dirty="0"/>
          </a:p>
        </p:txBody>
      </p:sp>
      <p:sp>
        <p:nvSpPr>
          <p:cNvPr id="25" name="Shape 23"/>
          <p:cNvSpPr/>
          <p:nvPr/>
        </p:nvSpPr>
        <p:spPr>
          <a:xfrm>
            <a:off x="473869" y="2220992"/>
            <a:ext cx="13682663" cy="388144"/>
          </a:xfrm>
          <a:prstGeom prst="rect">
            <a:avLst/>
          </a:prstGeom>
          <a:solidFill>
            <a:srgbClr val="000000">
              <a:alpha val="4000"/>
            </a:srgbClr>
          </a:solidFill>
          <a:ln/>
        </p:spPr>
      </p:sp>
      <p:sp>
        <p:nvSpPr>
          <p:cNvPr id="26" name="Text 24"/>
          <p:cNvSpPr/>
          <p:nvPr/>
        </p:nvSpPr>
        <p:spPr>
          <a:xfrm>
            <a:off x="607219" y="2308503"/>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Random Forest</a:t>
            </a:r>
            <a:endParaRPr lang="en-US" sz="1000" dirty="0"/>
          </a:p>
        </p:txBody>
      </p:sp>
      <p:sp>
        <p:nvSpPr>
          <p:cNvPr id="27" name="Text 25"/>
          <p:cNvSpPr/>
          <p:nvPr/>
        </p:nvSpPr>
        <p:spPr>
          <a:xfrm>
            <a:off x="3459718" y="2308503"/>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0.7367</a:t>
            </a:r>
            <a:endParaRPr lang="en-US" sz="1000" dirty="0"/>
          </a:p>
        </p:txBody>
      </p:sp>
      <p:sp>
        <p:nvSpPr>
          <p:cNvPr id="28" name="Text 26"/>
          <p:cNvSpPr/>
          <p:nvPr/>
        </p:nvSpPr>
        <p:spPr>
          <a:xfrm>
            <a:off x="5624274" y="2308503"/>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0.9458</a:t>
            </a:r>
            <a:endParaRPr lang="en-US" sz="1000" dirty="0"/>
          </a:p>
        </p:txBody>
      </p:sp>
      <p:sp>
        <p:nvSpPr>
          <p:cNvPr id="29" name="Text 27"/>
          <p:cNvSpPr/>
          <p:nvPr/>
        </p:nvSpPr>
        <p:spPr>
          <a:xfrm>
            <a:off x="7791569" y="2308503"/>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0.4968</a:t>
            </a:r>
            <a:endParaRPr lang="en-US" sz="1000" dirty="0"/>
          </a:p>
        </p:txBody>
      </p:sp>
      <p:sp>
        <p:nvSpPr>
          <p:cNvPr id="30" name="Text 28"/>
          <p:cNvSpPr/>
          <p:nvPr/>
        </p:nvSpPr>
        <p:spPr>
          <a:xfrm>
            <a:off x="9958864" y="2308503"/>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0.6515</a:t>
            </a:r>
            <a:endParaRPr lang="en-US" sz="1000" dirty="0"/>
          </a:p>
        </p:txBody>
      </p:sp>
      <p:sp>
        <p:nvSpPr>
          <p:cNvPr id="31" name="Text 29"/>
          <p:cNvSpPr/>
          <p:nvPr/>
        </p:nvSpPr>
        <p:spPr>
          <a:xfrm>
            <a:off x="12126158" y="2308503"/>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0.9114</a:t>
            </a:r>
            <a:endParaRPr lang="en-US" sz="1000" dirty="0"/>
          </a:p>
        </p:txBody>
      </p:sp>
      <p:sp>
        <p:nvSpPr>
          <p:cNvPr id="32" name="Shape 30"/>
          <p:cNvSpPr/>
          <p:nvPr/>
        </p:nvSpPr>
        <p:spPr>
          <a:xfrm>
            <a:off x="473869" y="2609136"/>
            <a:ext cx="13682663" cy="388144"/>
          </a:xfrm>
          <a:prstGeom prst="rect">
            <a:avLst/>
          </a:prstGeom>
          <a:solidFill>
            <a:srgbClr val="FFFFFF">
              <a:alpha val="4000"/>
            </a:srgbClr>
          </a:solidFill>
          <a:ln/>
        </p:spPr>
      </p:sp>
      <p:sp>
        <p:nvSpPr>
          <p:cNvPr id="33" name="Text 31"/>
          <p:cNvSpPr/>
          <p:nvPr/>
        </p:nvSpPr>
        <p:spPr>
          <a:xfrm>
            <a:off x="607219" y="2696647"/>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KNN</a:t>
            </a:r>
            <a:endParaRPr lang="en-US" sz="1000" dirty="0"/>
          </a:p>
        </p:txBody>
      </p:sp>
      <p:sp>
        <p:nvSpPr>
          <p:cNvPr id="34" name="Text 32"/>
          <p:cNvSpPr/>
          <p:nvPr/>
        </p:nvSpPr>
        <p:spPr>
          <a:xfrm>
            <a:off x="3459718" y="2696647"/>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0.6693</a:t>
            </a:r>
            <a:endParaRPr lang="en-US" sz="1000" dirty="0"/>
          </a:p>
        </p:txBody>
      </p:sp>
      <p:sp>
        <p:nvSpPr>
          <p:cNvPr id="35" name="Text 33"/>
          <p:cNvSpPr/>
          <p:nvPr/>
        </p:nvSpPr>
        <p:spPr>
          <a:xfrm>
            <a:off x="5624274" y="2696647"/>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0.6733</a:t>
            </a:r>
            <a:endParaRPr lang="en-US" sz="1000" dirty="0"/>
          </a:p>
        </p:txBody>
      </p:sp>
      <p:sp>
        <p:nvSpPr>
          <p:cNvPr id="36" name="Text 34"/>
          <p:cNvSpPr/>
          <p:nvPr/>
        </p:nvSpPr>
        <p:spPr>
          <a:xfrm>
            <a:off x="7791569" y="2696647"/>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0.6456</a:t>
            </a:r>
            <a:endParaRPr lang="en-US" sz="1000" dirty="0"/>
          </a:p>
        </p:txBody>
      </p:sp>
      <p:sp>
        <p:nvSpPr>
          <p:cNvPr id="37" name="Text 35"/>
          <p:cNvSpPr/>
          <p:nvPr/>
        </p:nvSpPr>
        <p:spPr>
          <a:xfrm>
            <a:off x="9958864" y="2696647"/>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0.6591</a:t>
            </a:r>
            <a:endParaRPr lang="en-US" sz="1000" dirty="0"/>
          </a:p>
        </p:txBody>
      </p:sp>
      <p:sp>
        <p:nvSpPr>
          <p:cNvPr id="38" name="Text 36"/>
          <p:cNvSpPr/>
          <p:nvPr/>
        </p:nvSpPr>
        <p:spPr>
          <a:xfrm>
            <a:off x="12126158" y="2696647"/>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0.7292</a:t>
            </a:r>
            <a:endParaRPr lang="en-US" sz="1000" dirty="0"/>
          </a:p>
        </p:txBody>
      </p:sp>
      <p:sp>
        <p:nvSpPr>
          <p:cNvPr id="39" name="Shape 37"/>
          <p:cNvSpPr/>
          <p:nvPr/>
        </p:nvSpPr>
        <p:spPr>
          <a:xfrm>
            <a:off x="473869" y="2997279"/>
            <a:ext cx="13682663" cy="388144"/>
          </a:xfrm>
          <a:prstGeom prst="rect">
            <a:avLst/>
          </a:prstGeom>
          <a:solidFill>
            <a:srgbClr val="000000">
              <a:alpha val="4000"/>
            </a:srgbClr>
          </a:solidFill>
          <a:ln/>
        </p:spPr>
      </p:sp>
      <p:sp>
        <p:nvSpPr>
          <p:cNvPr id="40" name="Text 38"/>
          <p:cNvSpPr/>
          <p:nvPr/>
        </p:nvSpPr>
        <p:spPr>
          <a:xfrm>
            <a:off x="607219" y="3084790"/>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Decision Tree</a:t>
            </a:r>
            <a:endParaRPr lang="en-US" sz="1000" dirty="0"/>
          </a:p>
        </p:txBody>
      </p:sp>
      <p:sp>
        <p:nvSpPr>
          <p:cNvPr id="41" name="Text 39"/>
          <p:cNvSpPr/>
          <p:nvPr/>
        </p:nvSpPr>
        <p:spPr>
          <a:xfrm>
            <a:off x="3459718" y="3084790"/>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0.6528</a:t>
            </a:r>
            <a:endParaRPr lang="en-US" sz="1000" dirty="0"/>
          </a:p>
        </p:txBody>
      </p:sp>
      <p:sp>
        <p:nvSpPr>
          <p:cNvPr id="42" name="Text 40"/>
          <p:cNvSpPr/>
          <p:nvPr/>
        </p:nvSpPr>
        <p:spPr>
          <a:xfrm>
            <a:off x="5624274" y="3084790"/>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0.7981</a:t>
            </a:r>
            <a:endParaRPr lang="en-US" sz="1000" dirty="0"/>
          </a:p>
        </p:txBody>
      </p:sp>
      <p:sp>
        <p:nvSpPr>
          <p:cNvPr id="43" name="Text 41"/>
          <p:cNvSpPr/>
          <p:nvPr/>
        </p:nvSpPr>
        <p:spPr>
          <a:xfrm>
            <a:off x="7791569" y="3084790"/>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0.4003</a:t>
            </a:r>
            <a:endParaRPr lang="en-US" sz="1000" dirty="0"/>
          </a:p>
        </p:txBody>
      </p:sp>
      <p:sp>
        <p:nvSpPr>
          <p:cNvPr id="44" name="Text 42"/>
          <p:cNvSpPr/>
          <p:nvPr/>
        </p:nvSpPr>
        <p:spPr>
          <a:xfrm>
            <a:off x="9958864" y="3084790"/>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0.5332</a:t>
            </a:r>
            <a:endParaRPr lang="en-US" sz="1000" dirty="0"/>
          </a:p>
        </p:txBody>
      </p:sp>
      <p:sp>
        <p:nvSpPr>
          <p:cNvPr id="45" name="Text 43"/>
          <p:cNvSpPr/>
          <p:nvPr/>
        </p:nvSpPr>
        <p:spPr>
          <a:xfrm>
            <a:off x="12126158" y="3084790"/>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0.7137</a:t>
            </a:r>
            <a:endParaRPr lang="en-US" sz="1000" dirty="0"/>
          </a:p>
        </p:txBody>
      </p:sp>
      <p:sp>
        <p:nvSpPr>
          <p:cNvPr id="46" name="Shape 44"/>
          <p:cNvSpPr/>
          <p:nvPr/>
        </p:nvSpPr>
        <p:spPr>
          <a:xfrm>
            <a:off x="473869" y="3385423"/>
            <a:ext cx="13682663" cy="388144"/>
          </a:xfrm>
          <a:prstGeom prst="rect">
            <a:avLst/>
          </a:prstGeom>
          <a:solidFill>
            <a:srgbClr val="FFFFFF">
              <a:alpha val="4000"/>
            </a:srgbClr>
          </a:solidFill>
          <a:ln/>
        </p:spPr>
      </p:sp>
      <p:sp>
        <p:nvSpPr>
          <p:cNvPr id="47" name="Text 45"/>
          <p:cNvSpPr/>
          <p:nvPr/>
        </p:nvSpPr>
        <p:spPr>
          <a:xfrm>
            <a:off x="607219" y="3472934"/>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Logistic Regression</a:t>
            </a:r>
            <a:endParaRPr lang="en-US" sz="1000" dirty="0"/>
          </a:p>
        </p:txBody>
      </p:sp>
      <p:sp>
        <p:nvSpPr>
          <p:cNvPr id="48" name="Text 46"/>
          <p:cNvSpPr/>
          <p:nvPr/>
        </p:nvSpPr>
        <p:spPr>
          <a:xfrm>
            <a:off x="3459718" y="3472934"/>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0.5690</a:t>
            </a:r>
            <a:endParaRPr lang="en-US" sz="1000" dirty="0"/>
          </a:p>
        </p:txBody>
      </p:sp>
      <p:sp>
        <p:nvSpPr>
          <p:cNvPr id="49" name="Text 47"/>
          <p:cNvSpPr/>
          <p:nvPr/>
        </p:nvSpPr>
        <p:spPr>
          <a:xfrm>
            <a:off x="5624274" y="3472934"/>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0.5697</a:t>
            </a:r>
            <a:endParaRPr lang="en-US" sz="1000" dirty="0"/>
          </a:p>
        </p:txBody>
      </p:sp>
      <p:sp>
        <p:nvSpPr>
          <p:cNvPr id="50" name="Text 48"/>
          <p:cNvSpPr/>
          <p:nvPr/>
        </p:nvSpPr>
        <p:spPr>
          <a:xfrm>
            <a:off x="7791569" y="3472934"/>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0.5301</a:t>
            </a:r>
            <a:endParaRPr lang="en-US" sz="1000" dirty="0"/>
          </a:p>
        </p:txBody>
      </p:sp>
      <p:sp>
        <p:nvSpPr>
          <p:cNvPr id="51" name="Text 49"/>
          <p:cNvSpPr/>
          <p:nvPr/>
        </p:nvSpPr>
        <p:spPr>
          <a:xfrm>
            <a:off x="9958864" y="3472934"/>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0.5492</a:t>
            </a:r>
            <a:endParaRPr lang="en-US" sz="1000" dirty="0"/>
          </a:p>
        </p:txBody>
      </p:sp>
      <p:sp>
        <p:nvSpPr>
          <p:cNvPr id="52" name="Text 50"/>
          <p:cNvSpPr/>
          <p:nvPr/>
        </p:nvSpPr>
        <p:spPr>
          <a:xfrm>
            <a:off x="12126158" y="3472934"/>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0.6137</a:t>
            </a:r>
            <a:endParaRPr lang="en-US" sz="1000" dirty="0"/>
          </a:p>
        </p:txBody>
      </p:sp>
      <p:sp>
        <p:nvSpPr>
          <p:cNvPr id="53" name="Shape 51"/>
          <p:cNvSpPr/>
          <p:nvPr/>
        </p:nvSpPr>
        <p:spPr>
          <a:xfrm>
            <a:off x="473869" y="3773567"/>
            <a:ext cx="13682663" cy="388144"/>
          </a:xfrm>
          <a:prstGeom prst="rect">
            <a:avLst/>
          </a:prstGeom>
          <a:solidFill>
            <a:srgbClr val="000000">
              <a:alpha val="4000"/>
            </a:srgbClr>
          </a:solidFill>
          <a:ln/>
        </p:spPr>
      </p:sp>
      <p:sp>
        <p:nvSpPr>
          <p:cNvPr id="54" name="Text 52"/>
          <p:cNvSpPr/>
          <p:nvPr/>
        </p:nvSpPr>
        <p:spPr>
          <a:xfrm>
            <a:off x="607219" y="3861078"/>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Naive Bayes</a:t>
            </a:r>
            <a:endParaRPr lang="en-US" sz="1000" dirty="0"/>
          </a:p>
        </p:txBody>
      </p:sp>
      <p:sp>
        <p:nvSpPr>
          <p:cNvPr id="55" name="Text 53"/>
          <p:cNvSpPr/>
          <p:nvPr/>
        </p:nvSpPr>
        <p:spPr>
          <a:xfrm>
            <a:off x="3459718" y="3861078"/>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0.5768</a:t>
            </a:r>
            <a:endParaRPr lang="en-US" sz="1000" dirty="0"/>
          </a:p>
        </p:txBody>
      </p:sp>
      <p:sp>
        <p:nvSpPr>
          <p:cNvPr id="56" name="Text 54"/>
          <p:cNvSpPr/>
          <p:nvPr/>
        </p:nvSpPr>
        <p:spPr>
          <a:xfrm>
            <a:off x="5624274" y="3861078"/>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0.6045</a:t>
            </a:r>
            <a:endParaRPr lang="en-US" sz="1000" dirty="0"/>
          </a:p>
        </p:txBody>
      </p:sp>
      <p:sp>
        <p:nvSpPr>
          <p:cNvPr id="57" name="Text 55"/>
          <p:cNvSpPr/>
          <p:nvPr/>
        </p:nvSpPr>
        <p:spPr>
          <a:xfrm>
            <a:off x="7791569" y="3861078"/>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0.4209</a:t>
            </a:r>
            <a:endParaRPr lang="en-US" sz="1000" dirty="0"/>
          </a:p>
        </p:txBody>
      </p:sp>
      <p:sp>
        <p:nvSpPr>
          <p:cNvPr id="58" name="Text 56"/>
          <p:cNvSpPr/>
          <p:nvPr/>
        </p:nvSpPr>
        <p:spPr>
          <a:xfrm>
            <a:off x="9958864" y="3861078"/>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0.4963</a:t>
            </a:r>
            <a:endParaRPr lang="en-US" sz="1000" dirty="0"/>
          </a:p>
        </p:txBody>
      </p:sp>
      <p:sp>
        <p:nvSpPr>
          <p:cNvPr id="59" name="Text 57"/>
          <p:cNvSpPr/>
          <p:nvPr/>
        </p:nvSpPr>
        <p:spPr>
          <a:xfrm>
            <a:off x="12126158" y="3861078"/>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0.5761</a:t>
            </a:r>
            <a:endParaRPr lang="en-US" sz="1000" dirty="0"/>
          </a:p>
        </p:txBody>
      </p:sp>
      <p:sp>
        <p:nvSpPr>
          <p:cNvPr id="60" name="Shape 58"/>
          <p:cNvSpPr/>
          <p:nvPr/>
        </p:nvSpPr>
        <p:spPr>
          <a:xfrm>
            <a:off x="473869" y="4161711"/>
            <a:ext cx="13682663" cy="388144"/>
          </a:xfrm>
          <a:prstGeom prst="rect">
            <a:avLst/>
          </a:prstGeom>
          <a:solidFill>
            <a:srgbClr val="FFFFFF">
              <a:alpha val="4000"/>
            </a:srgbClr>
          </a:solidFill>
          <a:ln/>
        </p:spPr>
      </p:sp>
      <p:sp>
        <p:nvSpPr>
          <p:cNvPr id="61" name="Text 59"/>
          <p:cNvSpPr/>
          <p:nvPr/>
        </p:nvSpPr>
        <p:spPr>
          <a:xfrm>
            <a:off x="607219" y="4249222"/>
            <a:ext cx="2578656"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SVM</a:t>
            </a:r>
            <a:endParaRPr lang="en-US" sz="1000" dirty="0"/>
          </a:p>
        </p:txBody>
      </p:sp>
      <p:sp>
        <p:nvSpPr>
          <p:cNvPr id="62" name="Text 60"/>
          <p:cNvSpPr/>
          <p:nvPr/>
        </p:nvSpPr>
        <p:spPr>
          <a:xfrm>
            <a:off x="3459718" y="4249222"/>
            <a:ext cx="1890713"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0.5517</a:t>
            </a:r>
            <a:endParaRPr lang="en-US" sz="1000" dirty="0"/>
          </a:p>
        </p:txBody>
      </p:sp>
      <p:sp>
        <p:nvSpPr>
          <p:cNvPr id="63" name="Text 61"/>
          <p:cNvSpPr/>
          <p:nvPr/>
        </p:nvSpPr>
        <p:spPr>
          <a:xfrm>
            <a:off x="5624274" y="4249222"/>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0.5673</a:t>
            </a:r>
            <a:endParaRPr lang="en-US" sz="1000" dirty="0"/>
          </a:p>
        </p:txBody>
      </p:sp>
      <p:sp>
        <p:nvSpPr>
          <p:cNvPr id="64" name="Text 62"/>
          <p:cNvSpPr/>
          <p:nvPr/>
        </p:nvSpPr>
        <p:spPr>
          <a:xfrm>
            <a:off x="7791569" y="4249222"/>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0.4003</a:t>
            </a:r>
            <a:endParaRPr lang="en-US" sz="1000" dirty="0"/>
          </a:p>
        </p:txBody>
      </p:sp>
      <p:sp>
        <p:nvSpPr>
          <p:cNvPr id="65" name="Text 63"/>
          <p:cNvSpPr/>
          <p:nvPr/>
        </p:nvSpPr>
        <p:spPr>
          <a:xfrm>
            <a:off x="9958864" y="4249222"/>
            <a:ext cx="189345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0.4694</a:t>
            </a:r>
            <a:endParaRPr lang="en-US" sz="1000" dirty="0"/>
          </a:p>
        </p:txBody>
      </p:sp>
      <p:sp>
        <p:nvSpPr>
          <p:cNvPr id="66" name="Text 64"/>
          <p:cNvSpPr/>
          <p:nvPr/>
        </p:nvSpPr>
        <p:spPr>
          <a:xfrm>
            <a:off x="12126158" y="4249222"/>
            <a:ext cx="1897261" cy="213122"/>
          </a:xfrm>
          <a:prstGeom prst="rect">
            <a:avLst/>
          </a:prstGeom>
          <a:noFill/>
          <a:ln/>
        </p:spPr>
        <p:txBody>
          <a:bodyPr wrap="none" lIns="0" tIns="0" rIns="0" bIns="0" rtlCol="0" anchor="t"/>
          <a:lstStyle/>
          <a:p>
            <a:pPr marL="0" indent="0" algn="l">
              <a:lnSpc>
                <a:spcPts val="1650"/>
              </a:lnSpc>
              <a:buNone/>
            </a:pPr>
            <a:r>
              <a:rPr lang="en-US" sz="1000" dirty="0">
                <a:solidFill>
                  <a:srgbClr val="EBECEF"/>
                </a:solidFill>
                <a:latin typeface="Epilogue" pitchFamily="34" charset="0"/>
                <a:ea typeface="Epilogue" pitchFamily="34" charset="-122"/>
                <a:cs typeface="Epilogue" pitchFamily="34" charset="-120"/>
              </a:rPr>
              <a:t>0.5647</a:t>
            </a:r>
            <a:endParaRPr lang="en-US" sz="1000" dirty="0"/>
          </a:p>
        </p:txBody>
      </p:sp>
      <p:pic>
        <p:nvPicPr>
          <p:cNvPr id="67" name="Image 0" descr="preencoded.png"/>
          <p:cNvPicPr>
            <a:picLocks noChangeAspect="1"/>
          </p:cNvPicPr>
          <p:nvPr/>
        </p:nvPicPr>
        <p:blipFill>
          <a:blip r:embed="rId3"/>
          <a:stretch>
            <a:fillRect/>
          </a:stretch>
        </p:blipFill>
        <p:spPr>
          <a:xfrm>
            <a:off x="1420176" y="4816911"/>
            <a:ext cx="1632466" cy="1432084"/>
          </a:xfrm>
          <a:prstGeom prst="rect">
            <a:avLst/>
          </a:prstGeom>
        </p:spPr>
      </p:pic>
      <p:pic>
        <p:nvPicPr>
          <p:cNvPr id="68" name="Image 1" descr="preencoded.png"/>
          <p:cNvPicPr>
            <a:picLocks noChangeAspect="1"/>
          </p:cNvPicPr>
          <p:nvPr/>
        </p:nvPicPr>
        <p:blipFill>
          <a:blip r:embed="rId4"/>
          <a:stretch>
            <a:fillRect/>
          </a:stretch>
        </p:blipFill>
        <p:spPr>
          <a:xfrm>
            <a:off x="4938533" y="4896027"/>
            <a:ext cx="1632466" cy="1432084"/>
          </a:xfrm>
          <a:prstGeom prst="rect">
            <a:avLst/>
          </a:prstGeom>
        </p:spPr>
      </p:pic>
      <p:pic>
        <p:nvPicPr>
          <p:cNvPr id="69" name="Image 2" descr="preencoded.png"/>
          <p:cNvPicPr>
            <a:picLocks noChangeAspect="1"/>
          </p:cNvPicPr>
          <p:nvPr/>
        </p:nvPicPr>
        <p:blipFill>
          <a:blip r:embed="rId5"/>
          <a:stretch>
            <a:fillRect/>
          </a:stretch>
        </p:blipFill>
        <p:spPr>
          <a:xfrm>
            <a:off x="8326398" y="4813644"/>
            <a:ext cx="1632466" cy="1432084"/>
          </a:xfrm>
          <a:prstGeom prst="rect">
            <a:avLst/>
          </a:prstGeom>
        </p:spPr>
      </p:pic>
      <p:pic>
        <p:nvPicPr>
          <p:cNvPr id="70" name="Image 3" descr="preencoded.png"/>
          <p:cNvPicPr>
            <a:picLocks noChangeAspect="1"/>
          </p:cNvPicPr>
          <p:nvPr/>
        </p:nvPicPr>
        <p:blipFill>
          <a:blip r:embed="rId6"/>
          <a:stretch>
            <a:fillRect/>
          </a:stretch>
        </p:blipFill>
        <p:spPr>
          <a:xfrm>
            <a:off x="11816287" y="4829369"/>
            <a:ext cx="1632466" cy="1432084"/>
          </a:xfrm>
          <a:prstGeom prst="rect">
            <a:avLst/>
          </a:prstGeom>
        </p:spPr>
      </p:pic>
      <p:pic>
        <p:nvPicPr>
          <p:cNvPr id="71" name="Image 4" descr="preencoded.png"/>
          <p:cNvPicPr>
            <a:picLocks noChangeAspect="1"/>
          </p:cNvPicPr>
          <p:nvPr/>
        </p:nvPicPr>
        <p:blipFill>
          <a:blip r:embed="rId7"/>
          <a:stretch>
            <a:fillRect/>
          </a:stretch>
        </p:blipFill>
        <p:spPr>
          <a:xfrm>
            <a:off x="1448644" y="6666664"/>
            <a:ext cx="1632466" cy="1432084"/>
          </a:xfrm>
          <a:prstGeom prst="rect">
            <a:avLst/>
          </a:prstGeom>
        </p:spPr>
      </p:pic>
      <p:pic>
        <p:nvPicPr>
          <p:cNvPr id="72" name="Image 5" descr="preencoded.png"/>
          <p:cNvPicPr>
            <a:picLocks noChangeAspect="1"/>
          </p:cNvPicPr>
          <p:nvPr/>
        </p:nvPicPr>
        <p:blipFill>
          <a:blip r:embed="rId8"/>
          <a:stretch>
            <a:fillRect/>
          </a:stretch>
        </p:blipFill>
        <p:spPr>
          <a:xfrm>
            <a:off x="4938533" y="6699391"/>
            <a:ext cx="1632466" cy="1432084"/>
          </a:xfrm>
          <a:prstGeom prst="rect">
            <a:avLst/>
          </a:prstGeom>
        </p:spPr>
      </p:pic>
      <p:pic>
        <p:nvPicPr>
          <p:cNvPr id="73" name="Image 6" descr="preencoded.png"/>
          <p:cNvPicPr>
            <a:picLocks noChangeAspect="1"/>
          </p:cNvPicPr>
          <p:nvPr/>
        </p:nvPicPr>
        <p:blipFill>
          <a:blip r:embed="rId9"/>
          <a:stretch>
            <a:fillRect/>
          </a:stretch>
        </p:blipFill>
        <p:spPr>
          <a:xfrm>
            <a:off x="8326398" y="6616184"/>
            <a:ext cx="1632466" cy="1432084"/>
          </a:xfrm>
          <a:prstGeom prst="rect">
            <a:avLst/>
          </a:prstGeom>
        </p:spPr>
      </p:pic>
      <p:pic>
        <p:nvPicPr>
          <p:cNvPr id="74" name="Image 7" descr="preencoded.png"/>
          <p:cNvPicPr>
            <a:picLocks noChangeAspect="1"/>
          </p:cNvPicPr>
          <p:nvPr/>
        </p:nvPicPr>
        <p:blipFill>
          <a:blip r:embed="rId10"/>
          <a:stretch>
            <a:fillRect/>
          </a:stretch>
        </p:blipFill>
        <p:spPr>
          <a:xfrm>
            <a:off x="11816287" y="6699391"/>
            <a:ext cx="1632466" cy="1432084"/>
          </a:xfrm>
          <a:prstGeom prst="rect">
            <a:avLst/>
          </a:prstGeom>
        </p:spPr>
      </p:pic>
    </p:spTree>
    <p:extLst>
      <p:ext uri="{BB962C8B-B14F-4D97-AF65-F5344CB8AC3E}">
        <p14:creationId xmlns:p14="http://schemas.microsoft.com/office/powerpoint/2010/main" val="343711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2236" y="583168"/>
            <a:ext cx="5302448" cy="662821"/>
          </a:xfrm>
          <a:prstGeom prst="rect">
            <a:avLst/>
          </a:prstGeom>
          <a:noFill/>
          <a:ln/>
        </p:spPr>
        <p:txBody>
          <a:bodyPr wrap="none" lIns="0" tIns="0" rIns="0" bIns="0" rtlCol="0" anchor="t"/>
          <a:lstStyle/>
          <a:p>
            <a:pPr marL="0" marR="0" lvl="0" indent="0" algn="l" defTabSz="914400" rtl="0" eaLnBrk="1" fontAlgn="auto" latinLnBrk="0" hangingPunct="1">
              <a:lnSpc>
                <a:spcPts val="5200"/>
              </a:lnSpc>
              <a:spcBef>
                <a:spcPts val="0"/>
              </a:spcBef>
              <a:spcAft>
                <a:spcPts val="0"/>
              </a:spcAft>
              <a:buClrTx/>
              <a:buSzTx/>
              <a:buFontTx/>
              <a:buNone/>
              <a:tabLst/>
              <a:defRPr/>
            </a:pPr>
            <a:r>
              <a:rPr kumimoji="0" lang="en-US" sz="4150" b="0" i="0" u="none" strike="noStrike" kern="1200" cap="none" spc="0" normalizeH="0" baseline="0" noProof="0" dirty="0">
                <a:ln>
                  <a:noFill/>
                </a:ln>
                <a:solidFill>
                  <a:srgbClr val="FFFFFF"/>
                </a:solidFill>
                <a:effectLst/>
                <a:uLnTx/>
                <a:uFillTx/>
                <a:latin typeface="Fraunces Medium" pitchFamily="34" charset="0"/>
                <a:ea typeface="Fraunces Medium" pitchFamily="34" charset="-122"/>
                <a:cs typeface="Fraunces Medium" pitchFamily="34" charset="-120"/>
              </a:rPr>
              <a:t>Model Optimisation </a:t>
            </a:r>
            <a:endParaRPr kumimoji="0" lang="en-US" sz="4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742236" y="1670090"/>
            <a:ext cx="13145929" cy="678418"/>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Fine-tuning our XGBoost classifier involved comprehensive hyperparameter optimisation and rigorous validation strategies to maximise predictive accuracy whilst preventing overfitting.</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42236" y="2587109"/>
            <a:ext cx="6466880" cy="2424589"/>
          </a:xfrm>
          <a:prstGeom prst="roundRect">
            <a:avLst>
              <a:gd name="adj" fmla="val 3674"/>
            </a:avLst>
          </a:prstGeom>
          <a:solidFill>
            <a:srgbClr val="283157"/>
          </a:solidFill>
          <a:ln w="7620">
            <a:solidFill>
              <a:srgbClr val="414A70"/>
            </a:solidFill>
            <a:prstDash val="solid"/>
          </a:ln>
        </p:spPr>
      </p:sp>
      <p:sp>
        <p:nvSpPr>
          <p:cNvPr id="5" name="Shape 3"/>
          <p:cNvSpPr/>
          <p:nvPr/>
        </p:nvSpPr>
        <p:spPr>
          <a:xfrm>
            <a:off x="961906" y="2806779"/>
            <a:ext cx="636270" cy="636270"/>
          </a:xfrm>
          <a:prstGeom prst="roundRect">
            <a:avLst>
              <a:gd name="adj" fmla="val 14369820"/>
            </a:avLst>
          </a:prstGeom>
          <a:solidFill>
            <a:srgbClr val="8C98CA"/>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928" y="2981801"/>
            <a:ext cx="286226" cy="286226"/>
          </a:xfrm>
          <a:prstGeom prst="rect">
            <a:avLst/>
          </a:prstGeom>
        </p:spPr>
      </p:pic>
      <p:sp>
        <p:nvSpPr>
          <p:cNvPr id="7" name="Text 4"/>
          <p:cNvSpPr/>
          <p:nvPr/>
        </p:nvSpPr>
        <p:spPr>
          <a:xfrm>
            <a:off x="961906" y="3655100"/>
            <a:ext cx="3095982" cy="331351"/>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Hyperparameter Tuning</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961906" y="4113609"/>
            <a:ext cx="6027539" cy="678418"/>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Deployed RandomizedSearchCV to efficiently explore parameter space and identify optimal configurations</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7421166" y="2587109"/>
            <a:ext cx="6466999" cy="2424589"/>
          </a:xfrm>
          <a:prstGeom prst="roundRect">
            <a:avLst>
              <a:gd name="adj" fmla="val 3674"/>
            </a:avLst>
          </a:prstGeom>
          <a:solidFill>
            <a:srgbClr val="283157"/>
          </a:solidFill>
          <a:ln w="7620">
            <a:solidFill>
              <a:srgbClr val="414A70"/>
            </a:solidFill>
            <a:prstDash val="solid"/>
          </a:ln>
        </p:spPr>
      </p:sp>
      <p:sp>
        <p:nvSpPr>
          <p:cNvPr id="10" name="Shape 7"/>
          <p:cNvSpPr/>
          <p:nvPr/>
        </p:nvSpPr>
        <p:spPr>
          <a:xfrm>
            <a:off x="7640836" y="2806779"/>
            <a:ext cx="636270" cy="636270"/>
          </a:xfrm>
          <a:prstGeom prst="roundRect">
            <a:avLst>
              <a:gd name="adj" fmla="val 14369820"/>
            </a:avLst>
          </a:prstGeom>
          <a:solidFill>
            <a:srgbClr val="8C98CA"/>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15858" y="2981801"/>
            <a:ext cx="286226" cy="286226"/>
          </a:xfrm>
          <a:prstGeom prst="rect">
            <a:avLst/>
          </a:prstGeom>
        </p:spPr>
      </p:pic>
      <p:sp>
        <p:nvSpPr>
          <p:cNvPr id="12" name="Text 8"/>
          <p:cNvSpPr/>
          <p:nvPr/>
        </p:nvSpPr>
        <p:spPr>
          <a:xfrm>
            <a:off x="7640836" y="3655100"/>
            <a:ext cx="2888099" cy="331351"/>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Regularisation Control</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7640836" y="4113609"/>
            <a:ext cx="6027658" cy="678418"/>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Fine-tuned lambda (λ=1) and alpha (α) parameters to balance model complexity with generalisation</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742236" y="5223748"/>
            <a:ext cx="6466880" cy="2424589"/>
          </a:xfrm>
          <a:prstGeom prst="roundRect">
            <a:avLst>
              <a:gd name="adj" fmla="val 3674"/>
            </a:avLst>
          </a:prstGeom>
          <a:solidFill>
            <a:srgbClr val="283157"/>
          </a:solidFill>
          <a:ln w="7620">
            <a:solidFill>
              <a:srgbClr val="414A70"/>
            </a:solidFill>
            <a:prstDash val="solid"/>
          </a:ln>
        </p:spPr>
      </p:sp>
      <p:sp>
        <p:nvSpPr>
          <p:cNvPr id="15" name="Shape 11"/>
          <p:cNvSpPr/>
          <p:nvPr/>
        </p:nvSpPr>
        <p:spPr>
          <a:xfrm>
            <a:off x="961906" y="5443418"/>
            <a:ext cx="636270" cy="636270"/>
          </a:xfrm>
          <a:prstGeom prst="roundRect">
            <a:avLst>
              <a:gd name="adj" fmla="val 14369820"/>
            </a:avLst>
          </a:prstGeom>
          <a:solidFill>
            <a:srgbClr val="8C98CA"/>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6928" y="5618440"/>
            <a:ext cx="286226" cy="286226"/>
          </a:xfrm>
          <a:prstGeom prst="rect">
            <a:avLst/>
          </a:prstGeom>
        </p:spPr>
      </p:pic>
      <p:sp>
        <p:nvSpPr>
          <p:cNvPr id="17" name="Text 12"/>
          <p:cNvSpPr/>
          <p:nvPr/>
        </p:nvSpPr>
        <p:spPr>
          <a:xfrm>
            <a:off x="961906" y="6291739"/>
            <a:ext cx="2651165" cy="331351"/>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Stratified K-Fold</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961906" y="6750248"/>
            <a:ext cx="6027539" cy="678418"/>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Applied stratified cross-validation to ensure robust performance across class distributions</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4"/>
          <p:cNvSpPr/>
          <p:nvPr/>
        </p:nvSpPr>
        <p:spPr>
          <a:xfrm>
            <a:off x="7421166" y="5223748"/>
            <a:ext cx="6466999" cy="2424589"/>
          </a:xfrm>
          <a:prstGeom prst="roundRect">
            <a:avLst>
              <a:gd name="adj" fmla="val 3674"/>
            </a:avLst>
          </a:prstGeom>
          <a:solidFill>
            <a:srgbClr val="283157"/>
          </a:solidFill>
          <a:ln w="7620">
            <a:solidFill>
              <a:srgbClr val="414A70"/>
            </a:solidFill>
            <a:prstDash val="solid"/>
          </a:ln>
        </p:spPr>
      </p:sp>
      <p:sp>
        <p:nvSpPr>
          <p:cNvPr id="20" name="Shape 15"/>
          <p:cNvSpPr/>
          <p:nvPr/>
        </p:nvSpPr>
        <p:spPr>
          <a:xfrm>
            <a:off x="7640836" y="5443418"/>
            <a:ext cx="636270" cy="636270"/>
          </a:xfrm>
          <a:prstGeom prst="roundRect">
            <a:avLst>
              <a:gd name="adj" fmla="val 14369820"/>
            </a:avLst>
          </a:prstGeom>
          <a:solidFill>
            <a:srgbClr val="8C98CA"/>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15858" y="5618440"/>
            <a:ext cx="286226" cy="286226"/>
          </a:xfrm>
          <a:prstGeom prst="rect">
            <a:avLst/>
          </a:prstGeom>
        </p:spPr>
      </p:pic>
      <p:sp>
        <p:nvSpPr>
          <p:cNvPr id="22" name="Text 16"/>
          <p:cNvSpPr/>
          <p:nvPr/>
        </p:nvSpPr>
        <p:spPr>
          <a:xfrm>
            <a:off x="7640836" y="6291739"/>
            <a:ext cx="2651165" cy="331351"/>
          </a:xfrm>
          <a:prstGeom prst="rect">
            <a:avLst/>
          </a:prstGeom>
          <a:noFill/>
          <a:ln/>
        </p:spPr>
        <p:txBody>
          <a:bodyPr wrap="none" lIns="0" tIns="0" rIns="0" bIns="0" rtlCol="0" anchor="t"/>
          <a:lstStyle/>
          <a:p>
            <a:pPr marL="0" marR="0" lvl="0" indent="0" algn="l" defTabSz="914400" rtl="0" eaLnBrk="1" fontAlgn="auto" latinLnBrk="0" hangingPunct="1">
              <a:lnSpc>
                <a:spcPts val="2600"/>
              </a:lnSpc>
              <a:spcBef>
                <a:spcPts val="0"/>
              </a:spcBef>
              <a:spcAft>
                <a:spcPts val="0"/>
              </a:spcAft>
              <a:buClrTx/>
              <a:buSzTx/>
              <a:buFontTx/>
              <a:buNone/>
              <a:tabLst/>
              <a:defRPr/>
            </a:pPr>
            <a:r>
              <a:rPr kumimoji="0" lang="en-US" sz="20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Feature Analysis</a:t>
            </a:r>
            <a:endParaRPr kumimoji="0" lang="en-US" sz="2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7"/>
          <p:cNvSpPr/>
          <p:nvPr/>
        </p:nvSpPr>
        <p:spPr>
          <a:xfrm>
            <a:off x="7640836" y="6750248"/>
            <a:ext cx="6027658" cy="678418"/>
          </a:xfrm>
          <a:prstGeom prst="rect">
            <a:avLst/>
          </a:prstGeom>
          <a:noFill/>
          <a:ln/>
        </p:spPr>
        <p:txBody>
          <a:bodyPr wrap="square" lIns="0" tIns="0" rIns="0" bIns="0" rtlCol="0" anchor="t"/>
          <a:lstStyle/>
          <a:p>
            <a:pPr marL="0" marR="0" lvl="0" indent="0" algn="l" defTabSz="914400" rtl="0" eaLnBrk="1" fontAlgn="auto" latinLnBrk="0" hangingPunct="1">
              <a:lnSpc>
                <a:spcPts val="2650"/>
              </a:lnSpc>
              <a:spcBef>
                <a:spcPts val="0"/>
              </a:spcBef>
              <a:spcAft>
                <a:spcPts val="0"/>
              </a:spcAft>
              <a:buClrTx/>
              <a:buSzTx/>
              <a:buFontTx/>
              <a:buNone/>
              <a:tabLst/>
              <a:defRPr/>
            </a:pPr>
            <a:r>
              <a:rPr kumimoji="0" lang="en-US" sz="16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Conducted importance analysis to identify key predictors driving model decisions</a:t>
            </a:r>
            <a:endParaRPr kumimoji="0" lang="en-US" sz="1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6032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607" y="2724507"/>
            <a:ext cx="4919186" cy="2780467"/>
          </a:xfrm>
          <a:prstGeom prst="rect">
            <a:avLst/>
          </a:prstGeom>
        </p:spPr>
      </p:pic>
      <p:sp>
        <p:nvSpPr>
          <p:cNvPr id="4" name="Text 0"/>
          <p:cNvSpPr/>
          <p:nvPr/>
        </p:nvSpPr>
        <p:spPr>
          <a:xfrm>
            <a:off x="793790" y="624840"/>
            <a:ext cx="5670590" cy="708779"/>
          </a:xfrm>
          <a:prstGeom prst="rect">
            <a:avLst/>
          </a:prstGeom>
          <a:noFill/>
          <a:ln/>
        </p:spPr>
        <p:txBody>
          <a:bodyPr wrap="none" lIns="0" tIns="0" rIns="0" bIns="0" rtlCol="0" anchor="t"/>
          <a:lstStyle/>
          <a:p>
            <a:pPr marL="0" marR="0" lvl="0" indent="0" algn="l" defTabSz="914400" rtl="0" eaLnBrk="1" fontAlgn="auto" latinLnBrk="0" hangingPunct="1">
              <a:lnSpc>
                <a:spcPts val="5550"/>
              </a:lnSpc>
              <a:spcBef>
                <a:spcPts val="0"/>
              </a:spcBef>
              <a:spcAft>
                <a:spcPts val="0"/>
              </a:spcAft>
              <a:buClrTx/>
              <a:buSzTx/>
              <a:buFontTx/>
              <a:buNone/>
              <a:tabLst/>
              <a:defRPr/>
            </a:pPr>
            <a:r>
              <a:rPr kumimoji="0" lang="en-US" sz="4450" b="0" i="0" u="none" strike="noStrike" kern="1200" cap="none" spc="0" normalizeH="0" baseline="0" noProof="0" dirty="0">
                <a:ln>
                  <a:noFill/>
                </a:ln>
                <a:solidFill>
                  <a:srgbClr val="FFFFFF"/>
                </a:solidFill>
                <a:effectLst/>
                <a:uLnTx/>
                <a:uFillTx/>
                <a:latin typeface="Fraunces Medium" pitchFamily="34" charset="0"/>
                <a:ea typeface="Fraunces Medium" pitchFamily="34" charset="-122"/>
                <a:cs typeface="Fraunces Medium" pitchFamily="34" charset="-120"/>
              </a:rPr>
              <a:t>Feature Importance</a:t>
            </a:r>
            <a:endParaRPr kumimoji="0" lang="en-US" sz="4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p:cNvSpPr/>
          <p:nvPr/>
        </p:nvSpPr>
        <p:spPr>
          <a:xfrm>
            <a:off x="793790" y="1673781"/>
            <a:ext cx="7556421" cy="1451610"/>
          </a:xfrm>
          <a:prstGeom prst="rect">
            <a:avLst/>
          </a:prstGeom>
          <a:noFill/>
          <a:ln/>
        </p:spPr>
        <p:txBody>
          <a:bodyPr wrap="squar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Feature importance tells us </a:t>
            </a:r>
            <a:r>
              <a:rPr kumimoji="0" lang="en-US" sz="1750" b="1"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how much each input feature contributes</a:t>
            </a: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 to the model’s prediction.In other words, it shows </a:t>
            </a:r>
            <a:r>
              <a:rPr kumimoji="0" lang="en-US" sz="1750" b="1"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which features influence the outcome the most</a:t>
            </a: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p:cNvSpPr/>
          <p:nvPr/>
        </p:nvSpPr>
        <p:spPr>
          <a:xfrm>
            <a:off x="793790" y="3380542"/>
            <a:ext cx="7556421" cy="748665"/>
          </a:xfrm>
          <a:prstGeom prst="rect">
            <a:avLst/>
          </a:prstGeom>
          <a:noFill/>
          <a:ln/>
        </p:spPr>
        <p:txBody>
          <a:bodyPr wrap="square" lIns="0" tIns="0" rIns="0" bIns="0" rtlCol="0" anchor="t"/>
          <a:lstStyle/>
          <a:p>
            <a:pPr marL="342900" marR="0" lvl="0" indent="-342900" algn="l" defTabSz="914400" rtl="0" eaLnBrk="1" fontAlgn="auto" latinLnBrk="0" hangingPunct="1">
              <a:lnSpc>
                <a:spcPts val="2850"/>
              </a:lnSpc>
              <a:spcBef>
                <a:spcPts val="0"/>
              </a:spcBef>
              <a:spcAft>
                <a:spcPts val="0"/>
              </a:spcAft>
              <a:buClrTx/>
              <a:buSzPct val="100000"/>
              <a:buFontTx/>
              <a:buChar char="•"/>
              <a:tabLst/>
              <a:defRPr/>
            </a:pP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used the </a:t>
            </a:r>
            <a:r>
              <a:rPr kumimoji="0" lang="en-US" sz="1750" b="0" i="0" u="none" strike="noStrike" kern="1200" cap="none" spc="0" normalizeH="0" baseline="0" noProof="0" dirty="0">
                <a:ln>
                  <a:noFill/>
                </a:ln>
                <a:solidFill>
                  <a:srgbClr val="EBECEF"/>
                </a:solidFill>
                <a:effectLst/>
                <a:highlight>
                  <a:srgbClr val="151B33"/>
                </a:highlight>
                <a:uLnTx/>
                <a:uFillTx/>
                <a:latin typeface="Consolas" pitchFamily="34" charset="0"/>
                <a:ea typeface="Consolas" pitchFamily="34" charset="-122"/>
                <a:cs typeface="Consolas" pitchFamily="34" charset="-120"/>
              </a:rPr>
              <a:t>feature_importances_</a:t>
            </a: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 attribute of the trained XGBoost model to identify top features.</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p:cNvSpPr/>
          <p:nvPr/>
        </p:nvSpPr>
        <p:spPr>
          <a:xfrm>
            <a:off x="793790" y="4208502"/>
            <a:ext cx="7556421" cy="362903"/>
          </a:xfrm>
          <a:prstGeom prst="rect">
            <a:avLst/>
          </a:prstGeom>
          <a:noFill/>
          <a:ln/>
        </p:spPr>
        <p:txBody>
          <a:bodyPr wrap="none" lIns="0" tIns="0" rIns="0" bIns="0" rtlCol="0" anchor="t"/>
          <a:lstStyle/>
          <a:p>
            <a:pPr marL="342900" marR="0" lvl="0" indent="-342900" algn="l" defTabSz="914400" rtl="0" eaLnBrk="1" fontAlgn="auto" latinLnBrk="0" hangingPunct="1">
              <a:lnSpc>
                <a:spcPts val="2850"/>
              </a:lnSpc>
              <a:spcBef>
                <a:spcPts val="0"/>
              </a:spcBef>
              <a:spcAft>
                <a:spcPts val="0"/>
              </a:spcAft>
              <a:buClrTx/>
              <a:buSzPct val="100000"/>
              <a:buFontTx/>
              <a:buChar char="•"/>
              <a:tabLst/>
              <a:defRPr/>
            </a:pP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Discount_offered is the most important feature in the XGBoost.</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p:nvPr/>
        </p:nvSpPr>
        <p:spPr>
          <a:xfrm>
            <a:off x="793790" y="4650700"/>
            <a:ext cx="7556421" cy="725805"/>
          </a:xfrm>
          <a:prstGeom prst="rect">
            <a:avLst/>
          </a:prstGeom>
          <a:noFill/>
          <a:ln/>
        </p:spPr>
        <p:txBody>
          <a:bodyPr wrap="square" lIns="0" tIns="0" rIns="0" bIns="0" rtlCol="0" anchor="t"/>
          <a:lstStyle/>
          <a:p>
            <a:pPr marL="342900" marR="0" lvl="0" indent="-342900" algn="l" defTabSz="914400" rtl="0" eaLnBrk="1" fontAlgn="auto" latinLnBrk="0" hangingPunct="1">
              <a:lnSpc>
                <a:spcPts val="2850"/>
              </a:lnSpc>
              <a:spcBef>
                <a:spcPts val="0"/>
              </a:spcBef>
              <a:spcAft>
                <a:spcPts val="0"/>
              </a:spcAft>
              <a:buClrTx/>
              <a:buSzPct val="100000"/>
              <a:buFontTx/>
              <a:buChar char="•"/>
              <a:tabLst/>
              <a:defRPr/>
            </a:pP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Prior_purchases, weight_in_gms, cost_to_weight_ratio has acquired 0.08 important score. </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793790" y="5455801"/>
            <a:ext cx="7556421" cy="725805"/>
          </a:xfrm>
          <a:prstGeom prst="rect">
            <a:avLst/>
          </a:prstGeom>
          <a:noFill/>
          <a:ln/>
        </p:spPr>
        <p:txBody>
          <a:bodyPr wrap="square" lIns="0" tIns="0" rIns="0" bIns="0" rtlCol="0" anchor="t"/>
          <a:lstStyle/>
          <a:p>
            <a:pPr marL="342900" marR="0" lvl="0" indent="-342900" algn="l" defTabSz="914400" rtl="0" eaLnBrk="1" fontAlgn="auto" latinLnBrk="0" hangingPunct="1">
              <a:lnSpc>
                <a:spcPts val="2850"/>
              </a:lnSpc>
              <a:spcBef>
                <a:spcPts val="0"/>
              </a:spcBef>
              <a:spcAft>
                <a:spcPts val="0"/>
              </a:spcAft>
              <a:buClrTx/>
              <a:buSzPct val="100000"/>
              <a:buFontTx/>
              <a:buChar char="•"/>
              <a:tabLst/>
              <a:defRPr/>
            </a:pP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cost*weight, warehouse_block_d are the third highest features.</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p:cNvSpPr/>
          <p:nvPr/>
        </p:nvSpPr>
        <p:spPr>
          <a:xfrm>
            <a:off x="793790" y="6260902"/>
            <a:ext cx="7556421" cy="725805"/>
          </a:xfrm>
          <a:prstGeom prst="rect">
            <a:avLst/>
          </a:prstGeom>
          <a:noFill/>
          <a:ln/>
        </p:spPr>
        <p:txBody>
          <a:bodyPr wrap="square" lIns="0" tIns="0" rIns="0" bIns="0" rtlCol="0" anchor="t"/>
          <a:lstStyle/>
          <a:p>
            <a:pPr marL="342900" marR="0" lvl="0" indent="-342900" algn="l" defTabSz="914400" rtl="0" eaLnBrk="1" fontAlgn="auto" latinLnBrk="0" hangingPunct="1">
              <a:lnSpc>
                <a:spcPts val="2850"/>
              </a:lnSpc>
              <a:spcBef>
                <a:spcPts val="0"/>
              </a:spcBef>
              <a:spcAft>
                <a:spcPts val="0"/>
              </a:spcAft>
              <a:buClrTx/>
              <a:buSzPct val="100000"/>
              <a:buFontTx/>
              <a:buChar char="•"/>
              <a:tabLst/>
              <a:defRPr/>
            </a:pPr>
            <a:r>
              <a:rPr kumimoji="0" lang="en-US" sz="17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Least important features are Cost_of_the_product, warehouse_block_b, discount_ratio, customer_care_calls.</a:t>
            </a: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p:cNvSpPr/>
          <p:nvPr/>
        </p:nvSpPr>
        <p:spPr>
          <a:xfrm>
            <a:off x="793790" y="7241858"/>
            <a:ext cx="7556421" cy="362903"/>
          </a:xfrm>
          <a:prstGeom prst="rect">
            <a:avLst/>
          </a:prstGeom>
          <a:noFill/>
          <a:ln/>
        </p:spPr>
        <p:txBody>
          <a:bodyPr wrap="none" lIns="0" tIns="0" rIns="0" bIns="0" rtlCol="0" anchor="t"/>
          <a:lstStyle/>
          <a:p>
            <a:pPr marL="0" marR="0" lvl="0" indent="0" algn="l" defTabSz="914400" rtl="0" eaLnBrk="1" fontAlgn="auto" latinLnBrk="0" hangingPunct="1">
              <a:lnSpc>
                <a:spcPts val="2850"/>
              </a:lnSpc>
              <a:spcBef>
                <a:spcPts val="0"/>
              </a:spcBef>
              <a:spcAft>
                <a:spcPts val="0"/>
              </a:spcAft>
              <a:buClrTx/>
              <a:buSzTx/>
              <a:buFontTx/>
              <a:buNone/>
              <a:tabLst/>
              <a:defRPr/>
            </a:pPr>
            <a:endParaRPr kumimoji="0" lang="en-US" sz="1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0758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18517" y="525899"/>
            <a:ext cx="3704034" cy="462915"/>
          </a:xfrm>
          <a:prstGeom prst="rect">
            <a:avLst/>
          </a:prstGeom>
          <a:noFill/>
          <a:ln/>
        </p:spPr>
        <p:txBody>
          <a:bodyPr wrap="none" lIns="0" tIns="0" rIns="0" bIns="0" rtlCol="0" anchor="t"/>
          <a:lstStyle/>
          <a:p>
            <a:pPr marL="0" marR="0" lvl="0" indent="0" algn="l" defTabSz="914400" rtl="0" eaLnBrk="1" fontAlgn="auto" latinLnBrk="0" hangingPunct="1">
              <a:lnSpc>
                <a:spcPts val="3600"/>
              </a:lnSpc>
              <a:spcBef>
                <a:spcPts val="0"/>
              </a:spcBef>
              <a:spcAft>
                <a:spcPts val="0"/>
              </a:spcAft>
              <a:buClrTx/>
              <a:buSzTx/>
              <a:buFontTx/>
              <a:buNone/>
              <a:tabLst/>
              <a:defRPr/>
            </a:pPr>
            <a:r>
              <a:rPr kumimoji="0" lang="en-US" sz="2900" b="0" i="0" u="none" strike="noStrike" kern="1200" cap="none" spc="0" normalizeH="0" baseline="0" noProof="0" dirty="0">
                <a:ln>
                  <a:noFill/>
                </a:ln>
                <a:solidFill>
                  <a:srgbClr val="FFFFFF"/>
                </a:solidFill>
                <a:effectLst/>
                <a:uLnTx/>
                <a:uFillTx/>
                <a:latin typeface="Fraunces Medium" pitchFamily="34" charset="0"/>
                <a:ea typeface="Fraunces Medium" pitchFamily="34" charset="-122"/>
                <a:cs typeface="Fraunces Medium" pitchFamily="34" charset="-120"/>
              </a:rPr>
              <a:t>Model Deployment</a:t>
            </a:r>
            <a:endParaRPr kumimoji="0" lang="en-US" sz="2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18517" y="1359098"/>
            <a:ext cx="2274808" cy="277773"/>
          </a:xfrm>
          <a:prstGeom prst="rect">
            <a:avLst/>
          </a:prstGeom>
          <a:noFill/>
          <a:ln/>
        </p:spPr>
        <p:txBody>
          <a:bodyPr wrap="none" lIns="0" tIns="0" rIns="0" bIns="0" rtlCol="0" anchor="t"/>
          <a:lstStyle/>
          <a:p>
            <a:pPr marL="0" marR="0" lvl="0" indent="0" algn="l" defTabSz="914400" rtl="0" eaLnBrk="1" fontAlgn="auto" latinLnBrk="0" hangingPunct="1">
              <a:lnSpc>
                <a:spcPts val="215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Fraunces Medium" pitchFamily="34" charset="0"/>
                <a:ea typeface="Fraunces Medium" pitchFamily="34" charset="-122"/>
                <a:cs typeface="Fraunces Medium" pitchFamily="34" charset="-120"/>
              </a:rPr>
              <a:t>Streamlit Framework</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18517" y="1784985"/>
            <a:ext cx="6615946" cy="473869"/>
          </a:xfrm>
          <a:prstGeom prst="rect">
            <a:avLst/>
          </a:prstGeom>
          <a:noFill/>
          <a:ln/>
        </p:spPr>
        <p:txBody>
          <a:bodyPr wrap="squar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Our production deployment leverages Streamlit to create an intuitive, real-time prediction interface that connects end-users directly to the trained XGBoost model.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18517" y="2406968"/>
            <a:ext cx="1852017" cy="231577"/>
          </a:xfrm>
          <a:prstGeom prst="rect">
            <a:avLst/>
          </a:prstGeom>
          <a:noFill/>
          <a:ln/>
        </p:spPr>
        <p:txBody>
          <a:bodyPr wrap="non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FFFFFF"/>
                </a:solidFill>
                <a:effectLst/>
                <a:uLnTx/>
                <a:uFillTx/>
                <a:latin typeface="Fraunces Medium" pitchFamily="34" charset="0"/>
                <a:ea typeface="Fraunces Medium" pitchFamily="34" charset="-122"/>
                <a:cs typeface="Fraunces Medium" pitchFamily="34" charset="-120"/>
              </a:rPr>
              <a:t>Core Libraries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18517" y="2786658"/>
            <a:ext cx="6615946" cy="236934"/>
          </a:xfrm>
          <a:prstGeom prst="rect">
            <a:avLst/>
          </a:prstGeom>
          <a:noFill/>
          <a:ln/>
        </p:spPr>
        <p:txBody>
          <a:bodyPr wrap="none" lIns="0" tIns="0" rIns="0" bIns="0" rtlCol="0" anchor="t"/>
          <a:lstStyle/>
          <a:p>
            <a:pPr marL="342900" marR="0" lvl="0" indent="-342900" algn="l" defTabSz="914400" rtl="0" eaLnBrk="1" fontAlgn="auto" latinLnBrk="0" hangingPunct="1">
              <a:lnSpc>
                <a:spcPts val="185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pandas &amp; numpy for data manipulation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18517" y="3075384"/>
            <a:ext cx="6615946" cy="236934"/>
          </a:xfrm>
          <a:prstGeom prst="rect">
            <a:avLst/>
          </a:prstGeom>
          <a:noFill/>
          <a:ln/>
        </p:spPr>
        <p:txBody>
          <a:bodyPr wrap="none" lIns="0" tIns="0" rIns="0" bIns="0" rtlCol="0" anchor="t"/>
          <a:lstStyle/>
          <a:p>
            <a:pPr marL="342900" marR="0" lvl="0" indent="-342900" algn="l" defTabSz="914400" rtl="0" eaLnBrk="1" fontAlgn="auto" latinLnBrk="0" hangingPunct="1">
              <a:lnSpc>
                <a:spcPts val="185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scikit-learn for preprocessing pipelines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18517" y="3364111"/>
            <a:ext cx="6615946" cy="236934"/>
          </a:xfrm>
          <a:prstGeom prst="rect">
            <a:avLst/>
          </a:prstGeom>
          <a:noFill/>
          <a:ln/>
        </p:spPr>
        <p:txBody>
          <a:bodyPr wrap="none" lIns="0" tIns="0" rIns="0" bIns="0" rtlCol="0" anchor="t"/>
          <a:lstStyle/>
          <a:p>
            <a:pPr marL="342900" marR="0" lvl="0" indent="-342900" algn="l" defTabSz="914400" rtl="0" eaLnBrk="1" fontAlgn="auto" latinLnBrk="0" hangingPunct="1">
              <a:lnSpc>
                <a:spcPts val="185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xgboost for model inference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18517" y="3652838"/>
            <a:ext cx="6615946" cy="236934"/>
          </a:xfrm>
          <a:prstGeom prst="rect">
            <a:avLst/>
          </a:prstGeom>
          <a:noFill/>
          <a:ln/>
        </p:spPr>
        <p:txBody>
          <a:bodyPr wrap="none" lIns="0" tIns="0" rIns="0" bIns="0" rtlCol="0" anchor="t"/>
          <a:lstStyle/>
          <a:p>
            <a:pPr marL="342900" marR="0" lvl="0" indent="-342900" algn="l" defTabSz="914400" rtl="0" eaLnBrk="1" fontAlgn="auto" latinLnBrk="0" hangingPunct="1">
              <a:lnSpc>
                <a:spcPts val="185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pickle for model serialisation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18517" y="3941564"/>
            <a:ext cx="6615946" cy="236934"/>
          </a:xfrm>
          <a:prstGeom prst="rect">
            <a:avLst/>
          </a:prstGeom>
          <a:noFill/>
          <a:ln/>
        </p:spPr>
        <p:txBody>
          <a:bodyPr wrap="none" lIns="0" tIns="0" rIns="0" bIns="0" rtlCol="0" anchor="t"/>
          <a:lstStyle/>
          <a:p>
            <a:pPr marL="342900" marR="0" lvl="0" indent="-342900" algn="l" defTabSz="914400" rtl="0" eaLnBrk="1" fontAlgn="auto" latinLnBrk="0" hangingPunct="1">
              <a:lnSpc>
                <a:spcPts val="1850"/>
              </a:lnSpc>
              <a:spcBef>
                <a:spcPts val="0"/>
              </a:spcBef>
              <a:spcAft>
                <a:spcPts val="0"/>
              </a:spcAft>
              <a:buClrTx/>
              <a:buSzPct val="100000"/>
              <a:buFontTx/>
              <a:buChar char="•"/>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streamlit for web application framework</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Image 0" descr="preencoded.png"/>
          <p:cNvPicPr>
            <a:picLocks noChangeAspect="1"/>
          </p:cNvPicPr>
          <p:nvPr/>
        </p:nvPicPr>
        <p:blipFill>
          <a:blip r:embed="rId3"/>
          <a:stretch>
            <a:fillRect/>
          </a:stretch>
        </p:blipFill>
        <p:spPr>
          <a:xfrm>
            <a:off x="898878" y="4631846"/>
            <a:ext cx="2011589" cy="3307821"/>
          </a:xfrm>
          <a:prstGeom prst="rect">
            <a:avLst/>
          </a:prstGeom>
        </p:spPr>
      </p:pic>
      <p:pic>
        <p:nvPicPr>
          <p:cNvPr id="12" name="Image 1" descr="preencoded.png"/>
          <p:cNvPicPr>
            <a:picLocks noChangeAspect="1"/>
          </p:cNvPicPr>
          <p:nvPr/>
        </p:nvPicPr>
        <p:blipFill>
          <a:blip r:embed="rId4"/>
          <a:stretch>
            <a:fillRect/>
          </a:stretch>
        </p:blipFill>
        <p:spPr>
          <a:xfrm>
            <a:off x="4025590" y="4631845"/>
            <a:ext cx="2598234" cy="3307821"/>
          </a:xfrm>
          <a:prstGeom prst="rect">
            <a:avLst/>
          </a:prstGeom>
        </p:spPr>
      </p:pic>
      <p:sp>
        <p:nvSpPr>
          <p:cNvPr id="13" name="Text 9"/>
          <p:cNvSpPr/>
          <p:nvPr/>
        </p:nvSpPr>
        <p:spPr>
          <a:xfrm>
            <a:off x="7503557" y="1377553"/>
            <a:ext cx="148114" cy="185142"/>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Light" pitchFamily="34" charset="0"/>
                <a:ea typeface="Fraunces Light" pitchFamily="34" charset="-122"/>
                <a:cs typeface="Fraunces Light" pitchFamily="34" charset="-120"/>
              </a:rPr>
              <a:t>01</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7503557" y="1614011"/>
            <a:ext cx="6615946" cy="15240"/>
          </a:xfrm>
          <a:prstGeom prst="rect">
            <a:avLst/>
          </a:prstGeom>
          <a:solidFill>
            <a:srgbClr val="8C98CA"/>
          </a:solidFill>
          <a:ln/>
        </p:spPr>
      </p:sp>
      <p:sp>
        <p:nvSpPr>
          <p:cNvPr id="15" name="Text 11"/>
          <p:cNvSpPr/>
          <p:nvPr/>
        </p:nvSpPr>
        <p:spPr>
          <a:xfrm>
            <a:off x="7503557" y="1718548"/>
            <a:ext cx="1852017" cy="231577"/>
          </a:xfrm>
          <a:prstGeom prst="rect">
            <a:avLst/>
          </a:prstGeom>
          <a:noFill/>
          <a:ln/>
        </p:spPr>
        <p:txBody>
          <a:bodyPr wrap="non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Load Model</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7503557" y="2098238"/>
            <a:ext cx="6615946" cy="236934"/>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Import trained classifier (.pkl)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7503557" y="2594372"/>
            <a:ext cx="148114" cy="185142"/>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Light" pitchFamily="34" charset="0"/>
                <a:ea typeface="Fraunces Light" pitchFamily="34" charset="-122"/>
                <a:cs typeface="Fraunces Light" pitchFamily="34" charset="-120"/>
              </a:rPr>
              <a:t>02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7503557" y="2830830"/>
            <a:ext cx="6615946" cy="15240"/>
          </a:xfrm>
          <a:prstGeom prst="rect">
            <a:avLst/>
          </a:prstGeom>
          <a:solidFill>
            <a:srgbClr val="8C98CA"/>
          </a:solidFill>
          <a:ln/>
        </p:spPr>
      </p:sp>
      <p:sp>
        <p:nvSpPr>
          <p:cNvPr id="19" name="Text 15"/>
          <p:cNvSpPr/>
          <p:nvPr/>
        </p:nvSpPr>
        <p:spPr>
          <a:xfrm>
            <a:off x="7503557" y="2935367"/>
            <a:ext cx="1852017" cy="231577"/>
          </a:xfrm>
          <a:prstGeom prst="rect">
            <a:avLst/>
          </a:prstGeom>
          <a:noFill/>
          <a:ln/>
        </p:spPr>
        <p:txBody>
          <a:bodyPr wrap="non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Capture Inputs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7503557" y="3315057"/>
            <a:ext cx="6615946" cy="236934"/>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Collect user parameters via UI</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7503557" y="3811191"/>
            <a:ext cx="148114" cy="185142"/>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Light" pitchFamily="34" charset="0"/>
                <a:ea typeface="Fraunces Light" pitchFamily="34" charset="-122"/>
                <a:cs typeface="Fraunces Light" pitchFamily="34" charset="-120"/>
              </a:rPr>
              <a:t>03</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8"/>
          <p:cNvSpPr/>
          <p:nvPr/>
        </p:nvSpPr>
        <p:spPr>
          <a:xfrm>
            <a:off x="7503557" y="4047649"/>
            <a:ext cx="6615946" cy="15240"/>
          </a:xfrm>
          <a:prstGeom prst="rect">
            <a:avLst/>
          </a:prstGeom>
          <a:solidFill>
            <a:srgbClr val="8C98CA"/>
          </a:solidFill>
          <a:ln/>
        </p:spPr>
      </p:sp>
      <p:sp>
        <p:nvSpPr>
          <p:cNvPr id="23" name="Text 19"/>
          <p:cNvSpPr/>
          <p:nvPr/>
        </p:nvSpPr>
        <p:spPr>
          <a:xfrm>
            <a:off x="7503557" y="4152186"/>
            <a:ext cx="1852017" cy="231577"/>
          </a:xfrm>
          <a:prstGeom prst="rect">
            <a:avLst/>
          </a:prstGeom>
          <a:noFill/>
          <a:ln/>
        </p:spPr>
        <p:txBody>
          <a:bodyPr wrap="non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Transform Data</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7503557" y="4531876"/>
            <a:ext cx="6615946" cy="236934"/>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Apply encoding &amp; scaling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p:nvPr/>
        </p:nvSpPr>
        <p:spPr>
          <a:xfrm>
            <a:off x="7503557" y="5028009"/>
            <a:ext cx="148114" cy="185142"/>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Light" pitchFamily="34" charset="0"/>
                <a:ea typeface="Fraunces Light" pitchFamily="34" charset="-122"/>
                <a:cs typeface="Fraunces Light" pitchFamily="34" charset="-120"/>
              </a:rPr>
              <a:t>04</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2"/>
          <p:cNvSpPr/>
          <p:nvPr/>
        </p:nvSpPr>
        <p:spPr>
          <a:xfrm>
            <a:off x="7503557" y="5264467"/>
            <a:ext cx="6615946" cy="15240"/>
          </a:xfrm>
          <a:prstGeom prst="rect">
            <a:avLst/>
          </a:prstGeom>
          <a:solidFill>
            <a:srgbClr val="8C98CA"/>
          </a:solidFill>
          <a:ln/>
        </p:spPr>
      </p:sp>
      <p:sp>
        <p:nvSpPr>
          <p:cNvPr id="27" name="Text 23"/>
          <p:cNvSpPr/>
          <p:nvPr/>
        </p:nvSpPr>
        <p:spPr>
          <a:xfrm>
            <a:off x="7503557" y="5369004"/>
            <a:ext cx="1852017" cy="231577"/>
          </a:xfrm>
          <a:prstGeom prst="rect">
            <a:avLst/>
          </a:prstGeom>
          <a:noFill/>
          <a:ln/>
        </p:spPr>
        <p:txBody>
          <a:bodyPr wrap="non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Generate Prediction</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7503557" y="5748695"/>
            <a:ext cx="6615946" cy="236934"/>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Execute XGBoost inference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5"/>
          <p:cNvSpPr/>
          <p:nvPr/>
        </p:nvSpPr>
        <p:spPr>
          <a:xfrm>
            <a:off x="7503557" y="6244828"/>
            <a:ext cx="148114" cy="185142"/>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Light" pitchFamily="34" charset="0"/>
                <a:ea typeface="Fraunces Light" pitchFamily="34" charset="-122"/>
                <a:cs typeface="Fraunces Light" pitchFamily="34" charset="-120"/>
              </a:rPr>
              <a:t>05</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6"/>
          <p:cNvSpPr/>
          <p:nvPr/>
        </p:nvSpPr>
        <p:spPr>
          <a:xfrm>
            <a:off x="7503557" y="6481286"/>
            <a:ext cx="6615946" cy="15240"/>
          </a:xfrm>
          <a:prstGeom prst="rect">
            <a:avLst/>
          </a:prstGeom>
          <a:solidFill>
            <a:srgbClr val="8C98CA"/>
          </a:solidFill>
          <a:ln/>
        </p:spPr>
      </p:sp>
      <p:sp>
        <p:nvSpPr>
          <p:cNvPr id="31" name="Text 27"/>
          <p:cNvSpPr/>
          <p:nvPr/>
        </p:nvSpPr>
        <p:spPr>
          <a:xfrm>
            <a:off x="7503557" y="6585823"/>
            <a:ext cx="1852017" cy="231577"/>
          </a:xfrm>
          <a:prstGeom prst="rect">
            <a:avLst/>
          </a:prstGeom>
          <a:noFill/>
          <a:ln/>
        </p:spPr>
        <p:txBody>
          <a:bodyPr wrap="none" lIns="0" tIns="0" rIns="0" bIns="0" rtlCol="0" anchor="t"/>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4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Display Results</a:t>
            </a:r>
            <a:endParaRPr kumimoji="0" lang="en-US" sz="14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8"/>
          <p:cNvSpPr/>
          <p:nvPr/>
        </p:nvSpPr>
        <p:spPr>
          <a:xfrm>
            <a:off x="7503557" y="6965513"/>
            <a:ext cx="6615946" cy="236934"/>
          </a:xfrm>
          <a:prstGeom prst="rect">
            <a:avLst/>
          </a:prstGeom>
          <a:noFill/>
          <a:ln/>
        </p:spPr>
        <p:txBody>
          <a:bodyPr wrap="none" lIns="0" tIns="0" rIns="0" bIns="0" rtlCol="0" anchor="t"/>
          <a:lstStyle/>
          <a:p>
            <a:pPr marL="0" marR="0" lvl="0" indent="0" algn="l" defTabSz="914400" rtl="0" eaLnBrk="1" fontAlgn="auto" latinLnBrk="0" hangingPunct="1">
              <a:lnSpc>
                <a:spcPts val="18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Show classification &amp; probability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9949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20529" y="330875"/>
            <a:ext cx="3447693" cy="375642"/>
          </a:xfrm>
          <a:prstGeom prst="rect">
            <a:avLst/>
          </a:prstGeom>
          <a:noFill/>
          <a:ln/>
        </p:spPr>
        <p:txBody>
          <a:bodyPr wrap="none" lIns="0" tIns="0" rIns="0" bIns="0" rtlCol="0" anchor="t"/>
          <a:lstStyle/>
          <a:p>
            <a:pPr marL="0" marR="0" lvl="0" indent="0" algn="l" defTabSz="914400" rtl="0" eaLnBrk="1" fontAlgn="auto" latinLnBrk="0" hangingPunct="1">
              <a:lnSpc>
                <a:spcPts val="2950"/>
              </a:lnSpc>
              <a:spcBef>
                <a:spcPts val="0"/>
              </a:spcBef>
              <a:spcAft>
                <a:spcPts val="0"/>
              </a:spcAft>
              <a:buClrTx/>
              <a:buSzTx/>
              <a:buFontTx/>
              <a:buNone/>
              <a:tabLst/>
              <a:defRPr/>
            </a:pPr>
            <a:r>
              <a:rPr kumimoji="0" lang="en-US" sz="2350" b="0" i="0" u="none" strike="noStrike" kern="1200" cap="none" spc="0" normalizeH="0" baseline="0" noProof="0" dirty="0">
                <a:ln>
                  <a:noFill/>
                </a:ln>
                <a:solidFill>
                  <a:srgbClr val="FFFFFF"/>
                </a:solidFill>
                <a:effectLst/>
                <a:uLnTx/>
                <a:uFillTx/>
                <a:latin typeface="Fraunces Medium" pitchFamily="34" charset="0"/>
                <a:ea typeface="Fraunces Medium" pitchFamily="34" charset="-122"/>
                <a:cs typeface="Fraunces Medium" pitchFamily="34" charset="-120"/>
              </a:rPr>
              <a:t>End-to-End ML Pipeline</a:t>
            </a:r>
            <a:endParaRPr kumimoji="0" lang="en-US" sz="2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20529" y="946785"/>
            <a:ext cx="13789343"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Our complete machine learning workflow encompasses data ingestion through production deployment, ensuring reproducibility and scalability at every stage.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Image 0" descr="preencoded.png"/>
          <p:cNvPicPr>
            <a:picLocks noChangeAspect="1"/>
          </p:cNvPicPr>
          <p:nvPr/>
        </p:nvPicPr>
        <p:blipFill>
          <a:blip r:embed="rId3"/>
          <a:stretch>
            <a:fillRect/>
          </a:stretch>
        </p:blipFill>
        <p:spPr>
          <a:xfrm>
            <a:off x="420529" y="1274088"/>
            <a:ext cx="600908" cy="721043"/>
          </a:xfrm>
          <a:prstGeom prst="rect">
            <a:avLst/>
          </a:prstGeom>
        </p:spPr>
      </p:pic>
      <p:sp>
        <p:nvSpPr>
          <p:cNvPr id="5" name="Text 2"/>
          <p:cNvSpPr/>
          <p:nvPr/>
        </p:nvSpPr>
        <p:spPr>
          <a:xfrm>
            <a:off x="1141571" y="1394222"/>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Data Collection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p:nvPr/>
        </p:nvSpPr>
        <p:spPr>
          <a:xfrm>
            <a:off x="1141571" y="1654016"/>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Dataset loading &amp; initial exploration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1" descr="preencoded.png"/>
          <p:cNvPicPr>
            <a:picLocks noChangeAspect="1"/>
          </p:cNvPicPr>
          <p:nvPr/>
        </p:nvPicPr>
        <p:blipFill>
          <a:blip r:embed="rId4"/>
          <a:stretch>
            <a:fillRect/>
          </a:stretch>
        </p:blipFill>
        <p:spPr>
          <a:xfrm>
            <a:off x="420529" y="1995130"/>
            <a:ext cx="600908" cy="721043"/>
          </a:xfrm>
          <a:prstGeom prst="rect">
            <a:avLst/>
          </a:prstGeom>
        </p:spPr>
      </p:pic>
      <p:sp>
        <p:nvSpPr>
          <p:cNvPr id="8" name="Text 4"/>
          <p:cNvSpPr/>
          <p:nvPr/>
        </p:nvSpPr>
        <p:spPr>
          <a:xfrm>
            <a:off x="1141571" y="2115264"/>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Preprocessing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p:cNvSpPr/>
          <p:nvPr/>
        </p:nvSpPr>
        <p:spPr>
          <a:xfrm>
            <a:off x="1141571" y="2375059"/>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Handling missing values &amp; outliers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Image 2" descr="preencoded.png"/>
          <p:cNvPicPr>
            <a:picLocks noChangeAspect="1"/>
          </p:cNvPicPr>
          <p:nvPr/>
        </p:nvPicPr>
        <p:blipFill>
          <a:blip r:embed="rId5"/>
          <a:stretch>
            <a:fillRect/>
          </a:stretch>
        </p:blipFill>
        <p:spPr>
          <a:xfrm>
            <a:off x="420529" y="2716173"/>
            <a:ext cx="600908" cy="721043"/>
          </a:xfrm>
          <a:prstGeom prst="rect">
            <a:avLst/>
          </a:prstGeom>
        </p:spPr>
      </p:pic>
      <p:sp>
        <p:nvSpPr>
          <p:cNvPr id="11" name="Text 6"/>
          <p:cNvSpPr/>
          <p:nvPr/>
        </p:nvSpPr>
        <p:spPr>
          <a:xfrm>
            <a:off x="1141571" y="2836307"/>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Feature Engineering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7"/>
          <p:cNvSpPr/>
          <p:nvPr/>
        </p:nvSpPr>
        <p:spPr>
          <a:xfrm>
            <a:off x="1141571" y="3096101"/>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Creating derived features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3" descr="preencoded.png"/>
          <p:cNvPicPr>
            <a:picLocks noChangeAspect="1"/>
          </p:cNvPicPr>
          <p:nvPr/>
        </p:nvPicPr>
        <p:blipFill>
          <a:blip r:embed="rId6"/>
          <a:stretch>
            <a:fillRect/>
          </a:stretch>
        </p:blipFill>
        <p:spPr>
          <a:xfrm>
            <a:off x="420529" y="3437215"/>
            <a:ext cx="600908" cy="721043"/>
          </a:xfrm>
          <a:prstGeom prst="rect">
            <a:avLst/>
          </a:prstGeom>
        </p:spPr>
      </p:pic>
      <p:sp>
        <p:nvSpPr>
          <p:cNvPr id="14" name="Text 8"/>
          <p:cNvSpPr/>
          <p:nvPr/>
        </p:nvSpPr>
        <p:spPr>
          <a:xfrm>
            <a:off x="1141571" y="3557349"/>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SMOTE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9"/>
          <p:cNvSpPr/>
          <p:nvPr/>
        </p:nvSpPr>
        <p:spPr>
          <a:xfrm>
            <a:off x="1141571" y="3817144"/>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Addressing class imbalance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Image 4" descr="preencoded.png"/>
          <p:cNvPicPr>
            <a:picLocks noChangeAspect="1"/>
          </p:cNvPicPr>
          <p:nvPr/>
        </p:nvPicPr>
        <p:blipFill>
          <a:blip r:embed="rId7"/>
          <a:stretch>
            <a:fillRect/>
          </a:stretch>
        </p:blipFill>
        <p:spPr>
          <a:xfrm>
            <a:off x="420529" y="4293394"/>
            <a:ext cx="600908" cy="721043"/>
          </a:xfrm>
          <a:prstGeom prst="rect">
            <a:avLst/>
          </a:prstGeom>
        </p:spPr>
      </p:pic>
      <p:sp>
        <p:nvSpPr>
          <p:cNvPr id="17" name="Text 10"/>
          <p:cNvSpPr/>
          <p:nvPr/>
        </p:nvSpPr>
        <p:spPr>
          <a:xfrm>
            <a:off x="1141571" y="4413528"/>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Train/Test Split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1"/>
          <p:cNvSpPr/>
          <p:nvPr/>
        </p:nvSpPr>
        <p:spPr>
          <a:xfrm>
            <a:off x="1141571" y="4673322"/>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Stratified data partitioning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Image 5" descr="preencoded.png"/>
          <p:cNvPicPr>
            <a:picLocks noChangeAspect="1"/>
          </p:cNvPicPr>
          <p:nvPr/>
        </p:nvPicPr>
        <p:blipFill>
          <a:blip r:embed="rId8"/>
          <a:stretch>
            <a:fillRect/>
          </a:stretch>
        </p:blipFill>
        <p:spPr>
          <a:xfrm>
            <a:off x="420529" y="5014436"/>
            <a:ext cx="600908" cy="721043"/>
          </a:xfrm>
          <a:prstGeom prst="rect">
            <a:avLst/>
          </a:prstGeom>
        </p:spPr>
      </p:pic>
      <p:sp>
        <p:nvSpPr>
          <p:cNvPr id="20" name="Text 12"/>
          <p:cNvSpPr/>
          <p:nvPr/>
        </p:nvSpPr>
        <p:spPr>
          <a:xfrm>
            <a:off x="1141571" y="5134570"/>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Model Building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3"/>
          <p:cNvSpPr/>
          <p:nvPr/>
        </p:nvSpPr>
        <p:spPr>
          <a:xfrm>
            <a:off x="1141571" y="5394365"/>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Training 8 candidate algorithms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2" name="Image 6" descr="preencoded.png"/>
          <p:cNvPicPr>
            <a:picLocks noChangeAspect="1"/>
          </p:cNvPicPr>
          <p:nvPr/>
        </p:nvPicPr>
        <p:blipFill>
          <a:blip r:embed="rId9"/>
          <a:stretch>
            <a:fillRect/>
          </a:stretch>
        </p:blipFill>
        <p:spPr>
          <a:xfrm>
            <a:off x="420529" y="5735479"/>
            <a:ext cx="600908" cy="721043"/>
          </a:xfrm>
          <a:prstGeom prst="rect">
            <a:avLst/>
          </a:prstGeom>
        </p:spPr>
      </p:pic>
      <p:sp>
        <p:nvSpPr>
          <p:cNvPr id="23" name="Text 14"/>
          <p:cNvSpPr/>
          <p:nvPr/>
        </p:nvSpPr>
        <p:spPr>
          <a:xfrm>
            <a:off x="1141571" y="5855613"/>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Optimisation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5"/>
          <p:cNvSpPr/>
          <p:nvPr/>
        </p:nvSpPr>
        <p:spPr>
          <a:xfrm>
            <a:off x="1141571" y="6115407"/>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Hyperparameter tuning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Image 7" descr="preencoded.png"/>
          <p:cNvPicPr>
            <a:picLocks noChangeAspect="1"/>
          </p:cNvPicPr>
          <p:nvPr/>
        </p:nvPicPr>
        <p:blipFill>
          <a:blip r:embed="rId10"/>
          <a:stretch>
            <a:fillRect/>
          </a:stretch>
        </p:blipFill>
        <p:spPr>
          <a:xfrm>
            <a:off x="420529" y="6456521"/>
            <a:ext cx="600908" cy="721043"/>
          </a:xfrm>
          <a:prstGeom prst="rect">
            <a:avLst/>
          </a:prstGeom>
        </p:spPr>
      </p:pic>
      <p:sp>
        <p:nvSpPr>
          <p:cNvPr id="26" name="Text 16"/>
          <p:cNvSpPr/>
          <p:nvPr/>
        </p:nvSpPr>
        <p:spPr>
          <a:xfrm>
            <a:off x="1141571" y="6576655"/>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Evaluation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17"/>
          <p:cNvSpPr/>
          <p:nvPr/>
        </p:nvSpPr>
        <p:spPr>
          <a:xfrm>
            <a:off x="1141571" y="6836450"/>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Performance metrics analysis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 name="Image 8" descr="preencoded.png"/>
          <p:cNvPicPr>
            <a:picLocks noChangeAspect="1"/>
          </p:cNvPicPr>
          <p:nvPr/>
        </p:nvPicPr>
        <p:blipFill>
          <a:blip r:embed="rId11"/>
          <a:stretch>
            <a:fillRect/>
          </a:stretch>
        </p:blipFill>
        <p:spPr>
          <a:xfrm>
            <a:off x="420529" y="7177564"/>
            <a:ext cx="600908" cy="721043"/>
          </a:xfrm>
          <a:prstGeom prst="rect">
            <a:avLst/>
          </a:prstGeom>
        </p:spPr>
      </p:pic>
      <p:sp>
        <p:nvSpPr>
          <p:cNvPr id="29" name="Text 18"/>
          <p:cNvSpPr/>
          <p:nvPr/>
        </p:nvSpPr>
        <p:spPr>
          <a:xfrm>
            <a:off x="1141571" y="7297698"/>
            <a:ext cx="1502212" cy="187762"/>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Deployment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19"/>
          <p:cNvSpPr/>
          <p:nvPr/>
        </p:nvSpPr>
        <p:spPr>
          <a:xfrm>
            <a:off x="1141571" y="7557492"/>
            <a:ext cx="13068300" cy="192167"/>
          </a:xfrm>
          <a:prstGeom prst="rect">
            <a:avLst/>
          </a:prstGeom>
          <a:noFill/>
          <a:ln/>
        </p:spPr>
        <p:txBody>
          <a:bodyPr wrap="non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Production release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0733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4933" y="326112"/>
            <a:ext cx="3113603" cy="370403"/>
          </a:xfrm>
          <a:prstGeom prst="rect">
            <a:avLst/>
          </a:prstGeom>
          <a:noFill/>
          <a:ln/>
        </p:spPr>
        <p:txBody>
          <a:bodyPr wrap="none" lIns="0" tIns="0" rIns="0" bIns="0" rtlCol="0" anchor="t"/>
          <a:lstStyle/>
          <a:p>
            <a:pPr marL="0" marR="0" lvl="0" indent="0" algn="l" defTabSz="914400" rtl="0" eaLnBrk="1" fontAlgn="auto" latinLnBrk="0" hangingPunct="1">
              <a:lnSpc>
                <a:spcPts val="2900"/>
              </a:lnSpc>
              <a:spcBef>
                <a:spcPts val="0"/>
              </a:spcBef>
              <a:spcAft>
                <a:spcPts val="0"/>
              </a:spcAft>
              <a:buClrTx/>
              <a:buSzTx/>
              <a:buFontTx/>
              <a:buNone/>
              <a:tabLst/>
              <a:defRPr/>
            </a:pPr>
            <a:r>
              <a:rPr kumimoji="0" lang="en-US" sz="2300" b="0" i="0" u="none" strike="noStrike" kern="1200" cap="none" spc="0" normalizeH="0" baseline="0" noProof="0" dirty="0">
                <a:ln>
                  <a:noFill/>
                </a:ln>
                <a:solidFill>
                  <a:srgbClr val="FFFFFF"/>
                </a:solidFill>
                <a:effectLst/>
                <a:uLnTx/>
                <a:uFillTx/>
                <a:latin typeface="Fraunces Medium" pitchFamily="34" charset="0"/>
                <a:ea typeface="Fraunces Medium" pitchFamily="34" charset="-122"/>
                <a:cs typeface="Fraunces Medium" pitchFamily="34" charset="-120"/>
              </a:rPr>
              <a:t>Application Workflow</a:t>
            </a:r>
            <a:endParaRPr kumimoji="0" lang="en-US" sz="2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414933" y="980956"/>
            <a:ext cx="6755725" cy="379333"/>
          </a:xfrm>
          <a:prstGeom prst="rect">
            <a:avLst/>
          </a:prstGeom>
          <a:noFill/>
          <a:ln/>
        </p:spPr>
        <p:txBody>
          <a:bodyPr wrap="squar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The Streamlit application bridges our machine learning model with end-users through an elegant, responsive interface that delivers real-time shipment predictions with confidence scores.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92693" y="1493639"/>
            <a:ext cx="6577965" cy="189667"/>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Real-World Example:</a:t>
            </a: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 "Shipment will reach on time!" (Probability: 0.93)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414933" y="1493639"/>
            <a:ext cx="15240" cy="189667"/>
          </a:xfrm>
          <a:prstGeom prst="rect">
            <a:avLst/>
          </a:prstGeom>
          <a:solidFill>
            <a:srgbClr val="8C98CA"/>
          </a:solidFill>
          <a:ln/>
        </p:spPr>
      </p:sp>
      <p:sp>
        <p:nvSpPr>
          <p:cNvPr id="6" name="Text 4"/>
          <p:cNvSpPr/>
          <p:nvPr/>
        </p:nvSpPr>
        <p:spPr>
          <a:xfrm>
            <a:off x="414933" y="1816656"/>
            <a:ext cx="6755725" cy="379333"/>
          </a:xfrm>
          <a:prstGeom prst="rect">
            <a:avLst/>
          </a:prstGeom>
          <a:noFill/>
          <a:ln/>
        </p:spPr>
        <p:txBody>
          <a:bodyPr wrap="squar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This production-ready system enables logistics teams to make proactive decisions based on predictive insights, ultimately reducing delays and improving customer satisfaction.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7467362" y="1007626"/>
            <a:ext cx="3290054" cy="3089672"/>
          </a:xfrm>
          <a:prstGeom prst="rect">
            <a:avLst/>
          </a:prstGeom>
        </p:spPr>
      </p:pic>
      <p:sp>
        <p:nvSpPr>
          <p:cNvPr id="8" name="Shape 5"/>
          <p:cNvSpPr/>
          <p:nvPr/>
        </p:nvSpPr>
        <p:spPr>
          <a:xfrm>
            <a:off x="7307580" y="4363998"/>
            <a:ext cx="15240" cy="3539371"/>
          </a:xfrm>
          <a:prstGeom prst="roundRect">
            <a:avLst>
              <a:gd name="adj" fmla="val 326725"/>
            </a:avLst>
          </a:prstGeom>
          <a:solidFill>
            <a:srgbClr val="414A70"/>
          </a:solidFill>
          <a:ln/>
        </p:spPr>
      </p:sp>
      <p:sp>
        <p:nvSpPr>
          <p:cNvPr id="9" name="Shape 6"/>
          <p:cNvSpPr/>
          <p:nvPr/>
        </p:nvSpPr>
        <p:spPr>
          <a:xfrm>
            <a:off x="6841450" y="4489728"/>
            <a:ext cx="355640" cy="15240"/>
          </a:xfrm>
          <a:prstGeom prst="roundRect">
            <a:avLst>
              <a:gd name="adj" fmla="val 326725"/>
            </a:avLst>
          </a:prstGeom>
          <a:solidFill>
            <a:srgbClr val="414A70"/>
          </a:solidFill>
          <a:ln/>
        </p:spPr>
      </p:sp>
      <p:sp>
        <p:nvSpPr>
          <p:cNvPr id="10" name="Shape 7"/>
          <p:cNvSpPr/>
          <p:nvPr/>
        </p:nvSpPr>
        <p:spPr>
          <a:xfrm>
            <a:off x="7181850" y="4363998"/>
            <a:ext cx="266700" cy="266700"/>
          </a:xfrm>
          <a:prstGeom prst="roundRect">
            <a:avLst>
              <a:gd name="adj" fmla="val 18670"/>
            </a:avLst>
          </a:prstGeom>
          <a:solidFill>
            <a:srgbClr val="283157"/>
          </a:solidFill>
          <a:ln w="7620">
            <a:solidFill>
              <a:srgbClr val="414A70"/>
            </a:solidFill>
            <a:prstDash val="solid"/>
          </a:ln>
        </p:spPr>
      </p:sp>
      <p:sp>
        <p:nvSpPr>
          <p:cNvPr id="11" name="Text 8"/>
          <p:cNvSpPr/>
          <p:nvPr/>
        </p:nvSpPr>
        <p:spPr>
          <a:xfrm>
            <a:off x="7226320" y="4386263"/>
            <a:ext cx="177760" cy="222171"/>
          </a:xfrm>
          <a:prstGeom prst="rect">
            <a:avLst/>
          </a:prstGeom>
          <a:noFill/>
          <a:ln/>
        </p:spPr>
        <p:txBody>
          <a:bodyPr wrap="none" lIns="0" tIns="0" rIns="0" bIns="0" rtlCol="0" anchor="t"/>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5240655" y="4404717"/>
            <a:ext cx="1481852" cy="185261"/>
          </a:xfrm>
          <a:prstGeom prst="rect">
            <a:avLst/>
          </a:prstGeom>
          <a:noFill/>
          <a:ln/>
        </p:spPr>
        <p:txBody>
          <a:bodyPr wrap="none" lIns="0" tIns="0" rIns="0" bIns="0" rtlCol="0" anchor="t"/>
          <a:lstStyle/>
          <a:p>
            <a:pPr marL="0" marR="0" lvl="0" indent="0" algn="r"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User Input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414933" y="4661059"/>
            <a:ext cx="6307574" cy="189667"/>
          </a:xfrm>
          <a:prstGeom prst="rect">
            <a:avLst/>
          </a:prstGeom>
          <a:noFill/>
          <a:ln/>
        </p:spPr>
        <p:txBody>
          <a:bodyPr wrap="none" lIns="0" tIns="0" rIns="0" bIns="0" rtlCol="0" anchor="t"/>
          <a:lstStyle/>
          <a:p>
            <a:pPr marL="0" marR="0" lvl="0" indent="0" algn="r" defTabSz="914400" rtl="0" eaLnBrk="1" fontAlgn="auto" latinLnBrk="0" hangingPunct="1">
              <a:lnSpc>
                <a:spcPts val="145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Customer enters shipment parameters via web form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7433310" y="5200888"/>
            <a:ext cx="355640" cy="15240"/>
          </a:xfrm>
          <a:prstGeom prst="roundRect">
            <a:avLst>
              <a:gd name="adj" fmla="val 326725"/>
            </a:avLst>
          </a:prstGeom>
          <a:solidFill>
            <a:srgbClr val="414A70"/>
          </a:solidFill>
          <a:ln/>
        </p:spPr>
      </p:sp>
      <p:sp>
        <p:nvSpPr>
          <p:cNvPr id="15" name="Shape 12"/>
          <p:cNvSpPr/>
          <p:nvPr/>
        </p:nvSpPr>
        <p:spPr>
          <a:xfrm>
            <a:off x="7181850" y="5075158"/>
            <a:ext cx="266700" cy="266700"/>
          </a:xfrm>
          <a:prstGeom prst="roundRect">
            <a:avLst>
              <a:gd name="adj" fmla="val 18670"/>
            </a:avLst>
          </a:prstGeom>
          <a:solidFill>
            <a:srgbClr val="283157"/>
          </a:solidFill>
          <a:ln w="7620">
            <a:solidFill>
              <a:srgbClr val="414A70"/>
            </a:solidFill>
            <a:prstDash val="solid"/>
          </a:ln>
        </p:spPr>
      </p:sp>
      <p:sp>
        <p:nvSpPr>
          <p:cNvPr id="16" name="Text 13"/>
          <p:cNvSpPr/>
          <p:nvPr/>
        </p:nvSpPr>
        <p:spPr>
          <a:xfrm>
            <a:off x="7226320" y="5097423"/>
            <a:ext cx="177760" cy="222171"/>
          </a:xfrm>
          <a:prstGeom prst="rect">
            <a:avLst/>
          </a:prstGeom>
          <a:noFill/>
          <a:ln/>
        </p:spPr>
        <p:txBody>
          <a:bodyPr wrap="none" lIns="0" tIns="0" rIns="0" bIns="0" rtlCol="0" anchor="t"/>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p:nvPr/>
        </p:nvSpPr>
        <p:spPr>
          <a:xfrm>
            <a:off x="7907893" y="5115878"/>
            <a:ext cx="1481852" cy="185261"/>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DataFrame Creation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p:nvPr/>
        </p:nvSpPr>
        <p:spPr>
          <a:xfrm>
            <a:off x="7907893" y="5372219"/>
            <a:ext cx="6307574" cy="189667"/>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Input values structured into pandas DataFrame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6841450" y="5813941"/>
            <a:ext cx="355640" cy="15240"/>
          </a:xfrm>
          <a:prstGeom prst="roundRect">
            <a:avLst>
              <a:gd name="adj" fmla="val 326725"/>
            </a:avLst>
          </a:prstGeom>
          <a:solidFill>
            <a:srgbClr val="414A70"/>
          </a:solidFill>
          <a:ln/>
        </p:spPr>
      </p:sp>
      <p:sp>
        <p:nvSpPr>
          <p:cNvPr id="20" name="Shape 17"/>
          <p:cNvSpPr/>
          <p:nvPr/>
        </p:nvSpPr>
        <p:spPr>
          <a:xfrm>
            <a:off x="7181850" y="5688211"/>
            <a:ext cx="266700" cy="266700"/>
          </a:xfrm>
          <a:prstGeom prst="roundRect">
            <a:avLst>
              <a:gd name="adj" fmla="val 18670"/>
            </a:avLst>
          </a:prstGeom>
          <a:solidFill>
            <a:srgbClr val="283157"/>
          </a:solidFill>
          <a:ln w="7620">
            <a:solidFill>
              <a:srgbClr val="414A70"/>
            </a:solidFill>
            <a:prstDash val="solid"/>
          </a:ln>
        </p:spPr>
      </p:sp>
      <p:sp>
        <p:nvSpPr>
          <p:cNvPr id="21" name="Text 18"/>
          <p:cNvSpPr/>
          <p:nvPr/>
        </p:nvSpPr>
        <p:spPr>
          <a:xfrm>
            <a:off x="7226320" y="5710476"/>
            <a:ext cx="177760" cy="222171"/>
          </a:xfrm>
          <a:prstGeom prst="rect">
            <a:avLst/>
          </a:prstGeom>
          <a:noFill/>
          <a:ln/>
        </p:spPr>
        <p:txBody>
          <a:bodyPr wrap="none" lIns="0" tIns="0" rIns="0" bIns="0" rtlCol="0" anchor="t"/>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5240655" y="5728930"/>
            <a:ext cx="1481852" cy="185261"/>
          </a:xfrm>
          <a:prstGeom prst="rect">
            <a:avLst/>
          </a:prstGeom>
          <a:noFill/>
          <a:ln/>
        </p:spPr>
        <p:txBody>
          <a:bodyPr wrap="none" lIns="0" tIns="0" rIns="0" bIns="0" rtlCol="0" anchor="t"/>
          <a:lstStyle/>
          <a:p>
            <a:pPr marL="0" marR="0" lvl="0" indent="0" algn="r"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Preprocessing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p:nvPr/>
        </p:nvSpPr>
        <p:spPr>
          <a:xfrm>
            <a:off x="414933" y="5985272"/>
            <a:ext cx="6307574" cy="189667"/>
          </a:xfrm>
          <a:prstGeom prst="rect">
            <a:avLst/>
          </a:prstGeom>
          <a:noFill/>
          <a:ln/>
        </p:spPr>
        <p:txBody>
          <a:bodyPr wrap="none" lIns="0" tIns="0" rIns="0" bIns="0" rtlCol="0" anchor="t"/>
          <a:lstStyle/>
          <a:p>
            <a:pPr marL="0" marR="0" lvl="0" indent="0" algn="r" defTabSz="914400" rtl="0" eaLnBrk="1" fontAlgn="auto" latinLnBrk="0" hangingPunct="1">
              <a:lnSpc>
                <a:spcPts val="145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Categorical encoding &amp; feature scaling applied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1"/>
          <p:cNvSpPr/>
          <p:nvPr/>
        </p:nvSpPr>
        <p:spPr>
          <a:xfrm>
            <a:off x="7433310" y="6426994"/>
            <a:ext cx="355640" cy="15240"/>
          </a:xfrm>
          <a:prstGeom prst="roundRect">
            <a:avLst>
              <a:gd name="adj" fmla="val 326725"/>
            </a:avLst>
          </a:prstGeom>
          <a:solidFill>
            <a:srgbClr val="414A70"/>
          </a:solidFill>
          <a:ln/>
        </p:spPr>
      </p:sp>
      <p:sp>
        <p:nvSpPr>
          <p:cNvPr id="25" name="Shape 22"/>
          <p:cNvSpPr/>
          <p:nvPr/>
        </p:nvSpPr>
        <p:spPr>
          <a:xfrm>
            <a:off x="7181850" y="6301264"/>
            <a:ext cx="266700" cy="266700"/>
          </a:xfrm>
          <a:prstGeom prst="roundRect">
            <a:avLst>
              <a:gd name="adj" fmla="val 18670"/>
            </a:avLst>
          </a:prstGeom>
          <a:solidFill>
            <a:srgbClr val="283157"/>
          </a:solidFill>
          <a:ln w="7620">
            <a:solidFill>
              <a:srgbClr val="414A70"/>
            </a:solidFill>
            <a:prstDash val="solid"/>
          </a:ln>
        </p:spPr>
      </p:sp>
      <p:sp>
        <p:nvSpPr>
          <p:cNvPr id="26" name="Text 23"/>
          <p:cNvSpPr/>
          <p:nvPr/>
        </p:nvSpPr>
        <p:spPr>
          <a:xfrm>
            <a:off x="7226320" y="6323528"/>
            <a:ext cx="177760" cy="222171"/>
          </a:xfrm>
          <a:prstGeom prst="rect">
            <a:avLst/>
          </a:prstGeom>
          <a:noFill/>
          <a:ln/>
        </p:spPr>
        <p:txBody>
          <a:bodyPr wrap="none" lIns="0" tIns="0" rIns="0" bIns="0" rtlCol="0" anchor="t"/>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4</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p:nvPr/>
        </p:nvSpPr>
        <p:spPr>
          <a:xfrm>
            <a:off x="7907893" y="6341983"/>
            <a:ext cx="1481852" cy="185261"/>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Model Inference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7907893" y="6598325"/>
            <a:ext cx="6307574" cy="189667"/>
          </a:xfrm>
          <a:prstGeom prst="rect">
            <a:avLst/>
          </a:prstGeom>
          <a:noFill/>
          <a:ln/>
        </p:spPr>
        <p:txBody>
          <a:bodyPr wrap="none" lIns="0" tIns="0" rIns="0" bIns="0" rtlCol="0" anchor="t"/>
          <a:lstStyle/>
          <a:p>
            <a:pPr marL="0" marR="0" lvl="0" indent="0" algn="l" defTabSz="914400" rtl="0" eaLnBrk="1" fontAlgn="auto" latinLnBrk="0" hangingPunct="1">
              <a:lnSpc>
                <a:spcPts val="145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XGBoost generates classification &amp; probability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6841450" y="7040047"/>
            <a:ext cx="355640" cy="15240"/>
          </a:xfrm>
          <a:prstGeom prst="roundRect">
            <a:avLst>
              <a:gd name="adj" fmla="val 326725"/>
            </a:avLst>
          </a:prstGeom>
          <a:solidFill>
            <a:srgbClr val="414A70"/>
          </a:solidFill>
          <a:ln/>
        </p:spPr>
      </p:sp>
      <p:sp>
        <p:nvSpPr>
          <p:cNvPr id="30" name="Shape 27"/>
          <p:cNvSpPr/>
          <p:nvPr/>
        </p:nvSpPr>
        <p:spPr>
          <a:xfrm>
            <a:off x="7181850" y="6914317"/>
            <a:ext cx="266700" cy="266700"/>
          </a:xfrm>
          <a:prstGeom prst="roundRect">
            <a:avLst>
              <a:gd name="adj" fmla="val 18670"/>
            </a:avLst>
          </a:prstGeom>
          <a:solidFill>
            <a:srgbClr val="283157"/>
          </a:solidFill>
          <a:ln w="7620">
            <a:solidFill>
              <a:srgbClr val="414A70"/>
            </a:solidFill>
            <a:prstDash val="solid"/>
          </a:ln>
        </p:spPr>
      </p:sp>
      <p:sp>
        <p:nvSpPr>
          <p:cNvPr id="31" name="Text 28"/>
          <p:cNvSpPr/>
          <p:nvPr/>
        </p:nvSpPr>
        <p:spPr>
          <a:xfrm>
            <a:off x="7226320" y="6936581"/>
            <a:ext cx="177760" cy="222171"/>
          </a:xfrm>
          <a:prstGeom prst="rect">
            <a:avLst/>
          </a:prstGeom>
          <a:noFill/>
          <a:ln/>
        </p:spPr>
        <p:txBody>
          <a:bodyPr wrap="none" lIns="0" tIns="0" rIns="0" bIns="0" rtlCol="0" anchor="t"/>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p:nvPr/>
        </p:nvSpPr>
        <p:spPr>
          <a:xfrm>
            <a:off x="5240655" y="6955036"/>
            <a:ext cx="1481852" cy="185261"/>
          </a:xfrm>
          <a:prstGeom prst="rect">
            <a:avLst/>
          </a:prstGeom>
          <a:noFill/>
          <a:ln/>
        </p:spPr>
        <p:txBody>
          <a:bodyPr wrap="none" lIns="0" tIns="0" rIns="0" bIns="0" rtlCol="0" anchor="t"/>
          <a:lstStyle/>
          <a:p>
            <a:pPr marL="0" marR="0" lvl="0" indent="0" algn="r" defTabSz="914400" rtl="0" eaLnBrk="1" fontAlgn="auto" latinLnBrk="0" hangingPunct="1">
              <a:lnSpc>
                <a:spcPts val="145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BECEF"/>
                </a:solidFill>
                <a:effectLst/>
                <a:uLnTx/>
                <a:uFillTx/>
                <a:latin typeface="Fraunces Medium" pitchFamily="34" charset="0"/>
                <a:ea typeface="Fraunces Medium" pitchFamily="34" charset="-122"/>
                <a:cs typeface="Fraunces Medium" pitchFamily="34" charset="-120"/>
              </a:rPr>
              <a:t>Results Display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p:nvPr/>
        </p:nvSpPr>
        <p:spPr>
          <a:xfrm>
            <a:off x="414933" y="7211377"/>
            <a:ext cx="6307574" cy="189667"/>
          </a:xfrm>
          <a:prstGeom prst="rect">
            <a:avLst/>
          </a:prstGeom>
          <a:noFill/>
          <a:ln/>
        </p:spPr>
        <p:txBody>
          <a:bodyPr wrap="none" lIns="0" tIns="0" rIns="0" bIns="0" rtlCol="0" anchor="t"/>
          <a:lstStyle/>
          <a:p>
            <a:pPr marL="0" marR="0" lvl="0" indent="0" algn="r" defTabSz="914400" rtl="0" eaLnBrk="1" fontAlgn="auto" latinLnBrk="0" hangingPunct="1">
              <a:lnSpc>
                <a:spcPts val="145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ECEF"/>
                </a:solidFill>
                <a:effectLst/>
                <a:uLnTx/>
                <a:uFillTx/>
                <a:latin typeface="Epilogue" pitchFamily="34" charset="0"/>
                <a:ea typeface="Epilogue" pitchFamily="34" charset="-122"/>
                <a:cs typeface="Epilogue" pitchFamily="34" charset="-120"/>
              </a:rPr>
              <a:t>Output rendered: On-Time or Delayed status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58768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TotalTime>
  <Words>1433</Words>
  <Application>Microsoft Office PowerPoint</Application>
  <PresentationFormat>Custom</PresentationFormat>
  <Paragraphs>286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Fraunces Medium</vt:lpstr>
      <vt:lpstr>Arial</vt:lpstr>
      <vt:lpstr>Fraunces Light</vt:lpstr>
      <vt:lpstr>Epilogue</vt:lpstr>
      <vt:lpstr>Consolas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SNEHA</dc:creator>
  <cp:lastModifiedBy>SNEHA GADAMSETTY</cp:lastModifiedBy>
  <cp:revision>6</cp:revision>
  <dcterms:created xsi:type="dcterms:W3CDTF">2025-11-11T14:40:21Z</dcterms:created>
  <dcterms:modified xsi:type="dcterms:W3CDTF">2025-11-13T04:45:01Z</dcterms:modified>
</cp:coreProperties>
</file>